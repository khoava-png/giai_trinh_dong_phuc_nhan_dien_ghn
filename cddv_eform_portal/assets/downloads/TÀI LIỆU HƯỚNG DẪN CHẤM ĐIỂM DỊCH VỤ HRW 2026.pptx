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5"/>
    <p:sldMasterId id="2147483685" r:id="rId6"/>
    <p:sldMasterId id="214748368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Lst>
  <p:sldSz cy="5143500" cx="9144000"/>
  <p:notesSz cx="6858000" cy="9144000"/>
  <p:embeddedFontLst>
    <p:embeddedFont>
      <p:font typeface="Roboto"/>
      <p:regular r:id="rId72"/>
      <p:bold r:id="rId73"/>
      <p:italic r:id="rId74"/>
      <p:boldItalic r:id="rId75"/>
    </p:embeddedFont>
    <p:embeddedFont>
      <p:font typeface="Montserrat"/>
      <p:regular r:id="rId76"/>
      <p:bold r:id="rId77"/>
      <p:italic r:id="rId78"/>
      <p:boldItalic r:id="rId79"/>
    </p:embeddedFont>
    <p:embeddedFont>
      <p:font typeface="Montserrat ExtraBold"/>
      <p:bold r:id="rId80"/>
      <p:boldItalic r:id="rId81"/>
    </p:embeddedFont>
    <p:embeddedFont>
      <p:font typeface="Rajdhani"/>
      <p:regular r:id="rId82"/>
      <p:bold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5CD894-7ADE-400A-BBEF-B107B9F286FF}">
  <a:tblStyle styleId="{D85CD894-7ADE-400A-BBEF-B107B9F286F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EAE7831-44E7-4453-A9C5-B0BCFF0F0B0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3" Type="http://schemas.openxmlformats.org/officeDocument/2006/relationships/font" Target="fonts/Rajdhani-bold.fntdata"/><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MontserratExtraBold-bold.fntdata"/><Relationship Id="rId82" Type="http://schemas.openxmlformats.org/officeDocument/2006/relationships/font" Target="fonts/Rajdhani-regular.fntdata"/><Relationship Id="rId81" Type="http://schemas.openxmlformats.org/officeDocument/2006/relationships/font" Target="fonts/MontserratExtraBold-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Roboto-bold.fntdata"/><Relationship Id="rId72" Type="http://schemas.openxmlformats.org/officeDocument/2006/relationships/font" Target="fonts/Roboto-regular.fntdata"/><Relationship Id="rId31" Type="http://schemas.openxmlformats.org/officeDocument/2006/relationships/slide" Target="slides/slide23.xml"/><Relationship Id="rId75" Type="http://schemas.openxmlformats.org/officeDocument/2006/relationships/font" Target="fonts/Roboto-boldItalic.fntdata"/><Relationship Id="rId30" Type="http://schemas.openxmlformats.org/officeDocument/2006/relationships/slide" Target="slides/slide22.xml"/><Relationship Id="rId74" Type="http://schemas.openxmlformats.org/officeDocument/2006/relationships/font" Target="fonts/Roboto-italic.fntdata"/><Relationship Id="rId33" Type="http://schemas.openxmlformats.org/officeDocument/2006/relationships/slide" Target="slides/slide25.xml"/><Relationship Id="rId77" Type="http://schemas.openxmlformats.org/officeDocument/2006/relationships/font" Target="fonts/Montserrat-bold.fntdata"/><Relationship Id="rId32" Type="http://schemas.openxmlformats.org/officeDocument/2006/relationships/slide" Target="slides/slide24.xml"/><Relationship Id="rId76" Type="http://schemas.openxmlformats.org/officeDocument/2006/relationships/font" Target="fonts/Montserrat-regular.fntdata"/><Relationship Id="rId35" Type="http://schemas.openxmlformats.org/officeDocument/2006/relationships/slide" Target="slides/slide27.xml"/><Relationship Id="rId79" Type="http://schemas.openxmlformats.org/officeDocument/2006/relationships/font" Target="fonts/Montserrat-boldItalic.fntdata"/><Relationship Id="rId34" Type="http://schemas.openxmlformats.org/officeDocument/2006/relationships/slide" Target="slides/slide26.xml"/><Relationship Id="rId78" Type="http://schemas.openxmlformats.org/officeDocument/2006/relationships/font" Target="fonts/Montserrat-italic.fntdata"/><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ca658d551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bca658d551_2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ca658d551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bca658d551_2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ca658d551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bca658d551_2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ca658d551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bca658d551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ca658d551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bca658d551_2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9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ca658d551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bca658d551_2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ca658d551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3bca658d551_2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ca658d551_2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bca658d551_2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ca658d551_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bca658d551_2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ca658d551_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bca658d551_2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ca658d551_2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bca658d551_2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ca658d551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3bca658d551_2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ca658d551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bca658d551_2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ca658d551_2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bca658d551_2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ca658d551_2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bca658d551_2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ca658d551_2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bca658d551_2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ca658d551_2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3bca658d551_2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ca658d551_2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bca658d551_2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bca658d551_2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3bca658d551_2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ca658d551_2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bca658d551_2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ca658d551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bca658d551_2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ca658d551_2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bca658d551_2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ca658d551_2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3bca658d551_2_2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ca658d551_2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3bca658d551_2_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ca658d551_2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bca658d551_2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ca658d551_2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bca658d551_2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ca658d551_2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g3bca658d551_2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bca658d551_2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3bca658d551_2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bca658d551_2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bca658d551_2_3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ca658d551_2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3bca658d551_2_3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ca658d551_2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3bca658d551_2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bca658d551_2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g3bca658d551_2_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bca658d551_2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g3bca658d551_2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bca658d551_2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g3bca658d551_2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bca658d551_2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3bca658d551_2_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bca658d551_2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bca658d551_2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bca658d551_2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g3bca658d551_2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ca658d551_2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g3bca658d551_2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bca658d551_2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g3bca658d551_2_4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ca658d551_2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3bca658d551_2_4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ca658d551_2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g3bca658d551_2_5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bca658d551_2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g3bca658d551_2_5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bca658d551_2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g3bca658d551_2_5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bca658d551_2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g3bca658d551_2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ca658d551_2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g3bca658d551_2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bca658d551_2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g3bca658d551_2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bca658d551_2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1" name="Google Shape;621;g3bca658d551_2_5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bca658d551_2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g3bca658d551_2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bca658d551_2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7" name="Google Shape;637;g3bca658d551_2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bca658d551_2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g3bca658d551_2_5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bca658d551_2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g3bca658d551_2_5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ca658d551_2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g3bca658d551_2_5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bca658d551_2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8" name="Google Shape;668;g3bca658d551_2_5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bca658d551_2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7" name="Google Shape;677;g3bca658d551_2_5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bca658d551_2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5" name="Google Shape;685;g3bca658d551_2_5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bca658d551_2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3" name="Google Shape;693;g3bca658d551_2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bca658d551_2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7" name="Google Shape;707;g3bca658d551_2_6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bca658d551_2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g3bca658d551_2_6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bca658d551_2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8" name="Google Shape;728;g3bca658d551_2_6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ca658d551_2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g3bca658d551_2_6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bca658d551_2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g3bca658d551_2_6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bca658d551_2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g3bca658d551_2_6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bca658d551_2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3" name="Google Shape;773;g3bca658d551_2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5" name="Google Shape;65;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6" name="Google Shape;6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95" name="Shape 95"/>
        <p:cNvGrpSpPr/>
        <p:nvPr/>
      </p:nvGrpSpPr>
      <p:grpSpPr>
        <a:xfrm>
          <a:off x="0" y="0"/>
          <a:ext cx="0" cy="0"/>
          <a:chOff x="0" y="0"/>
          <a:chExt cx="0" cy="0"/>
        </a:xfrm>
      </p:grpSpPr>
      <p:sp>
        <p:nvSpPr>
          <p:cNvPr id="96" name="Google Shape;96;p25"/>
          <p:cNvSpPr txBox="1"/>
          <p:nvPr>
            <p:ph type="title"/>
          </p:nvPr>
        </p:nvSpPr>
        <p:spPr>
          <a:xfrm>
            <a:off x="370865" y="104584"/>
            <a:ext cx="3855300" cy="385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1100"/>
              <a:buNone/>
              <a:defRPr b="1" i="0"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5"/>
          <p:cNvSpPr txBox="1"/>
          <p:nvPr>
            <p:ph idx="1" type="body"/>
          </p:nvPr>
        </p:nvSpPr>
        <p:spPr>
          <a:xfrm>
            <a:off x="1105757" y="813910"/>
            <a:ext cx="6932400" cy="166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b="1" i="0" sz="900">
                <a:solidFill>
                  <a:srgbClr val="843B0C"/>
                </a:solidFill>
                <a:latin typeface="Arial"/>
                <a:ea typeface="Arial"/>
                <a:cs typeface="Arial"/>
                <a:sym typeface="Aria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8" name="Google Shape;98;p25"/>
          <p:cNvSpPr txBox="1"/>
          <p:nvPr>
            <p:ph idx="11" type="ftr"/>
          </p:nvPr>
        </p:nvSpPr>
        <p:spPr>
          <a:xfrm>
            <a:off x="3108960" y="4783455"/>
            <a:ext cx="2926200" cy="2571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1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99" name="Google Shape;99;p25"/>
          <p:cNvSpPr txBox="1"/>
          <p:nvPr>
            <p:ph idx="10" type="dt"/>
          </p:nvPr>
        </p:nvSpPr>
        <p:spPr>
          <a:xfrm>
            <a:off x="457200" y="4783455"/>
            <a:ext cx="2103000" cy="257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1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00" name="Google Shape;100;p25"/>
          <p:cNvSpPr txBox="1"/>
          <p:nvPr>
            <p:ph idx="12" type="sldNum"/>
          </p:nvPr>
        </p:nvSpPr>
        <p:spPr>
          <a:xfrm>
            <a:off x="8653176" y="4720437"/>
            <a:ext cx="173700" cy="133500"/>
          </a:xfrm>
          <a:prstGeom prst="rect">
            <a:avLst/>
          </a:prstGeom>
          <a:noFill/>
          <a:ln>
            <a:noFill/>
          </a:ln>
        </p:spPr>
        <p:txBody>
          <a:bodyPr anchorCtr="0" anchor="t" bIns="0" lIns="0" spcFirstLastPara="1" rIns="0" wrap="square" tIns="0">
            <a:normAutofit/>
          </a:bodyPr>
          <a:lstStyle>
            <a:lvl1pPr indent="0" lvl="0"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1pPr>
            <a:lvl2pPr indent="0" lvl="1"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2pPr>
            <a:lvl3pPr indent="0" lvl="2"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3pPr>
            <a:lvl4pPr indent="0" lvl="3"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4pPr>
            <a:lvl5pPr indent="0" lvl="4"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5pPr>
            <a:lvl6pPr indent="0" lvl="5"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6pPr>
            <a:lvl7pPr indent="0" lvl="6"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7pPr>
            <a:lvl8pPr indent="0" lvl="7"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8pPr>
            <a:lvl9pPr indent="0" lvl="8" marL="25400" marR="0" algn="l">
              <a:lnSpc>
                <a:spcPct val="103333"/>
              </a:lnSpc>
              <a:spcBef>
                <a:spcPts val="0"/>
              </a:spcBef>
              <a:spcAft>
                <a:spcPts val="0"/>
              </a:spcAft>
              <a:buClr>
                <a:srgbClr val="888888"/>
              </a:buClr>
              <a:buSzPts val="1400"/>
              <a:buFont typeface="Calibri"/>
              <a:buNone/>
              <a:defRPr b="0" i="0" sz="900" u="none" cap="none" strike="noStrike">
                <a:solidFill>
                  <a:schemeClr val="dk1"/>
                </a:solidFill>
                <a:latin typeface="Calibri"/>
                <a:ea typeface="Calibri"/>
                <a:cs typeface="Calibri"/>
                <a:sym typeface="Calibri"/>
              </a:defRPr>
            </a:lvl9pPr>
          </a:lstStyle>
          <a:p>
            <a:pPr indent="0" lvl="0" marL="2540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5">
  <p:cSld name="OBJECT_7">
    <p:spTree>
      <p:nvGrpSpPr>
        <p:cNvPr id="101" name="Shape 101"/>
        <p:cNvGrpSpPr/>
        <p:nvPr/>
      </p:nvGrpSpPr>
      <p:grpSpPr>
        <a:xfrm>
          <a:off x="0" y="0"/>
          <a:ext cx="0" cy="0"/>
          <a:chOff x="0" y="0"/>
          <a:chExt cx="0" cy="0"/>
        </a:xfrm>
      </p:grpSpPr>
      <p:sp>
        <p:nvSpPr>
          <p:cNvPr id="102" name="Google Shape;102;p26"/>
          <p:cNvSpPr txBox="1"/>
          <p:nvPr>
            <p:ph type="title"/>
          </p:nvPr>
        </p:nvSpPr>
        <p:spPr>
          <a:xfrm>
            <a:off x="370865" y="104584"/>
            <a:ext cx="3855300" cy="385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1100"/>
              <a:buNone/>
              <a:defRPr b="1" i="0"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 name="Google Shape;103;p26"/>
          <p:cNvSpPr txBox="1"/>
          <p:nvPr>
            <p:ph idx="1" type="body"/>
          </p:nvPr>
        </p:nvSpPr>
        <p:spPr>
          <a:xfrm>
            <a:off x="1105757" y="813910"/>
            <a:ext cx="6932400" cy="166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b="1" i="0" sz="900">
                <a:solidFill>
                  <a:srgbClr val="843B0C"/>
                </a:solidFill>
                <a:latin typeface="Arial"/>
                <a:ea typeface="Arial"/>
                <a:cs typeface="Arial"/>
                <a:sym typeface="Aria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4" name="Google Shape;104;p26"/>
          <p:cNvSpPr txBox="1"/>
          <p:nvPr>
            <p:ph idx="11" type="ftr"/>
          </p:nvPr>
        </p:nvSpPr>
        <p:spPr>
          <a:xfrm>
            <a:off x="3108960" y="4783455"/>
            <a:ext cx="2926200" cy="2571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1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05" name="Google Shape;105;p26"/>
          <p:cNvSpPr txBox="1"/>
          <p:nvPr>
            <p:ph idx="10" type="dt"/>
          </p:nvPr>
        </p:nvSpPr>
        <p:spPr>
          <a:xfrm>
            <a:off x="457200" y="4783455"/>
            <a:ext cx="2103000" cy="257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1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06" name="Google Shape;106;p26"/>
          <p:cNvSpPr txBox="1"/>
          <p:nvPr>
            <p:ph idx="12" type="sldNum"/>
          </p:nvPr>
        </p:nvSpPr>
        <p:spPr>
          <a:xfrm>
            <a:off x="6583680" y="4783455"/>
            <a:ext cx="2103000" cy="257100"/>
          </a:xfrm>
          <a:prstGeom prst="rect">
            <a:avLst/>
          </a:prstGeom>
          <a:noFill/>
          <a:ln>
            <a:noFill/>
          </a:ln>
        </p:spPr>
        <p:txBody>
          <a:bodyPr anchorCtr="0" anchor="t" bIns="0" lIns="0" spcFirstLastPara="1" rIns="0" wrap="square" tIns="0">
            <a:normAutofit/>
          </a:bodyPr>
          <a:lstStyle>
            <a:lvl1pPr indent="0" lvl="0"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
        <p:nvSpPr>
          <p:cNvPr id="107" name="Google Shape;107;p26"/>
          <p:cNvSpPr/>
          <p:nvPr/>
        </p:nvSpPr>
        <p:spPr>
          <a:xfrm>
            <a:off x="0" y="192023"/>
            <a:ext cx="228600" cy="260985"/>
          </a:xfrm>
          <a:custGeom>
            <a:rect b="b" l="l" r="r" t="t"/>
            <a:pathLst>
              <a:path extrusionOk="0" h="347980" w="304800">
                <a:moveTo>
                  <a:pt x="0" y="347472"/>
                </a:moveTo>
                <a:lnTo>
                  <a:pt x="304800" y="347472"/>
                </a:lnTo>
                <a:lnTo>
                  <a:pt x="304800" y="0"/>
                </a:lnTo>
                <a:lnTo>
                  <a:pt x="0" y="0"/>
                </a:lnTo>
                <a:lnTo>
                  <a:pt x="0" y="347472"/>
                </a:lnTo>
                <a:close/>
              </a:path>
            </a:pathLst>
          </a:custGeom>
          <a:solidFill>
            <a:srgbClr val="EC7C3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2" name="Shape 112"/>
        <p:cNvGrpSpPr/>
        <p:nvPr/>
      </p:nvGrpSpPr>
      <p:grpSpPr>
        <a:xfrm>
          <a:off x="0" y="0"/>
          <a:ext cx="0" cy="0"/>
          <a:chOff x="0" y="0"/>
          <a:chExt cx="0" cy="0"/>
        </a:xfrm>
      </p:grpSpPr>
      <p:sp>
        <p:nvSpPr>
          <p:cNvPr id="113" name="Google Shape;113;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4" name="Google Shape;114;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5" name="Google Shape;11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6" name="Shape 116"/>
        <p:cNvGrpSpPr/>
        <p:nvPr/>
      </p:nvGrpSpPr>
      <p:grpSpPr>
        <a:xfrm>
          <a:off x="0" y="0"/>
          <a:ext cx="0" cy="0"/>
          <a:chOff x="0" y="0"/>
          <a:chExt cx="0" cy="0"/>
        </a:xfrm>
      </p:grpSpPr>
      <p:sp>
        <p:nvSpPr>
          <p:cNvPr id="117" name="Google Shape;117;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8" name="Google Shape;118;p2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9" name="Google Shape;11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0" name="Shape 120"/>
        <p:cNvGrpSpPr/>
        <p:nvPr/>
      </p:nvGrpSpPr>
      <p:grpSpPr>
        <a:xfrm>
          <a:off x="0" y="0"/>
          <a:ext cx="0" cy="0"/>
          <a:chOff x="0" y="0"/>
          <a:chExt cx="0" cy="0"/>
        </a:xfrm>
      </p:grpSpPr>
      <p:sp>
        <p:nvSpPr>
          <p:cNvPr id="121" name="Google Shape;121;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2" name="Google Shape;12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3" name="Shape 123"/>
        <p:cNvGrpSpPr/>
        <p:nvPr/>
      </p:nvGrpSpPr>
      <p:grpSpPr>
        <a:xfrm>
          <a:off x="0" y="0"/>
          <a:ext cx="0" cy="0"/>
          <a:chOff x="0" y="0"/>
          <a:chExt cx="0" cy="0"/>
        </a:xfrm>
      </p:grpSpPr>
      <p:sp>
        <p:nvSpPr>
          <p:cNvPr id="124" name="Google Shape;124;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5" name="Google Shape;125;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6" name="Google Shape;126;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7" name="Google Shape;12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0" name="Google Shape;13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1" name="Shape 131"/>
        <p:cNvGrpSpPr/>
        <p:nvPr/>
      </p:nvGrpSpPr>
      <p:grpSpPr>
        <a:xfrm>
          <a:off x="0" y="0"/>
          <a:ext cx="0" cy="0"/>
          <a:chOff x="0" y="0"/>
          <a:chExt cx="0" cy="0"/>
        </a:xfrm>
      </p:grpSpPr>
      <p:sp>
        <p:nvSpPr>
          <p:cNvPr id="132" name="Google Shape;132;p3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33" name="Google Shape;133;p3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4" name="Google Shape;1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3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7" name="Google Shape;137;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3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1" name="Google Shape;141;p3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2" name="Google Shape;142;p3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3" name="Google Shape;143;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sp>
        <p:nvSpPr>
          <p:cNvPr id="145" name="Google Shape;145;p3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46" name="Google Shape;146;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7" name="Shape 147"/>
        <p:cNvGrpSpPr/>
        <p:nvPr/>
      </p:nvGrpSpPr>
      <p:grpSpPr>
        <a:xfrm>
          <a:off x="0" y="0"/>
          <a:ext cx="0" cy="0"/>
          <a:chOff x="0" y="0"/>
          <a:chExt cx="0" cy="0"/>
        </a:xfrm>
      </p:grpSpPr>
      <p:sp>
        <p:nvSpPr>
          <p:cNvPr id="148" name="Google Shape;148;p3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9" name="Google Shape;149;p3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50" name="Google Shape;15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5">
  <p:cSld name="OBJECT_7">
    <p:spTree>
      <p:nvGrpSpPr>
        <p:cNvPr id="153" name="Shape 153"/>
        <p:cNvGrpSpPr/>
        <p:nvPr/>
      </p:nvGrpSpPr>
      <p:grpSpPr>
        <a:xfrm>
          <a:off x="0" y="0"/>
          <a:ext cx="0" cy="0"/>
          <a:chOff x="0" y="0"/>
          <a:chExt cx="0" cy="0"/>
        </a:xfrm>
      </p:grpSpPr>
      <p:sp>
        <p:nvSpPr>
          <p:cNvPr id="154" name="Google Shape;154;p39"/>
          <p:cNvSpPr txBox="1"/>
          <p:nvPr>
            <p:ph type="title"/>
          </p:nvPr>
        </p:nvSpPr>
        <p:spPr>
          <a:xfrm>
            <a:off x="370865" y="104584"/>
            <a:ext cx="3855300" cy="3852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1100"/>
              <a:buNone/>
              <a:defRPr b="1" i="0"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39"/>
          <p:cNvSpPr txBox="1"/>
          <p:nvPr>
            <p:ph idx="1" type="body"/>
          </p:nvPr>
        </p:nvSpPr>
        <p:spPr>
          <a:xfrm>
            <a:off x="1105757" y="813910"/>
            <a:ext cx="6932400" cy="1665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b="1" i="0" sz="900">
                <a:solidFill>
                  <a:srgbClr val="843B0C"/>
                </a:solidFill>
                <a:latin typeface="Arial"/>
                <a:ea typeface="Arial"/>
                <a:cs typeface="Arial"/>
                <a:sym typeface="Aria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56" name="Google Shape;156;p39"/>
          <p:cNvSpPr txBox="1"/>
          <p:nvPr>
            <p:ph idx="11" type="ftr"/>
          </p:nvPr>
        </p:nvSpPr>
        <p:spPr>
          <a:xfrm>
            <a:off x="3108960" y="4783455"/>
            <a:ext cx="2926200" cy="2571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1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57" name="Google Shape;157;p39"/>
          <p:cNvSpPr txBox="1"/>
          <p:nvPr>
            <p:ph idx="10" type="dt"/>
          </p:nvPr>
        </p:nvSpPr>
        <p:spPr>
          <a:xfrm>
            <a:off x="457200" y="4783455"/>
            <a:ext cx="2103000" cy="2571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58" name="Google Shape;158;p39"/>
          <p:cNvSpPr txBox="1"/>
          <p:nvPr>
            <p:ph idx="12" type="sldNum"/>
          </p:nvPr>
        </p:nvSpPr>
        <p:spPr>
          <a:xfrm>
            <a:off x="6583680" y="4783455"/>
            <a:ext cx="2103000" cy="257100"/>
          </a:xfrm>
          <a:prstGeom prst="rect">
            <a:avLst/>
          </a:prstGeom>
          <a:noFill/>
          <a:ln>
            <a:noFill/>
          </a:ln>
        </p:spPr>
        <p:txBody>
          <a:bodyPr anchorCtr="0" anchor="t" bIns="0" lIns="0" spcFirstLastPara="1" rIns="0" wrap="square" tIns="0">
            <a:normAutofit/>
          </a:bodyPr>
          <a:lstStyle>
            <a:lvl1pPr indent="0" lvl="0"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400"/>
              <a:buFont typeface="Calibri"/>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
        <p:nvSpPr>
          <p:cNvPr id="159" name="Google Shape;159;p39"/>
          <p:cNvSpPr/>
          <p:nvPr/>
        </p:nvSpPr>
        <p:spPr>
          <a:xfrm>
            <a:off x="0" y="192023"/>
            <a:ext cx="228600" cy="260985"/>
          </a:xfrm>
          <a:custGeom>
            <a:rect b="b" l="l" r="r" t="t"/>
            <a:pathLst>
              <a:path extrusionOk="0" h="347980" w="304800">
                <a:moveTo>
                  <a:pt x="0" y="347472"/>
                </a:moveTo>
                <a:lnTo>
                  <a:pt x="304800" y="347472"/>
                </a:lnTo>
                <a:lnTo>
                  <a:pt x="304800" y="0"/>
                </a:lnTo>
                <a:lnTo>
                  <a:pt x="0" y="0"/>
                </a:lnTo>
                <a:lnTo>
                  <a:pt x="0" y="347472"/>
                </a:lnTo>
                <a:close/>
              </a:path>
            </a:pathLst>
          </a:custGeom>
          <a:solidFill>
            <a:srgbClr val="EC7C3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3.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1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108" name="Shape 108"/>
        <p:cNvGrpSpPr/>
        <p:nvPr/>
      </p:nvGrpSpPr>
      <p:grpSpPr>
        <a:xfrm>
          <a:off x="0" y="0"/>
          <a:ext cx="0" cy="0"/>
          <a:chOff x="0" y="0"/>
          <a:chExt cx="0" cy="0"/>
        </a:xfrm>
      </p:grpSpPr>
      <p:sp>
        <p:nvSpPr>
          <p:cNvPr id="109" name="Google Shape;109;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0" name="Google Shape;110;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11" name="Google Shape;11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26.png"/><Relationship Id="rId7" Type="http://schemas.openxmlformats.org/officeDocument/2006/relationships/image" Target="../media/image14.png"/><Relationship Id="rId8"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slide" Target="/ppt/slides/slide9.xml"/><Relationship Id="rId4" Type="http://schemas.openxmlformats.org/officeDocument/2006/relationships/slide" Target="/ppt/slides/slide10.xml"/><Relationship Id="rId5" Type="http://schemas.openxmlformats.org/officeDocument/2006/relationships/slide" Target="/ppt/slides/slide11.xml"/><Relationship Id="rId6"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postimg.cc/gallery/vc64Jm3" TargetMode="Externa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hyperlink" Target="https://postimg.cc/jLsCx19C" TargetMode="External"/><Relationship Id="rId5" Type="http://schemas.openxmlformats.org/officeDocument/2006/relationships/hyperlink" Target="https://drive.google.com/file/d/1_KLqKeMx_Dv4VKDG517nDZxOTTEFmLOc/view"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https://postimg.cc/gallery/zbSsbTz" TargetMode="External"/><Relationship Id="rId4" Type="http://schemas.openxmlformats.org/officeDocument/2006/relationships/image" Target="../media/image7.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hyperlink" Target="https://postimg.cc/gallery/tnRFpG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hyperlink" Target="https://postimg.cc/gallery/m7D0Bpz" TargetMode="Externa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postimg.cc/gallery/vc64Jm3" TargetMode="Externa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hyperlink" Target="https://postimg.cc/gallery/tnRFpGv"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33.png"/><Relationship Id="rId5"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hyperlink" Target="https://drive.google.com/file/d/1r_n2WQ_vzjgbgMmBrBU04XdhYJU5sN27/view?usp=drive_link" TargetMode="Externa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hyperlink" Target="https://drive.google.com/drive/folders/13sm19u7Rt6HVS-YWhcypKOZ7mqqG_LQK" TargetMode="External"/><Relationship Id="rId4" Type="http://schemas.openxmlformats.org/officeDocument/2006/relationships/image" Target="../media/image39.png"/><Relationship Id="rId5"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hyperlink" Target="https://postimg.cc/gallery/m7D0Bpz" TargetMode="Externa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47.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35.jp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4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55.png"/><Relationship Id="rId4" Type="http://schemas.openxmlformats.org/officeDocument/2006/relationships/image" Target="../media/image45.png"/><Relationship Id="rId5"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43.png"/><Relationship Id="rId4" Type="http://schemas.openxmlformats.org/officeDocument/2006/relationships/hyperlink" Target="https://www.youtube.com/watch?v=hi6JuZp7dHY" TargetMode="External"/><Relationship Id="rId5" Type="http://schemas.openxmlformats.org/officeDocument/2006/relationships/hyperlink" Target="https://www.youtube.com/watch?v=yGQv5mCZfmU"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46.png"/><Relationship Id="rId4" Type="http://schemas.openxmlformats.org/officeDocument/2006/relationships/image" Target="../media/image49.png"/><Relationship Id="rId5" Type="http://schemas.openxmlformats.org/officeDocument/2006/relationships/image" Target="../media/image54.png"/><Relationship Id="rId6"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79.png"/><Relationship Id="rId4" Type="http://schemas.openxmlformats.org/officeDocument/2006/relationships/image" Target="../media/image52.png"/><Relationship Id="rId5"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hyperlink" Target="https://ic.haraworks.vn/folder/628da1aa92287a0001e4976f?fileId=646b3e52e6ddc300019352df" TargetMode="External"/><Relationship Id="rId4" Type="http://schemas.openxmlformats.org/officeDocument/2006/relationships/image" Target="../media/image76.png"/><Relationship Id="rId5" Type="http://schemas.openxmlformats.org/officeDocument/2006/relationships/image" Target="../media/image72.png"/><Relationship Id="rId6" Type="http://schemas.openxmlformats.org/officeDocument/2006/relationships/image" Target="../media/image60.png"/><Relationship Id="rId7"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Relationship Id="rId3" Type="http://schemas.openxmlformats.org/officeDocument/2006/relationships/image" Target="../media/image6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hyperlink" Target="https://noibo.ghn.vn/eform/form/create?flowId=6526253de48483cfb86aed30" TargetMode="External"/><Relationship Id="rId4" Type="http://schemas.openxmlformats.org/officeDocument/2006/relationships/hyperlink" Target="https://docs.google.com/spreadsheets/u/1/d/1KOQ8J_6lsCQ9e3wT5QweNXf_w6Vs3aAhmazm7w1QJzA/edit#gid=0"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68.png"/><Relationship Id="rId4" Type="http://schemas.openxmlformats.org/officeDocument/2006/relationships/image" Target="../media/image5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hyperlink" Target="https://docs.google.com/presentation/d/1FYVw7VSJOeBaLy86NGJiu-NGkSE6QDV-1pi2gE617qg/edit#slide=id.g13ac94d1ae5_1_87" TargetMode="External"/><Relationship Id="rId4" Type="http://schemas.openxmlformats.org/officeDocument/2006/relationships/image" Target="../media/image64.png"/><Relationship Id="rId5" Type="http://schemas.openxmlformats.org/officeDocument/2006/relationships/image" Target="../media/image69.png"/><Relationship Id="rId6" Type="http://schemas.openxmlformats.org/officeDocument/2006/relationships/image" Target="../media/image61.png"/><Relationship Id="rId7" Type="http://schemas.openxmlformats.org/officeDocument/2006/relationships/image" Target="../media/image63.png"/><Relationship Id="rId8" Type="http://schemas.openxmlformats.org/officeDocument/2006/relationships/image" Target="../media/image7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65.png"/><Relationship Id="rId4" Type="http://schemas.openxmlformats.org/officeDocument/2006/relationships/image" Target="../media/image71.jpg"/><Relationship Id="rId5" Type="http://schemas.openxmlformats.org/officeDocument/2006/relationships/image" Target="../media/image70.png"/><Relationship Id="rId6" Type="http://schemas.openxmlformats.org/officeDocument/2006/relationships/image" Target="../media/image84.png"/><Relationship Id="rId7" Type="http://schemas.openxmlformats.org/officeDocument/2006/relationships/image" Target="../media/image75.png"/><Relationship Id="rId8" Type="http://schemas.openxmlformats.org/officeDocument/2006/relationships/hyperlink" Target="https://docs.google.com/presentation/d/1FYVw7VSJOeBaLy86NGJiu-NGkSE6QDV-1pi2gE617qg/edit#slide=id.g13ac94d1ae5_1_87"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7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7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7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88.jpg"/><Relationship Id="rId4" Type="http://schemas.openxmlformats.org/officeDocument/2006/relationships/hyperlink" Target="https://drive.google.com/file/d/1pZMIj7FKVZrb1XF05zTKIoVyzWR3Nbda/view" TargetMode="External"/><Relationship Id="rId5" Type="http://schemas.openxmlformats.org/officeDocument/2006/relationships/image" Target="../media/image81.png"/><Relationship Id="rId6" Type="http://schemas.openxmlformats.org/officeDocument/2006/relationships/hyperlink" Target="https://postimg.cc/RWxgCFDQ"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8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82.png"/><Relationship Id="rId4" Type="http://schemas.openxmlformats.org/officeDocument/2006/relationships/image" Target="../media/image9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80.png"/><Relationship Id="rId4" Type="http://schemas.openxmlformats.org/officeDocument/2006/relationships/image" Target="../media/image97.png"/><Relationship Id="rId5" Type="http://schemas.openxmlformats.org/officeDocument/2006/relationships/hyperlink" Target="https://drive.google.com/drive/folders/13sm19u7Rt6HVS-YWhcypKOZ7mqqG_LQK?usp=sharin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87.png"/><Relationship Id="rId4" Type="http://schemas.openxmlformats.org/officeDocument/2006/relationships/hyperlink" Target="https://postimg.cc/gallery/dDMyBrq"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hyperlink" Target="https://postimg.cc/gallery/zhs7ftM" TargetMode="External"/><Relationship Id="rId4" Type="http://schemas.openxmlformats.org/officeDocument/2006/relationships/image" Target="../media/image85.png"/><Relationship Id="rId5" Type="http://schemas.openxmlformats.org/officeDocument/2006/relationships/image" Target="../media/image91.png"/><Relationship Id="rId6" Type="http://schemas.openxmlformats.org/officeDocument/2006/relationships/image" Target="../media/image93.png"/><Relationship Id="rId7" Type="http://schemas.openxmlformats.org/officeDocument/2006/relationships/image" Target="../media/image7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hyperlink" Target="https://postimg.cc/gallery/wB22xqz" TargetMode="External"/><Relationship Id="rId4" Type="http://schemas.openxmlformats.org/officeDocument/2006/relationships/image" Target="../media/image105.png"/><Relationship Id="rId5" Type="http://schemas.openxmlformats.org/officeDocument/2006/relationships/image" Target="../media/image9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100.png"/><Relationship Id="rId4" Type="http://schemas.openxmlformats.org/officeDocument/2006/relationships/image" Target="../media/image98.png"/><Relationship Id="rId5" Type="http://schemas.openxmlformats.org/officeDocument/2006/relationships/hyperlink" Target="https://postimg.cc/gallery/7yGPmRW"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hyperlink" Target="https://postimg.cc/gallery/X787jmh" TargetMode="External"/><Relationship Id="rId4" Type="http://schemas.openxmlformats.org/officeDocument/2006/relationships/image" Target="../media/image89.png"/><Relationship Id="rId5" Type="http://schemas.openxmlformats.org/officeDocument/2006/relationships/image" Target="../media/image95.png"/><Relationship Id="rId6" Type="http://schemas.openxmlformats.org/officeDocument/2006/relationships/image" Target="../media/image99.png"/><Relationship Id="rId7" Type="http://schemas.openxmlformats.org/officeDocument/2006/relationships/image" Target="../media/image9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hyperlink" Target="https://postimg.cc/gallery/Yk6Drt0" TargetMode="External"/><Relationship Id="rId4" Type="http://schemas.openxmlformats.org/officeDocument/2006/relationships/image" Target="../media/image102.png"/><Relationship Id="rId5" Type="http://schemas.openxmlformats.org/officeDocument/2006/relationships/image" Target="../media/image10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hyperlink" Target="https://postimg.cc/gallery/F3L42sq" TargetMode="External"/><Relationship Id="rId4" Type="http://schemas.openxmlformats.org/officeDocument/2006/relationships/image" Target="../media/image104.png"/><Relationship Id="rId5" Type="http://schemas.openxmlformats.org/officeDocument/2006/relationships/image" Target="../media/image10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107.jpg"/><Relationship Id="rId4" Type="http://schemas.openxmlformats.org/officeDocument/2006/relationships/image" Target="../media/image101.png"/><Relationship Id="rId5" Type="http://schemas.openxmlformats.org/officeDocument/2006/relationships/hyperlink" Target="https://postimg.cc/gallery/m7D0Bpz"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96.png"/><Relationship Id="rId4" Type="http://schemas.openxmlformats.org/officeDocument/2006/relationships/image" Target="../media/image10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40"/>
          <p:cNvSpPr txBox="1"/>
          <p:nvPr/>
        </p:nvSpPr>
        <p:spPr>
          <a:xfrm>
            <a:off x="327675" y="3645225"/>
            <a:ext cx="2772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GB" sz="1700" u="none" cap="none" strike="noStrike">
                <a:solidFill>
                  <a:schemeClr val="lt1"/>
                </a:solidFill>
                <a:latin typeface="Montserrat"/>
                <a:ea typeface="Montserrat"/>
                <a:cs typeface="Montserrat"/>
                <a:sym typeface="Montserrat"/>
              </a:rPr>
              <a:t>31/03/202</a:t>
            </a:r>
            <a:r>
              <a:rPr b="1" lang="en-GB" sz="1700">
                <a:solidFill>
                  <a:schemeClr val="lt1"/>
                </a:solidFill>
                <a:latin typeface="Montserrat"/>
                <a:ea typeface="Montserrat"/>
                <a:cs typeface="Montserrat"/>
                <a:sym typeface="Montserrat"/>
              </a:rPr>
              <a:t>6</a:t>
            </a:r>
            <a:endParaRPr b="1" i="0" sz="1700" u="none" cap="none" strike="noStrike">
              <a:solidFill>
                <a:schemeClr val="lt1"/>
              </a:solidFill>
              <a:latin typeface="Montserrat"/>
              <a:ea typeface="Montserrat"/>
              <a:cs typeface="Montserrat"/>
              <a:sym typeface="Montserrat"/>
            </a:endParaRPr>
          </a:p>
        </p:txBody>
      </p:sp>
      <p:grpSp>
        <p:nvGrpSpPr>
          <p:cNvPr id="165" name="Google Shape;165;p40"/>
          <p:cNvGrpSpPr/>
          <p:nvPr/>
        </p:nvGrpSpPr>
        <p:grpSpPr>
          <a:xfrm>
            <a:off x="-263050" y="249225"/>
            <a:ext cx="6557100" cy="2651400"/>
            <a:chOff x="-205350" y="484600"/>
            <a:chExt cx="6557100" cy="2651400"/>
          </a:xfrm>
        </p:grpSpPr>
        <p:sp>
          <p:nvSpPr>
            <p:cNvPr id="166" name="Google Shape;166;p40"/>
            <p:cNvSpPr txBox="1"/>
            <p:nvPr/>
          </p:nvSpPr>
          <p:spPr>
            <a:xfrm>
              <a:off x="-205350" y="484600"/>
              <a:ext cx="6557100" cy="2651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1F3864"/>
                </a:buClr>
                <a:buSzPts val="3300"/>
                <a:buFont typeface="Arial"/>
                <a:buNone/>
              </a:pPr>
              <a:r>
                <a:rPr b="1" i="0" lang="en-GB" sz="4500" u="none" cap="none" strike="noStrike">
                  <a:solidFill>
                    <a:srgbClr val="F26522"/>
                  </a:solidFill>
                  <a:latin typeface="Montserrat"/>
                  <a:ea typeface="Montserrat"/>
                  <a:cs typeface="Montserrat"/>
                  <a:sym typeface="Montserrat"/>
                </a:rPr>
                <a:t>BƯU CỤC CHUẨN </a:t>
              </a:r>
              <a:endParaRPr b="1" i="0" sz="4500" u="none" cap="none" strike="noStrike">
                <a:solidFill>
                  <a:srgbClr val="F26522"/>
                </a:solidFill>
                <a:latin typeface="Montserrat"/>
                <a:ea typeface="Montserrat"/>
                <a:cs typeface="Montserrat"/>
                <a:sym typeface="Montserrat"/>
              </a:endParaRPr>
            </a:p>
            <a:p>
              <a:pPr indent="0" lvl="0" marL="0" marR="0" rtl="0" algn="ctr">
                <a:lnSpc>
                  <a:spcPct val="100000"/>
                </a:lnSpc>
                <a:spcBef>
                  <a:spcPts val="0"/>
                </a:spcBef>
                <a:spcAft>
                  <a:spcPts val="0"/>
                </a:spcAft>
                <a:buClr>
                  <a:srgbClr val="1F3864"/>
                </a:buClr>
                <a:buSzPts val="3300"/>
                <a:buFont typeface="Arial"/>
                <a:buNone/>
              </a:pPr>
              <a:r>
                <a:rPr b="1" i="0" lang="en-GB" sz="4000" u="none" cap="none" strike="noStrike">
                  <a:solidFill>
                    <a:srgbClr val="1155CC"/>
                  </a:solidFill>
                  <a:latin typeface="Montserrat"/>
                  <a:ea typeface="Montserrat"/>
                  <a:cs typeface="Montserrat"/>
                  <a:sym typeface="Montserrat"/>
                </a:rPr>
                <a:t>CHẤM ĐIỂM DỊCH VỤ </a:t>
              </a:r>
              <a:endParaRPr b="1" i="0" sz="4000" u="none" cap="none" strike="noStrike">
                <a:solidFill>
                  <a:srgbClr val="1155CC"/>
                </a:solidFill>
                <a:latin typeface="Montserrat"/>
                <a:ea typeface="Montserrat"/>
                <a:cs typeface="Montserrat"/>
                <a:sym typeface="Montserrat"/>
              </a:endParaRPr>
            </a:p>
            <a:p>
              <a:pPr indent="0" lvl="0" marL="0" marR="0" rtl="0" algn="ctr">
                <a:lnSpc>
                  <a:spcPct val="100000"/>
                </a:lnSpc>
                <a:spcBef>
                  <a:spcPts val="0"/>
                </a:spcBef>
                <a:spcAft>
                  <a:spcPts val="0"/>
                </a:spcAft>
                <a:buClr>
                  <a:srgbClr val="1F3864"/>
                </a:buClr>
                <a:buSzPts val="3300"/>
                <a:buFont typeface="Arial"/>
                <a:buNone/>
              </a:pPr>
              <a:r>
                <a:rPr b="1" i="0" lang="en-GB" sz="4000" u="none" cap="none" strike="noStrike">
                  <a:solidFill>
                    <a:srgbClr val="1155CC"/>
                  </a:solidFill>
                  <a:latin typeface="Montserrat"/>
                  <a:ea typeface="Montserrat"/>
                  <a:cs typeface="Montserrat"/>
                  <a:sym typeface="Montserrat"/>
                </a:rPr>
                <a:t>TRÊN</a:t>
              </a:r>
              <a:r>
                <a:rPr b="1" i="0" lang="en-GB" sz="3500" u="none" cap="none" strike="noStrike">
                  <a:solidFill>
                    <a:schemeClr val="lt1"/>
                  </a:solidFill>
                  <a:latin typeface="Montserrat"/>
                  <a:ea typeface="Montserrat"/>
                  <a:cs typeface="Montserrat"/>
                  <a:sym typeface="Montserrat"/>
                </a:rPr>
                <a:t>      </a:t>
              </a:r>
              <a:r>
                <a:rPr b="1" i="0" lang="en-GB" sz="4000" u="none" cap="none" strike="noStrike">
                  <a:solidFill>
                    <a:srgbClr val="1155CC"/>
                  </a:solidFill>
                  <a:latin typeface="Montserrat"/>
                  <a:ea typeface="Montserrat"/>
                  <a:cs typeface="Montserrat"/>
                  <a:sym typeface="Montserrat"/>
                </a:rPr>
                <a:t>Haraworks</a:t>
              </a:r>
              <a:endParaRPr b="1" i="0" sz="5000" u="none" cap="none" strike="noStrike">
                <a:solidFill>
                  <a:srgbClr val="F15E22"/>
                </a:solidFill>
                <a:latin typeface="Montserrat"/>
                <a:ea typeface="Montserrat"/>
                <a:cs typeface="Montserrat"/>
                <a:sym typeface="Montserrat"/>
              </a:endParaRPr>
            </a:p>
          </p:txBody>
        </p:sp>
        <p:pic>
          <p:nvPicPr>
            <p:cNvPr id="167" name="Google Shape;167;p40"/>
            <p:cNvPicPr preferRelativeResize="0"/>
            <p:nvPr/>
          </p:nvPicPr>
          <p:blipFill rotWithShape="1">
            <a:blip r:embed="rId4">
              <a:alphaModFix/>
            </a:blip>
            <a:srcRect b="0" l="0" r="0" t="0"/>
            <a:stretch/>
          </p:blipFill>
          <p:spPr>
            <a:xfrm>
              <a:off x="2104650" y="1844550"/>
              <a:ext cx="578975" cy="57897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41"/>
          <p:cNvPicPr preferRelativeResize="0"/>
          <p:nvPr/>
        </p:nvPicPr>
        <p:blipFill rotWithShape="1">
          <a:blip r:embed="rId3">
            <a:alphaModFix/>
          </a:blip>
          <a:srcRect b="0" l="6803" r="0" t="0"/>
          <a:stretch/>
        </p:blipFill>
        <p:spPr>
          <a:xfrm>
            <a:off x="96950" y="830176"/>
            <a:ext cx="3577800" cy="3632400"/>
          </a:xfrm>
          <a:prstGeom prst="parallelogram">
            <a:avLst>
              <a:gd fmla="val 15426" name="adj"/>
            </a:avLst>
          </a:prstGeom>
          <a:noFill/>
          <a:ln>
            <a:noFill/>
          </a:ln>
          <a:effectLst>
            <a:outerShdw blurRad="57150" rotWithShape="0" algn="bl" dist="19050">
              <a:srgbClr val="000000">
                <a:alpha val="0"/>
              </a:srgbClr>
            </a:outerShdw>
          </a:effectLst>
        </p:spPr>
      </p:pic>
      <p:pic>
        <p:nvPicPr>
          <p:cNvPr id="173" name="Google Shape;173;p41"/>
          <p:cNvPicPr preferRelativeResize="0"/>
          <p:nvPr/>
        </p:nvPicPr>
        <p:blipFill rotWithShape="1">
          <a:blip r:embed="rId4">
            <a:alphaModFix/>
          </a:blip>
          <a:srcRect b="0" l="0" r="0" t="0"/>
          <a:stretch/>
        </p:blipFill>
        <p:spPr>
          <a:xfrm>
            <a:off x="3629160" y="739050"/>
            <a:ext cx="5484900" cy="649500"/>
          </a:xfrm>
          <a:prstGeom prst="parallelogram">
            <a:avLst>
              <a:gd fmla="val 25000" name="adj"/>
            </a:avLst>
          </a:prstGeom>
          <a:noFill/>
          <a:ln>
            <a:noFill/>
          </a:ln>
        </p:spPr>
      </p:pic>
      <p:pic>
        <p:nvPicPr>
          <p:cNvPr id="174" name="Google Shape;174;p41"/>
          <p:cNvPicPr preferRelativeResize="0"/>
          <p:nvPr/>
        </p:nvPicPr>
        <p:blipFill rotWithShape="1">
          <a:blip r:embed="rId5">
            <a:alphaModFix/>
          </a:blip>
          <a:srcRect b="0" l="0" r="0" t="0"/>
          <a:stretch/>
        </p:blipFill>
        <p:spPr>
          <a:xfrm>
            <a:off x="3580546" y="1533605"/>
            <a:ext cx="5461500" cy="637500"/>
          </a:xfrm>
          <a:prstGeom prst="parallelogram">
            <a:avLst>
              <a:gd fmla="val 25000" name="adj"/>
            </a:avLst>
          </a:prstGeom>
          <a:noFill/>
          <a:ln>
            <a:noFill/>
          </a:ln>
        </p:spPr>
      </p:pic>
      <p:pic>
        <p:nvPicPr>
          <p:cNvPr id="175" name="Google Shape;175;p41"/>
          <p:cNvPicPr preferRelativeResize="0"/>
          <p:nvPr/>
        </p:nvPicPr>
        <p:blipFill rotWithShape="1">
          <a:blip r:embed="rId6">
            <a:alphaModFix/>
          </a:blip>
          <a:srcRect b="0" l="0" r="0" t="0"/>
          <a:stretch/>
        </p:blipFill>
        <p:spPr>
          <a:xfrm>
            <a:off x="3487512" y="2313520"/>
            <a:ext cx="5455800" cy="665700"/>
          </a:xfrm>
          <a:prstGeom prst="parallelogram">
            <a:avLst>
              <a:gd fmla="val 25000" name="adj"/>
            </a:avLst>
          </a:prstGeom>
          <a:noFill/>
          <a:ln>
            <a:noFill/>
          </a:ln>
        </p:spPr>
      </p:pic>
      <p:pic>
        <p:nvPicPr>
          <p:cNvPr id="176" name="Google Shape;176;p41"/>
          <p:cNvPicPr preferRelativeResize="0"/>
          <p:nvPr/>
        </p:nvPicPr>
        <p:blipFill rotWithShape="1">
          <a:blip r:embed="rId7">
            <a:alphaModFix/>
          </a:blip>
          <a:srcRect b="0" l="0" r="0" t="0"/>
          <a:stretch/>
        </p:blipFill>
        <p:spPr>
          <a:xfrm>
            <a:off x="3351700" y="3079750"/>
            <a:ext cx="5591700" cy="653700"/>
          </a:xfrm>
          <a:prstGeom prst="parallelogram">
            <a:avLst>
              <a:gd fmla="val 25000" name="adj"/>
            </a:avLst>
          </a:prstGeom>
          <a:noFill/>
          <a:ln>
            <a:noFill/>
          </a:ln>
        </p:spPr>
      </p:pic>
      <p:pic>
        <p:nvPicPr>
          <p:cNvPr id="177" name="Google Shape;177;p41"/>
          <p:cNvPicPr preferRelativeResize="0"/>
          <p:nvPr/>
        </p:nvPicPr>
        <p:blipFill rotWithShape="1">
          <a:blip r:embed="rId8">
            <a:alphaModFix/>
          </a:blip>
          <a:srcRect b="0" l="0" r="0" t="0"/>
          <a:stretch/>
        </p:blipFill>
        <p:spPr>
          <a:xfrm>
            <a:off x="3255600" y="3833975"/>
            <a:ext cx="5721900" cy="665700"/>
          </a:xfrm>
          <a:prstGeom prst="parallelogram">
            <a:avLst>
              <a:gd fmla="val 25000" name="adj"/>
            </a:avLst>
          </a:prstGeom>
          <a:noFill/>
          <a:ln>
            <a:noFill/>
          </a:ln>
        </p:spPr>
      </p:pic>
      <p:sp>
        <p:nvSpPr>
          <p:cNvPr id="178" name="Google Shape;178;p41"/>
          <p:cNvSpPr txBox="1"/>
          <p:nvPr/>
        </p:nvSpPr>
        <p:spPr>
          <a:xfrm>
            <a:off x="4747381" y="836825"/>
            <a:ext cx="4113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lt1"/>
                </a:solidFill>
                <a:latin typeface="Montserrat"/>
                <a:ea typeface="Montserrat"/>
                <a:cs typeface="Montserrat"/>
                <a:sym typeface="Montserrat"/>
              </a:rPr>
              <a:t>GIỚI THIỆU VỀ DỰ ÁN</a:t>
            </a:r>
            <a:endParaRPr b="0" i="0" sz="1500" u="none" cap="none" strike="noStrike">
              <a:solidFill>
                <a:srgbClr val="000000"/>
              </a:solidFill>
              <a:latin typeface="Montserrat"/>
              <a:ea typeface="Montserrat"/>
              <a:cs typeface="Montserrat"/>
              <a:sym typeface="Montserrat"/>
            </a:endParaRPr>
          </a:p>
        </p:txBody>
      </p:sp>
      <p:sp>
        <p:nvSpPr>
          <p:cNvPr id="179" name="Google Shape;179;p41"/>
          <p:cNvSpPr txBox="1"/>
          <p:nvPr/>
        </p:nvSpPr>
        <p:spPr>
          <a:xfrm>
            <a:off x="4994377" y="1694900"/>
            <a:ext cx="4253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lt1"/>
                </a:solidFill>
                <a:latin typeface="Montserrat"/>
                <a:ea typeface="Montserrat"/>
                <a:cs typeface="Montserrat"/>
                <a:sym typeface="Montserrat"/>
              </a:rPr>
              <a:t>CÁC LOẠI BÀI CHẤM</a:t>
            </a:r>
            <a:endParaRPr b="0" i="0" sz="1500" u="none" cap="none" strike="noStrike">
              <a:solidFill>
                <a:srgbClr val="000000"/>
              </a:solidFill>
              <a:latin typeface="Montserrat"/>
              <a:ea typeface="Montserrat"/>
              <a:cs typeface="Montserrat"/>
              <a:sym typeface="Montserrat"/>
            </a:endParaRPr>
          </a:p>
        </p:txBody>
      </p:sp>
      <p:sp>
        <p:nvSpPr>
          <p:cNvPr id="180" name="Google Shape;180;p41"/>
          <p:cNvSpPr txBox="1"/>
          <p:nvPr/>
        </p:nvSpPr>
        <p:spPr>
          <a:xfrm>
            <a:off x="4857125" y="2350988"/>
            <a:ext cx="387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lt1"/>
                </a:solidFill>
                <a:latin typeface="Montserrat"/>
                <a:ea typeface="Montserrat"/>
                <a:cs typeface="Montserrat"/>
                <a:sym typeface="Montserrat"/>
              </a:rPr>
              <a:t>HƯỚNG DẪN CHẤM ĐIỂM VÀ KHẮC PHỤC PHIẾU LỖI</a:t>
            </a:r>
            <a:endParaRPr b="1" i="0" sz="1500" u="none" cap="none" strike="noStrike">
              <a:solidFill>
                <a:schemeClr val="lt1"/>
              </a:solidFill>
              <a:latin typeface="Montserrat"/>
              <a:ea typeface="Montserrat"/>
              <a:cs typeface="Montserrat"/>
              <a:sym typeface="Montserrat"/>
            </a:endParaRPr>
          </a:p>
        </p:txBody>
      </p:sp>
      <p:sp>
        <p:nvSpPr>
          <p:cNvPr id="181" name="Google Shape;181;p41"/>
          <p:cNvSpPr txBox="1"/>
          <p:nvPr/>
        </p:nvSpPr>
        <p:spPr>
          <a:xfrm>
            <a:off x="4889450" y="3239175"/>
            <a:ext cx="3970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GB" sz="1500" u="none" cap="none" strike="noStrike">
                <a:solidFill>
                  <a:schemeClr val="lt1"/>
                </a:solidFill>
                <a:latin typeface="Montserrat"/>
                <a:ea typeface="Montserrat"/>
                <a:cs typeface="Montserrat"/>
                <a:sym typeface="Montserrat"/>
              </a:rPr>
              <a:t>CHÍNH SÁCH CHẤM ĐIỂM BƯU CỤC</a:t>
            </a:r>
            <a:endParaRPr b="1" i="0" sz="1500" u="none" cap="none" strike="noStrike">
              <a:solidFill>
                <a:schemeClr val="lt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p:txBody>
      </p:sp>
      <p:sp>
        <p:nvSpPr>
          <p:cNvPr id="182" name="Google Shape;182;p41"/>
          <p:cNvSpPr txBox="1"/>
          <p:nvPr/>
        </p:nvSpPr>
        <p:spPr>
          <a:xfrm>
            <a:off x="4765779" y="4004235"/>
            <a:ext cx="4253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lt1"/>
                </a:solidFill>
                <a:latin typeface="Montserrat"/>
                <a:ea typeface="Montserrat"/>
                <a:cs typeface="Montserrat"/>
                <a:sym typeface="Montserrat"/>
              </a:rPr>
              <a:t>CƠ CHẾ LOẠI LOẠI TRỪ</a:t>
            </a:r>
            <a:endParaRPr b="1"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p42"/>
          <p:cNvSpPr txBox="1"/>
          <p:nvPr>
            <p:ph idx="1" type="body"/>
          </p:nvPr>
        </p:nvSpPr>
        <p:spPr>
          <a:xfrm>
            <a:off x="2403475" y="2207950"/>
            <a:ext cx="57897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3500">
                <a:solidFill>
                  <a:schemeClr val="lt1"/>
                </a:solidFill>
                <a:latin typeface="Montserrat ExtraBold"/>
                <a:ea typeface="Montserrat ExtraBold"/>
                <a:cs typeface="Montserrat ExtraBold"/>
                <a:sym typeface="Montserrat ExtraBold"/>
              </a:rPr>
              <a:t>GIỚI THIỆU VỀ DỰ ÁN</a:t>
            </a:r>
            <a:endParaRPr b="1" sz="3500">
              <a:solidFill>
                <a:schemeClr val="lt1"/>
              </a:solidFill>
              <a:latin typeface="Montserrat ExtraBold"/>
              <a:ea typeface="Montserrat ExtraBold"/>
              <a:cs typeface="Montserrat ExtraBold"/>
              <a:sym typeface="Montserrat ExtraBold"/>
            </a:endParaRPr>
          </a:p>
          <a:p>
            <a:pPr indent="0" lvl="0" marL="0" rtl="0" algn="l">
              <a:lnSpc>
                <a:spcPct val="115000"/>
              </a:lnSpc>
              <a:spcBef>
                <a:spcPts val="1200"/>
              </a:spcBef>
              <a:spcAft>
                <a:spcPts val="0"/>
              </a:spcAft>
              <a:buClr>
                <a:schemeClr val="dk1"/>
              </a:buClr>
              <a:buSzPts val="1100"/>
              <a:buFont typeface="Arial"/>
              <a:buNone/>
            </a:pPr>
            <a:r>
              <a:t/>
            </a:r>
            <a:endParaRPr b="1" sz="3500">
              <a:solidFill>
                <a:schemeClr val="lt1"/>
              </a:solidFill>
              <a:latin typeface="Montserrat ExtraBold"/>
              <a:ea typeface="Montserrat ExtraBold"/>
              <a:cs typeface="Montserrat ExtraBold"/>
              <a:sym typeface="Montserrat ExtraBold"/>
            </a:endParaRPr>
          </a:p>
          <a:p>
            <a:pPr indent="0" lvl="0" marL="0" rtl="0" algn="l">
              <a:lnSpc>
                <a:spcPct val="115000"/>
              </a:lnSpc>
              <a:spcBef>
                <a:spcPts val="1200"/>
              </a:spcBef>
              <a:spcAft>
                <a:spcPts val="1200"/>
              </a:spcAft>
              <a:buSzPts val="1800"/>
              <a:buNone/>
            </a:pPr>
            <a:r>
              <a:t/>
            </a:r>
            <a:endParaRPr b="1" sz="3500">
              <a:solidFill>
                <a:schemeClr val="lt1"/>
              </a:solidFill>
              <a:latin typeface="Montserrat ExtraBold"/>
              <a:ea typeface="Montserrat ExtraBold"/>
              <a:cs typeface="Montserrat ExtraBold"/>
              <a:sym typeface="Montserrat ExtraBold"/>
            </a:endParaRPr>
          </a:p>
        </p:txBody>
      </p:sp>
      <p:sp>
        <p:nvSpPr>
          <p:cNvPr id="188" name="Google Shape;188;p42"/>
          <p:cNvSpPr txBox="1"/>
          <p:nvPr/>
        </p:nvSpPr>
        <p:spPr>
          <a:xfrm>
            <a:off x="1996400" y="3556525"/>
            <a:ext cx="6852300" cy="780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rgbClr val="00467F"/>
              </a:buClr>
              <a:buSzPts val="1800"/>
              <a:buFont typeface="Montserrat"/>
              <a:buAutoNum type="alphaUcPeriod"/>
            </a:pPr>
            <a:r>
              <a:rPr b="0" i="0" lang="en-GB" sz="1800" u="none" cap="none" strike="noStrike">
                <a:solidFill>
                  <a:srgbClr val="00467F"/>
                </a:solidFill>
                <a:latin typeface="Montserrat"/>
                <a:ea typeface="Montserrat"/>
                <a:cs typeface="Montserrat"/>
                <a:sym typeface="Montserrat"/>
              </a:rPr>
              <a:t>MỤC ĐÍCH VÀ LỢI ÍCH DỰ ÁN.</a:t>
            </a:r>
            <a:endParaRPr b="0" i="0" sz="1800" u="none" cap="none" strike="noStrike">
              <a:solidFill>
                <a:srgbClr val="00467F"/>
              </a:solidFill>
              <a:latin typeface="Montserrat"/>
              <a:ea typeface="Montserrat"/>
              <a:cs typeface="Montserrat"/>
              <a:sym typeface="Montserrat"/>
            </a:endParaRPr>
          </a:p>
          <a:p>
            <a:pPr indent="-342900" lvl="0" marL="457200" marR="0" rtl="0" algn="l">
              <a:lnSpc>
                <a:spcPct val="115000"/>
              </a:lnSpc>
              <a:spcBef>
                <a:spcPts val="0"/>
              </a:spcBef>
              <a:spcAft>
                <a:spcPts val="0"/>
              </a:spcAft>
              <a:buClr>
                <a:srgbClr val="00467F"/>
              </a:buClr>
              <a:buSzPts val="1800"/>
              <a:buFont typeface="Montserrat"/>
              <a:buAutoNum type="alphaUcPeriod"/>
            </a:pPr>
            <a:r>
              <a:rPr b="0" i="0" lang="en-GB" sz="1800" u="none" cap="none" strike="noStrike">
                <a:solidFill>
                  <a:srgbClr val="00467F"/>
                </a:solidFill>
                <a:latin typeface="Montserrat"/>
                <a:ea typeface="Montserrat"/>
                <a:cs typeface="Montserrat"/>
                <a:sym typeface="Montserrat"/>
              </a:rPr>
              <a:t>SƠ ĐỒ QUY TRÌNH CHẤM ĐIỂM TRÊN HRWS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3"/>
          <p:cNvSpPr txBox="1"/>
          <p:nvPr>
            <p:ph type="title"/>
          </p:nvPr>
        </p:nvSpPr>
        <p:spPr>
          <a:xfrm>
            <a:off x="108775" y="188375"/>
            <a:ext cx="6094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A.  MỤC ĐÍCH &amp; LỢI ÍCH DỰ ÁN </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grpSp>
        <p:nvGrpSpPr>
          <p:cNvPr id="194" name="Google Shape;194;p43"/>
          <p:cNvGrpSpPr/>
          <p:nvPr/>
        </p:nvGrpSpPr>
        <p:grpSpPr>
          <a:xfrm>
            <a:off x="731725" y="1001350"/>
            <a:ext cx="3893804" cy="1522277"/>
            <a:chOff x="-3526" y="-2523"/>
            <a:chExt cx="5994156" cy="4353095"/>
          </a:xfrm>
        </p:grpSpPr>
        <p:sp>
          <p:nvSpPr>
            <p:cNvPr id="195" name="Google Shape;195;p43"/>
            <p:cNvSpPr/>
            <p:nvPr/>
          </p:nvSpPr>
          <p:spPr>
            <a:xfrm>
              <a:off x="145157" y="144329"/>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rgbClr val="F2652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3"/>
            <p:cNvSpPr/>
            <p:nvPr/>
          </p:nvSpPr>
          <p:spPr>
            <a:xfrm>
              <a:off x="-3526" y="-2523"/>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chemeClr val="accent1"/>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3"/>
            <p:cNvSpPr txBox="1"/>
            <p:nvPr/>
          </p:nvSpPr>
          <p:spPr>
            <a:xfrm>
              <a:off x="41964" y="760109"/>
              <a:ext cx="5799900" cy="748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1700"/>
                <a:buFont typeface="Arial"/>
                <a:buNone/>
              </a:pPr>
              <a:r>
                <a:rPr b="1" i="0" lang="en-GB" sz="1700" u="none" cap="none" strike="noStrike">
                  <a:solidFill>
                    <a:schemeClr val="lt1"/>
                  </a:solidFill>
                  <a:latin typeface="Montserrat"/>
                  <a:ea typeface="Montserrat"/>
                  <a:cs typeface="Montserrat"/>
                  <a:sym typeface="Montserrat"/>
                </a:rPr>
                <a:t>Hỗ trợ kiểm soát </a:t>
              </a:r>
              <a:endParaRPr b="0" i="0" sz="700" u="none" cap="none" strike="noStrike">
                <a:solidFill>
                  <a:schemeClr val="lt1"/>
                </a:solidFill>
                <a:latin typeface="Montserrat"/>
                <a:ea typeface="Montserrat"/>
                <a:cs typeface="Montserrat"/>
                <a:sym typeface="Montserrat"/>
              </a:endParaRPr>
            </a:p>
          </p:txBody>
        </p:sp>
        <p:sp>
          <p:nvSpPr>
            <p:cNvPr id="198" name="Google Shape;198;p43"/>
            <p:cNvSpPr txBox="1"/>
            <p:nvPr/>
          </p:nvSpPr>
          <p:spPr>
            <a:xfrm>
              <a:off x="41963" y="1584908"/>
              <a:ext cx="5660100" cy="25179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1100"/>
                <a:buFont typeface="Arial"/>
                <a:buNone/>
              </a:pPr>
              <a:r>
                <a:rPr b="0" i="0" lang="en-GB" sz="1100" u="none" cap="none" strike="noStrike">
                  <a:solidFill>
                    <a:schemeClr val="lt1"/>
                  </a:solidFill>
                  <a:latin typeface="Montserrat"/>
                  <a:ea typeface="Montserrat"/>
                  <a:cs typeface="Montserrat"/>
                  <a:sym typeface="Montserrat"/>
                </a:rPr>
                <a:t>Giúp kiểm soát hoạt động của các đối tượng (bưu cục, nhân viên,...) theo đúng quy trình và chuẩn mực do công ty quy định.</a:t>
              </a:r>
              <a:endParaRPr b="0" i="0" sz="700" u="none" cap="none" strike="noStrike">
                <a:solidFill>
                  <a:schemeClr val="lt1"/>
                </a:solidFill>
                <a:latin typeface="Montserrat"/>
                <a:ea typeface="Montserrat"/>
                <a:cs typeface="Montserrat"/>
                <a:sym typeface="Montserrat"/>
              </a:endParaRPr>
            </a:p>
            <a:p>
              <a:pPr indent="0" lvl="0" marL="0" marR="0" rtl="0" algn="ctr">
                <a:lnSpc>
                  <a:spcPct val="140018"/>
                </a:lnSpc>
                <a:spcBef>
                  <a:spcPts val="0"/>
                </a:spcBef>
                <a:spcAft>
                  <a:spcPts val="0"/>
                </a:spcAft>
                <a:buClr>
                  <a:srgbClr val="000000"/>
                </a:buClr>
                <a:buSzPts val="1100"/>
                <a:buFont typeface="Arial"/>
                <a:buNone/>
              </a:pPr>
              <a:r>
                <a:t/>
              </a:r>
              <a:endParaRPr b="1" i="0" sz="1100" u="none" cap="none" strike="noStrike">
                <a:solidFill>
                  <a:srgbClr val="000000"/>
                </a:solidFill>
                <a:latin typeface="Rajdhani"/>
                <a:ea typeface="Rajdhani"/>
                <a:cs typeface="Rajdhani"/>
                <a:sym typeface="Rajdhani"/>
              </a:endParaRPr>
            </a:p>
          </p:txBody>
        </p:sp>
      </p:grpSp>
      <p:grpSp>
        <p:nvGrpSpPr>
          <p:cNvPr id="199" name="Google Shape;199;p43"/>
          <p:cNvGrpSpPr/>
          <p:nvPr/>
        </p:nvGrpSpPr>
        <p:grpSpPr>
          <a:xfrm>
            <a:off x="4780525" y="1001350"/>
            <a:ext cx="3893804" cy="1522277"/>
            <a:chOff x="-3526" y="-2523"/>
            <a:chExt cx="5994156" cy="4353095"/>
          </a:xfrm>
        </p:grpSpPr>
        <p:sp>
          <p:nvSpPr>
            <p:cNvPr id="200" name="Google Shape;200;p43"/>
            <p:cNvSpPr/>
            <p:nvPr/>
          </p:nvSpPr>
          <p:spPr>
            <a:xfrm>
              <a:off x="145157" y="144329"/>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rgbClr val="F2652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3"/>
            <p:cNvSpPr/>
            <p:nvPr/>
          </p:nvSpPr>
          <p:spPr>
            <a:xfrm>
              <a:off x="-3526" y="-2523"/>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chemeClr val="accent1"/>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3"/>
            <p:cNvSpPr txBox="1"/>
            <p:nvPr/>
          </p:nvSpPr>
          <p:spPr>
            <a:xfrm>
              <a:off x="41964" y="760109"/>
              <a:ext cx="5799900" cy="748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1700"/>
                <a:buFont typeface="Arial"/>
                <a:buNone/>
              </a:pPr>
              <a:r>
                <a:rPr b="1" i="0" lang="en-GB" sz="1700" u="none" cap="none" strike="noStrike">
                  <a:solidFill>
                    <a:schemeClr val="lt1"/>
                  </a:solidFill>
                  <a:latin typeface="Montserrat"/>
                  <a:ea typeface="Montserrat"/>
                  <a:cs typeface="Montserrat"/>
                  <a:sym typeface="Montserrat"/>
                </a:rPr>
                <a:t>Đo lường và cải thiện</a:t>
              </a:r>
              <a:endParaRPr b="0" i="0" sz="700" u="none" cap="none" strike="noStrike">
                <a:solidFill>
                  <a:schemeClr val="lt1"/>
                </a:solidFill>
                <a:latin typeface="Montserrat"/>
                <a:ea typeface="Montserrat"/>
                <a:cs typeface="Montserrat"/>
                <a:sym typeface="Montserrat"/>
              </a:endParaRPr>
            </a:p>
          </p:txBody>
        </p:sp>
        <p:sp>
          <p:nvSpPr>
            <p:cNvPr id="203" name="Google Shape;203;p43"/>
            <p:cNvSpPr txBox="1"/>
            <p:nvPr/>
          </p:nvSpPr>
          <p:spPr>
            <a:xfrm>
              <a:off x="41963" y="1584908"/>
              <a:ext cx="5660100" cy="25179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1100"/>
                <a:buFont typeface="Arial"/>
                <a:buNone/>
              </a:pPr>
              <a:r>
                <a:rPr b="0" i="0" lang="en-GB" sz="1100" u="none" cap="none" strike="noStrike">
                  <a:solidFill>
                    <a:schemeClr val="lt1"/>
                  </a:solidFill>
                  <a:latin typeface="Montserrat"/>
                  <a:ea typeface="Montserrat"/>
                  <a:cs typeface="Montserrat"/>
                  <a:sym typeface="Montserrat"/>
                </a:rPr>
                <a:t>Theo dõi và nâng cấp trải nghiệm khách hàng nhằm cải thiện chất lượng dịch vụ đồng bộ trên toàn hệ thống.</a:t>
              </a:r>
              <a:endParaRPr b="0" i="0" sz="700" u="none" cap="none" strike="noStrike">
                <a:solidFill>
                  <a:schemeClr val="lt1"/>
                </a:solidFill>
                <a:latin typeface="Montserrat"/>
                <a:ea typeface="Montserrat"/>
                <a:cs typeface="Montserrat"/>
                <a:sym typeface="Montserrat"/>
              </a:endParaRPr>
            </a:p>
            <a:p>
              <a:pPr indent="0" lvl="0" marL="0" marR="0" rtl="0" algn="ctr">
                <a:lnSpc>
                  <a:spcPct val="140018"/>
                </a:lnSpc>
                <a:spcBef>
                  <a:spcPts val="0"/>
                </a:spcBef>
                <a:spcAft>
                  <a:spcPts val="0"/>
                </a:spcAft>
                <a:buClr>
                  <a:srgbClr val="000000"/>
                </a:buClr>
                <a:buSzPts val="1100"/>
                <a:buFont typeface="Arial"/>
                <a:buNone/>
              </a:pPr>
              <a:r>
                <a:t/>
              </a:r>
              <a:endParaRPr b="1" i="0" sz="1100" u="none" cap="none" strike="noStrike">
                <a:solidFill>
                  <a:srgbClr val="000000"/>
                </a:solidFill>
                <a:latin typeface="Rajdhani"/>
                <a:ea typeface="Rajdhani"/>
                <a:cs typeface="Rajdhani"/>
                <a:sym typeface="Rajdhani"/>
              </a:endParaRPr>
            </a:p>
          </p:txBody>
        </p:sp>
      </p:grpSp>
      <p:grpSp>
        <p:nvGrpSpPr>
          <p:cNvPr id="204" name="Google Shape;204;p43"/>
          <p:cNvGrpSpPr/>
          <p:nvPr/>
        </p:nvGrpSpPr>
        <p:grpSpPr>
          <a:xfrm>
            <a:off x="729950" y="2619875"/>
            <a:ext cx="3893804" cy="1522277"/>
            <a:chOff x="-3526" y="-2523"/>
            <a:chExt cx="5994156" cy="4353095"/>
          </a:xfrm>
        </p:grpSpPr>
        <p:sp>
          <p:nvSpPr>
            <p:cNvPr id="205" name="Google Shape;205;p43"/>
            <p:cNvSpPr/>
            <p:nvPr/>
          </p:nvSpPr>
          <p:spPr>
            <a:xfrm>
              <a:off x="145157" y="144329"/>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rgbClr val="F2652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43"/>
            <p:cNvSpPr/>
            <p:nvPr/>
          </p:nvSpPr>
          <p:spPr>
            <a:xfrm>
              <a:off x="-3526" y="-2523"/>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chemeClr val="accent1"/>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3"/>
            <p:cNvSpPr txBox="1"/>
            <p:nvPr/>
          </p:nvSpPr>
          <p:spPr>
            <a:xfrm>
              <a:off x="41964" y="760109"/>
              <a:ext cx="5799900" cy="748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1700"/>
                <a:buFont typeface="Arial"/>
                <a:buNone/>
              </a:pPr>
              <a:r>
                <a:rPr b="1" i="0" lang="en-GB" sz="1700" u="none" cap="none" strike="noStrike">
                  <a:solidFill>
                    <a:schemeClr val="lt1"/>
                  </a:solidFill>
                  <a:latin typeface="Montserrat"/>
                  <a:ea typeface="Montserrat"/>
                  <a:cs typeface="Montserrat"/>
                  <a:sym typeface="Montserrat"/>
                </a:rPr>
                <a:t>Tạo ra môi trường cạnh tranh</a:t>
              </a:r>
              <a:endParaRPr b="0" i="0" sz="700" u="none" cap="none" strike="noStrike">
                <a:solidFill>
                  <a:schemeClr val="lt1"/>
                </a:solidFill>
                <a:latin typeface="Montserrat"/>
                <a:ea typeface="Montserrat"/>
                <a:cs typeface="Montserrat"/>
                <a:sym typeface="Montserrat"/>
              </a:endParaRPr>
            </a:p>
          </p:txBody>
        </p:sp>
        <p:sp>
          <p:nvSpPr>
            <p:cNvPr id="208" name="Google Shape;208;p43"/>
            <p:cNvSpPr txBox="1"/>
            <p:nvPr/>
          </p:nvSpPr>
          <p:spPr>
            <a:xfrm>
              <a:off x="41963" y="1584908"/>
              <a:ext cx="5660100" cy="25179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1100"/>
                <a:buFont typeface="Arial"/>
                <a:buNone/>
              </a:pPr>
              <a:r>
                <a:rPr b="0" i="0" lang="en-GB" sz="1100" u="none" cap="none" strike="noStrike">
                  <a:solidFill>
                    <a:schemeClr val="lt1"/>
                  </a:solidFill>
                  <a:latin typeface="Montserrat"/>
                  <a:ea typeface="Montserrat"/>
                  <a:cs typeface="Montserrat"/>
                  <a:sym typeface="Montserrat"/>
                </a:rPr>
                <a:t>Thúc đẩy cạnh tranh tích cực giữa các bưu cục nhằm nâng cao chất lượng dịch vụ; góp phần xây dựng hình ảnh công ty</a:t>
              </a:r>
              <a:endParaRPr b="0" i="0" sz="700" u="none" cap="none" strike="noStrike">
                <a:solidFill>
                  <a:schemeClr val="lt1"/>
                </a:solidFill>
                <a:latin typeface="Montserrat"/>
                <a:ea typeface="Montserrat"/>
                <a:cs typeface="Montserrat"/>
                <a:sym typeface="Montserrat"/>
              </a:endParaRPr>
            </a:p>
            <a:p>
              <a:pPr indent="0" lvl="0" marL="0" marR="0" rtl="0" algn="ctr">
                <a:lnSpc>
                  <a:spcPct val="140018"/>
                </a:lnSpc>
                <a:spcBef>
                  <a:spcPts val="0"/>
                </a:spcBef>
                <a:spcAft>
                  <a:spcPts val="0"/>
                </a:spcAft>
                <a:buClr>
                  <a:srgbClr val="000000"/>
                </a:buClr>
                <a:buSzPts val="1100"/>
                <a:buFont typeface="Arial"/>
                <a:buNone/>
              </a:pPr>
              <a:r>
                <a:t/>
              </a:r>
              <a:endParaRPr b="1" i="0" sz="1100" u="none" cap="none" strike="noStrike">
                <a:solidFill>
                  <a:srgbClr val="000000"/>
                </a:solidFill>
                <a:latin typeface="Rajdhani"/>
                <a:ea typeface="Rajdhani"/>
                <a:cs typeface="Rajdhani"/>
                <a:sym typeface="Rajdhani"/>
              </a:endParaRPr>
            </a:p>
          </p:txBody>
        </p:sp>
      </p:grpSp>
      <p:grpSp>
        <p:nvGrpSpPr>
          <p:cNvPr id="209" name="Google Shape;209;p43"/>
          <p:cNvGrpSpPr/>
          <p:nvPr/>
        </p:nvGrpSpPr>
        <p:grpSpPr>
          <a:xfrm>
            <a:off x="4778750" y="2619875"/>
            <a:ext cx="3893804" cy="1522277"/>
            <a:chOff x="-3526" y="-2523"/>
            <a:chExt cx="5994156" cy="4353095"/>
          </a:xfrm>
        </p:grpSpPr>
        <p:sp>
          <p:nvSpPr>
            <p:cNvPr id="210" name="Google Shape;210;p43"/>
            <p:cNvSpPr/>
            <p:nvPr/>
          </p:nvSpPr>
          <p:spPr>
            <a:xfrm>
              <a:off x="145157" y="144329"/>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rgbClr val="F2652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3"/>
            <p:cNvSpPr/>
            <p:nvPr/>
          </p:nvSpPr>
          <p:spPr>
            <a:xfrm>
              <a:off x="-3526" y="-2523"/>
              <a:ext cx="5845473" cy="4206243"/>
            </a:xfrm>
            <a:custGeom>
              <a:rect b="b" l="l" r="r" t="t"/>
              <a:pathLst>
                <a:path extrusionOk="0" h="10854821" w="15085091">
                  <a:moveTo>
                    <a:pt x="63030" y="10261268"/>
                  </a:moveTo>
                  <a:cubicBezTo>
                    <a:pt x="63030" y="10261268"/>
                    <a:pt x="0" y="10014704"/>
                    <a:pt x="10218" y="1214762"/>
                  </a:cubicBezTo>
                  <a:cubicBezTo>
                    <a:pt x="18651" y="990971"/>
                    <a:pt x="65033" y="645332"/>
                    <a:pt x="65033" y="645332"/>
                  </a:cubicBezTo>
                  <a:cubicBezTo>
                    <a:pt x="82233" y="502466"/>
                    <a:pt x="56685" y="337866"/>
                    <a:pt x="181385" y="223925"/>
                  </a:cubicBezTo>
                  <a:cubicBezTo>
                    <a:pt x="346794" y="72788"/>
                    <a:pt x="621643" y="0"/>
                    <a:pt x="14192018" y="6965"/>
                  </a:cubicBezTo>
                  <a:lnTo>
                    <a:pt x="14192018" y="6965"/>
                  </a:lnTo>
                  <a:cubicBezTo>
                    <a:pt x="14408766" y="16819"/>
                    <a:pt x="14613081" y="36481"/>
                    <a:pt x="14747270" y="101690"/>
                  </a:cubicBezTo>
                  <a:cubicBezTo>
                    <a:pt x="15003316" y="226120"/>
                    <a:pt x="15085091" y="459160"/>
                    <a:pt x="15079603" y="704684"/>
                  </a:cubicBezTo>
                  <a:cubicBezTo>
                    <a:pt x="15079603" y="704684"/>
                    <a:pt x="15036316" y="1013073"/>
                    <a:pt x="15043748" y="1248607"/>
                  </a:cubicBezTo>
                  <a:cubicBezTo>
                    <a:pt x="15050871" y="10003069"/>
                    <a:pt x="15058029" y="10198671"/>
                    <a:pt x="15058029" y="10198671"/>
                  </a:cubicBezTo>
                  <a:cubicBezTo>
                    <a:pt x="15041346" y="10414404"/>
                    <a:pt x="14926702" y="10625016"/>
                    <a:pt x="14729834" y="10736640"/>
                  </a:cubicBezTo>
                  <a:cubicBezTo>
                    <a:pt x="14579482" y="10821888"/>
                    <a:pt x="14381452" y="10836987"/>
                    <a:pt x="11441337" y="10826245"/>
                  </a:cubicBezTo>
                  <a:lnTo>
                    <a:pt x="11441166" y="10826245"/>
                  </a:lnTo>
                  <a:cubicBezTo>
                    <a:pt x="645952" y="10820968"/>
                    <a:pt x="384604" y="10854821"/>
                    <a:pt x="254278" y="10745664"/>
                  </a:cubicBezTo>
                  <a:cubicBezTo>
                    <a:pt x="145767" y="10654778"/>
                    <a:pt x="81795" y="10461466"/>
                    <a:pt x="63030" y="10261268"/>
                  </a:cubicBezTo>
                  <a:close/>
                </a:path>
              </a:pathLst>
            </a:custGeom>
            <a:solidFill>
              <a:schemeClr val="accent1"/>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3"/>
            <p:cNvSpPr txBox="1"/>
            <p:nvPr/>
          </p:nvSpPr>
          <p:spPr>
            <a:xfrm>
              <a:off x="41964" y="760109"/>
              <a:ext cx="5799900" cy="748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1700"/>
                <a:buFont typeface="Arial"/>
                <a:buNone/>
              </a:pPr>
              <a:r>
                <a:rPr b="1" i="0" lang="en-GB" sz="1700" u="none" cap="none" strike="noStrike">
                  <a:solidFill>
                    <a:schemeClr val="lt1"/>
                  </a:solidFill>
                  <a:latin typeface="Montserrat"/>
                  <a:ea typeface="Montserrat"/>
                  <a:cs typeface="Montserrat"/>
                  <a:sym typeface="Montserrat"/>
                </a:rPr>
                <a:t>Hỗ trợ tính toán thưởng, phạt</a:t>
              </a:r>
              <a:endParaRPr b="0" i="0" sz="700" u="none" cap="none" strike="noStrike">
                <a:solidFill>
                  <a:schemeClr val="lt1"/>
                </a:solidFill>
                <a:latin typeface="Montserrat"/>
                <a:ea typeface="Montserrat"/>
                <a:cs typeface="Montserrat"/>
                <a:sym typeface="Montserrat"/>
              </a:endParaRPr>
            </a:p>
          </p:txBody>
        </p:sp>
        <p:sp>
          <p:nvSpPr>
            <p:cNvPr id="213" name="Google Shape;213;p43"/>
            <p:cNvSpPr txBox="1"/>
            <p:nvPr/>
          </p:nvSpPr>
          <p:spPr>
            <a:xfrm>
              <a:off x="41963" y="1584909"/>
              <a:ext cx="5799900" cy="18399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1100"/>
                <a:buFont typeface="Arial"/>
                <a:buNone/>
              </a:pPr>
              <a:r>
                <a:rPr b="0" i="0" lang="en-GB" sz="1100" u="none" cap="none" strike="noStrike">
                  <a:solidFill>
                    <a:schemeClr val="lt1"/>
                  </a:solidFill>
                  <a:latin typeface="Montserrat"/>
                  <a:ea typeface="Montserrat"/>
                  <a:cs typeface="Montserrat"/>
                  <a:sym typeface="Montserrat"/>
                </a:rPr>
                <a:t>Làm căn cứ để tính toán thưởng, phạt dựa trên kết quả đánh giá thực tế.</a:t>
              </a:r>
              <a:endParaRPr b="0" i="0" sz="700" u="none" cap="none" strike="noStrike">
                <a:solidFill>
                  <a:schemeClr val="lt1"/>
                </a:solidFill>
                <a:latin typeface="Montserrat"/>
                <a:ea typeface="Montserrat"/>
                <a:cs typeface="Montserrat"/>
                <a:sym typeface="Montserrat"/>
              </a:endParaRPr>
            </a:p>
            <a:p>
              <a:pPr indent="0" lvl="0" marL="0" marR="0" rtl="0" algn="ctr">
                <a:lnSpc>
                  <a:spcPct val="140018"/>
                </a:lnSpc>
                <a:spcBef>
                  <a:spcPts val="0"/>
                </a:spcBef>
                <a:spcAft>
                  <a:spcPts val="0"/>
                </a:spcAft>
                <a:buClr>
                  <a:srgbClr val="000000"/>
                </a:buClr>
                <a:buSzPts val="1100"/>
                <a:buFont typeface="Arial"/>
                <a:buNone/>
              </a:pPr>
              <a:r>
                <a:t/>
              </a:r>
              <a:endParaRPr b="1" i="0" sz="1100" u="none" cap="none" strike="noStrike">
                <a:solidFill>
                  <a:srgbClr val="000000"/>
                </a:solidFill>
                <a:latin typeface="Rajdhani"/>
                <a:ea typeface="Rajdhani"/>
                <a:cs typeface="Rajdhani"/>
                <a:sym typeface="Rajdhan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4"/>
          <p:cNvSpPr txBox="1"/>
          <p:nvPr>
            <p:ph type="title"/>
          </p:nvPr>
        </p:nvSpPr>
        <p:spPr>
          <a:xfrm>
            <a:off x="108775" y="188375"/>
            <a:ext cx="664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B.  SƠ ĐỒ QUY TRÌNH CHẤM ĐIỂM TRÊN HRWS</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
        <p:nvSpPr>
          <p:cNvPr id="219" name="Google Shape;219;p44"/>
          <p:cNvSpPr/>
          <p:nvPr/>
        </p:nvSpPr>
        <p:spPr>
          <a:xfrm>
            <a:off x="140950" y="889616"/>
            <a:ext cx="1605600" cy="446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Thực hiện chấm điểm trên từng tiêu chí</a:t>
            </a:r>
            <a:endParaRPr b="1" i="0" sz="900" u="none" cap="none" strike="noStrike">
              <a:solidFill>
                <a:schemeClr val="lt1"/>
              </a:solidFill>
              <a:latin typeface="Montserrat"/>
              <a:ea typeface="Montserrat"/>
              <a:cs typeface="Montserrat"/>
              <a:sym typeface="Montserrat"/>
            </a:endParaRPr>
          </a:p>
        </p:txBody>
      </p:sp>
      <p:sp>
        <p:nvSpPr>
          <p:cNvPr id="220" name="Google Shape;220;p44"/>
          <p:cNvSpPr/>
          <p:nvPr/>
        </p:nvSpPr>
        <p:spPr>
          <a:xfrm>
            <a:off x="2159973" y="761075"/>
            <a:ext cx="1405800" cy="7032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Trường hợp tiêu chí</a:t>
            </a:r>
            <a:endParaRPr b="1" i="0" sz="900" u="none" cap="none" strike="noStrike">
              <a:solidFill>
                <a:schemeClr val="lt1"/>
              </a:solidFill>
              <a:latin typeface="Montserrat"/>
              <a:ea typeface="Montserrat"/>
              <a:cs typeface="Montserrat"/>
              <a:sym typeface="Montserrat"/>
            </a:endParaRPr>
          </a:p>
        </p:txBody>
      </p:sp>
      <p:sp>
        <p:nvSpPr>
          <p:cNvPr id="221" name="Google Shape;221;p44"/>
          <p:cNvSpPr/>
          <p:nvPr/>
        </p:nvSpPr>
        <p:spPr>
          <a:xfrm>
            <a:off x="4483178" y="889616"/>
            <a:ext cx="1605600" cy="446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Chấm đạt cho tiêu chí</a:t>
            </a:r>
            <a:endParaRPr b="1" i="0" sz="900" u="none" cap="none" strike="noStrike">
              <a:solidFill>
                <a:schemeClr val="lt1"/>
              </a:solidFill>
              <a:latin typeface="Montserrat"/>
              <a:ea typeface="Montserrat"/>
              <a:cs typeface="Montserrat"/>
              <a:sym typeface="Montserrat"/>
            </a:endParaRPr>
          </a:p>
        </p:txBody>
      </p:sp>
      <p:sp>
        <p:nvSpPr>
          <p:cNvPr id="222" name="Google Shape;222;p44"/>
          <p:cNvSpPr/>
          <p:nvPr/>
        </p:nvSpPr>
        <p:spPr>
          <a:xfrm>
            <a:off x="1985613" y="2225365"/>
            <a:ext cx="1754400" cy="446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Chấm không đạt và đính kèm bằng chứng</a:t>
            </a:r>
            <a:endParaRPr b="1" i="0" sz="900" u="none" cap="none" strike="noStrike">
              <a:solidFill>
                <a:schemeClr val="lt1"/>
              </a:solidFill>
              <a:latin typeface="Montserrat"/>
              <a:ea typeface="Montserrat"/>
              <a:cs typeface="Montserrat"/>
              <a:sym typeface="Montserrat"/>
            </a:endParaRPr>
          </a:p>
        </p:txBody>
      </p:sp>
      <p:sp>
        <p:nvSpPr>
          <p:cNvPr id="223" name="Google Shape;223;p44"/>
          <p:cNvSpPr/>
          <p:nvPr/>
        </p:nvSpPr>
        <p:spPr>
          <a:xfrm>
            <a:off x="4483178" y="2225365"/>
            <a:ext cx="1605600" cy="446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Hoàn tất phiếu chấm</a:t>
            </a:r>
            <a:endParaRPr b="1" i="0" sz="900" u="none" cap="none" strike="noStrike">
              <a:solidFill>
                <a:schemeClr val="lt1"/>
              </a:solidFill>
              <a:latin typeface="Montserrat"/>
              <a:ea typeface="Montserrat"/>
              <a:cs typeface="Montserrat"/>
              <a:sym typeface="Montserrat"/>
            </a:endParaRPr>
          </a:p>
        </p:txBody>
      </p:sp>
      <p:sp>
        <p:nvSpPr>
          <p:cNvPr id="224" name="Google Shape;224;p44"/>
          <p:cNvSpPr/>
          <p:nvPr/>
        </p:nvSpPr>
        <p:spPr>
          <a:xfrm>
            <a:off x="4485418" y="3281234"/>
            <a:ext cx="1605600" cy="446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Hệ thống phát sinh phiếu không đạt</a:t>
            </a:r>
            <a:endParaRPr b="1" i="0" sz="900" u="none" cap="none" strike="noStrike">
              <a:solidFill>
                <a:schemeClr val="lt1"/>
              </a:solidFill>
              <a:latin typeface="Montserrat"/>
              <a:ea typeface="Montserrat"/>
              <a:cs typeface="Montserrat"/>
              <a:sym typeface="Montserrat"/>
            </a:endParaRPr>
          </a:p>
        </p:txBody>
      </p:sp>
      <p:sp>
        <p:nvSpPr>
          <p:cNvPr id="225" name="Google Shape;225;p44"/>
          <p:cNvSpPr/>
          <p:nvPr/>
        </p:nvSpPr>
        <p:spPr>
          <a:xfrm>
            <a:off x="4485418" y="4337102"/>
            <a:ext cx="1605600" cy="446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Nhận thông báo, xử lý và cung cấp bằng chứng</a:t>
            </a:r>
            <a:endParaRPr b="1" i="0" sz="900" u="none" cap="none" strike="noStrike">
              <a:solidFill>
                <a:schemeClr val="lt1"/>
              </a:solidFill>
              <a:latin typeface="Montserrat"/>
              <a:ea typeface="Montserrat"/>
              <a:cs typeface="Montserrat"/>
              <a:sym typeface="Montserrat"/>
            </a:endParaRPr>
          </a:p>
        </p:txBody>
      </p:sp>
      <p:sp>
        <p:nvSpPr>
          <p:cNvPr id="226" name="Google Shape;226;p44"/>
          <p:cNvSpPr/>
          <p:nvPr/>
        </p:nvSpPr>
        <p:spPr>
          <a:xfrm>
            <a:off x="7362067" y="3152693"/>
            <a:ext cx="1644300" cy="7032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Trường hợp bằng chứng</a:t>
            </a:r>
            <a:endParaRPr b="1" i="0" sz="900" u="none" cap="none" strike="noStrike">
              <a:solidFill>
                <a:schemeClr val="lt1"/>
              </a:solidFill>
              <a:latin typeface="Montserrat"/>
              <a:ea typeface="Montserrat"/>
              <a:cs typeface="Montserrat"/>
              <a:sym typeface="Montserrat"/>
            </a:endParaRPr>
          </a:p>
        </p:txBody>
      </p:sp>
      <p:sp>
        <p:nvSpPr>
          <p:cNvPr id="227" name="Google Shape;227;p44"/>
          <p:cNvSpPr/>
          <p:nvPr/>
        </p:nvSpPr>
        <p:spPr>
          <a:xfrm>
            <a:off x="7664237" y="2202713"/>
            <a:ext cx="1022100" cy="491700"/>
          </a:xfrm>
          <a:prstGeom prst="ellipse">
            <a:avLst/>
          </a:prstGeom>
          <a:solidFill>
            <a:srgbClr val="F2652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Montserrat"/>
                <a:ea typeface="Montserrat"/>
                <a:cs typeface="Montserrat"/>
                <a:sym typeface="Montserrat"/>
              </a:rPr>
              <a:t>Hoàn Tất</a:t>
            </a:r>
            <a:endParaRPr b="1" i="0" sz="900" u="none" cap="none" strike="noStrike">
              <a:solidFill>
                <a:schemeClr val="lt1"/>
              </a:solidFill>
              <a:latin typeface="Montserrat"/>
              <a:ea typeface="Montserrat"/>
              <a:cs typeface="Montserrat"/>
              <a:sym typeface="Montserrat"/>
            </a:endParaRPr>
          </a:p>
        </p:txBody>
      </p:sp>
      <p:cxnSp>
        <p:nvCxnSpPr>
          <p:cNvPr id="228" name="Google Shape;228;p44"/>
          <p:cNvCxnSpPr>
            <a:stCxn id="219" idx="3"/>
            <a:endCxn id="220" idx="1"/>
          </p:cNvCxnSpPr>
          <p:nvPr/>
        </p:nvCxnSpPr>
        <p:spPr>
          <a:xfrm>
            <a:off x="1746550" y="1112666"/>
            <a:ext cx="413400" cy="0"/>
          </a:xfrm>
          <a:prstGeom prst="straightConnector1">
            <a:avLst/>
          </a:prstGeom>
          <a:noFill/>
          <a:ln cap="flat" cmpd="sng" w="9525">
            <a:solidFill>
              <a:schemeClr val="dk2"/>
            </a:solidFill>
            <a:prstDash val="solid"/>
            <a:round/>
            <a:headEnd len="sm" w="sm" type="none"/>
            <a:tailEnd len="med" w="med" type="triangle"/>
          </a:ln>
        </p:spPr>
      </p:cxnSp>
      <p:cxnSp>
        <p:nvCxnSpPr>
          <p:cNvPr id="229" name="Google Shape;229;p44"/>
          <p:cNvCxnSpPr>
            <a:stCxn id="220" idx="3"/>
            <a:endCxn id="221" idx="1"/>
          </p:cNvCxnSpPr>
          <p:nvPr/>
        </p:nvCxnSpPr>
        <p:spPr>
          <a:xfrm>
            <a:off x="3565773" y="1112675"/>
            <a:ext cx="917400" cy="0"/>
          </a:xfrm>
          <a:prstGeom prst="straightConnector1">
            <a:avLst/>
          </a:prstGeom>
          <a:noFill/>
          <a:ln cap="flat" cmpd="sng" w="9525">
            <a:solidFill>
              <a:schemeClr val="dk2"/>
            </a:solidFill>
            <a:prstDash val="solid"/>
            <a:round/>
            <a:headEnd len="sm" w="sm" type="none"/>
            <a:tailEnd len="med" w="med" type="triangle"/>
          </a:ln>
        </p:spPr>
      </p:cxnSp>
      <p:cxnSp>
        <p:nvCxnSpPr>
          <p:cNvPr id="230" name="Google Shape;230;p44"/>
          <p:cNvCxnSpPr>
            <a:stCxn id="220" idx="2"/>
            <a:endCxn id="222" idx="0"/>
          </p:cNvCxnSpPr>
          <p:nvPr/>
        </p:nvCxnSpPr>
        <p:spPr>
          <a:xfrm>
            <a:off x="2862873" y="1464275"/>
            <a:ext cx="0" cy="761100"/>
          </a:xfrm>
          <a:prstGeom prst="straightConnector1">
            <a:avLst/>
          </a:prstGeom>
          <a:noFill/>
          <a:ln cap="flat" cmpd="sng" w="9525">
            <a:solidFill>
              <a:schemeClr val="dk2"/>
            </a:solidFill>
            <a:prstDash val="solid"/>
            <a:round/>
            <a:headEnd len="sm" w="sm" type="none"/>
            <a:tailEnd len="med" w="med" type="triangle"/>
          </a:ln>
        </p:spPr>
      </p:cxnSp>
      <p:cxnSp>
        <p:nvCxnSpPr>
          <p:cNvPr id="231" name="Google Shape;231;p44"/>
          <p:cNvCxnSpPr>
            <a:endCxn id="223" idx="0"/>
          </p:cNvCxnSpPr>
          <p:nvPr/>
        </p:nvCxnSpPr>
        <p:spPr>
          <a:xfrm flipH="1">
            <a:off x="5285978" y="1343365"/>
            <a:ext cx="4500" cy="882000"/>
          </a:xfrm>
          <a:prstGeom prst="straightConnector1">
            <a:avLst/>
          </a:prstGeom>
          <a:noFill/>
          <a:ln cap="flat" cmpd="sng" w="9525">
            <a:solidFill>
              <a:schemeClr val="dk2"/>
            </a:solidFill>
            <a:prstDash val="solid"/>
            <a:round/>
            <a:headEnd len="sm" w="sm" type="none"/>
            <a:tailEnd len="med" w="med" type="triangle"/>
          </a:ln>
        </p:spPr>
      </p:cxnSp>
      <p:cxnSp>
        <p:nvCxnSpPr>
          <p:cNvPr id="232" name="Google Shape;232;p44"/>
          <p:cNvCxnSpPr>
            <a:stCxn id="223" idx="2"/>
            <a:endCxn id="224" idx="0"/>
          </p:cNvCxnSpPr>
          <p:nvPr/>
        </p:nvCxnSpPr>
        <p:spPr>
          <a:xfrm>
            <a:off x="5285978" y="2671465"/>
            <a:ext cx="2100" cy="609900"/>
          </a:xfrm>
          <a:prstGeom prst="straightConnector1">
            <a:avLst/>
          </a:prstGeom>
          <a:noFill/>
          <a:ln cap="flat" cmpd="sng" w="9525">
            <a:solidFill>
              <a:schemeClr val="dk2"/>
            </a:solidFill>
            <a:prstDash val="solid"/>
            <a:round/>
            <a:headEnd len="sm" w="sm" type="none"/>
            <a:tailEnd len="med" w="med" type="triangle"/>
          </a:ln>
        </p:spPr>
      </p:cxnSp>
      <p:cxnSp>
        <p:nvCxnSpPr>
          <p:cNvPr id="233" name="Google Shape;233;p44"/>
          <p:cNvCxnSpPr>
            <a:stCxn id="224" idx="2"/>
            <a:endCxn id="225" idx="0"/>
          </p:cNvCxnSpPr>
          <p:nvPr/>
        </p:nvCxnSpPr>
        <p:spPr>
          <a:xfrm>
            <a:off x="5288218" y="3727334"/>
            <a:ext cx="0" cy="609900"/>
          </a:xfrm>
          <a:prstGeom prst="straightConnector1">
            <a:avLst/>
          </a:prstGeom>
          <a:noFill/>
          <a:ln cap="flat" cmpd="sng" w="9525">
            <a:solidFill>
              <a:schemeClr val="dk2"/>
            </a:solidFill>
            <a:prstDash val="solid"/>
            <a:round/>
            <a:headEnd len="sm" w="sm" type="none"/>
            <a:tailEnd len="med" w="med" type="triangle"/>
          </a:ln>
        </p:spPr>
      </p:cxnSp>
      <p:cxnSp>
        <p:nvCxnSpPr>
          <p:cNvPr id="234" name="Google Shape;234;p44"/>
          <p:cNvCxnSpPr>
            <a:stCxn id="222" idx="3"/>
            <a:endCxn id="223" idx="1"/>
          </p:cNvCxnSpPr>
          <p:nvPr/>
        </p:nvCxnSpPr>
        <p:spPr>
          <a:xfrm>
            <a:off x="3740013" y="2448415"/>
            <a:ext cx="743100" cy="0"/>
          </a:xfrm>
          <a:prstGeom prst="straightConnector1">
            <a:avLst/>
          </a:prstGeom>
          <a:noFill/>
          <a:ln cap="flat" cmpd="sng" w="9525">
            <a:solidFill>
              <a:schemeClr val="dk2"/>
            </a:solidFill>
            <a:prstDash val="solid"/>
            <a:round/>
            <a:headEnd len="sm" w="sm" type="none"/>
            <a:tailEnd len="med" w="med" type="triangle"/>
          </a:ln>
        </p:spPr>
      </p:cxnSp>
      <p:cxnSp>
        <p:nvCxnSpPr>
          <p:cNvPr id="235" name="Google Shape;235;p44"/>
          <p:cNvCxnSpPr>
            <a:endCxn id="226" idx="2"/>
          </p:cNvCxnSpPr>
          <p:nvPr/>
        </p:nvCxnSpPr>
        <p:spPr>
          <a:xfrm flipH="1" rot="10800000">
            <a:off x="6090817" y="3855893"/>
            <a:ext cx="2093400" cy="804900"/>
          </a:xfrm>
          <a:prstGeom prst="bentConnector2">
            <a:avLst/>
          </a:prstGeom>
          <a:noFill/>
          <a:ln cap="flat" cmpd="sng" w="9525">
            <a:solidFill>
              <a:schemeClr val="dk2"/>
            </a:solidFill>
            <a:prstDash val="solid"/>
            <a:round/>
            <a:headEnd len="sm" w="sm" type="none"/>
            <a:tailEnd len="sm" w="sm" type="none"/>
          </a:ln>
        </p:spPr>
      </p:cxnSp>
      <p:cxnSp>
        <p:nvCxnSpPr>
          <p:cNvPr id="236" name="Google Shape;236;p44"/>
          <p:cNvCxnSpPr>
            <a:stCxn id="226" idx="0"/>
            <a:endCxn id="227" idx="4"/>
          </p:cNvCxnSpPr>
          <p:nvPr/>
        </p:nvCxnSpPr>
        <p:spPr>
          <a:xfrm rot="10800000">
            <a:off x="8175217" y="2694293"/>
            <a:ext cx="9000" cy="458400"/>
          </a:xfrm>
          <a:prstGeom prst="straightConnector1">
            <a:avLst/>
          </a:prstGeom>
          <a:noFill/>
          <a:ln cap="flat" cmpd="sng" w="9525">
            <a:solidFill>
              <a:schemeClr val="dk2"/>
            </a:solidFill>
            <a:prstDash val="solid"/>
            <a:round/>
            <a:headEnd len="sm" w="sm" type="none"/>
            <a:tailEnd len="med" w="med" type="triangle"/>
          </a:ln>
        </p:spPr>
      </p:cxnSp>
      <p:cxnSp>
        <p:nvCxnSpPr>
          <p:cNvPr id="237" name="Google Shape;237;p44"/>
          <p:cNvCxnSpPr>
            <a:stCxn id="226" idx="1"/>
          </p:cNvCxnSpPr>
          <p:nvPr/>
        </p:nvCxnSpPr>
        <p:spPr>
          <a:xfrm flipH="1">
            <a:off x="6088867" y="3504293"/>
            <a:ext cx="1273200" cy="963900"/>
          </a:xfrm>
          <a:prstGeom prst="bentConnector3">
            <a:avLst>
              <a:gd fmla="val 50000" name="adj1"/>
            </a:avLst>
          </a:prstGeom>
          <a:noFill/>
          <a:ln cap="flat" cmpd="sng" w="9525">
            <a:solidFill>
              <a:schemeClr val="dk2"/>
            </a:solidFill>
            <a:prstDash val="solid"/>
            <a:round/>
            <a:headEnd len="sm" w="sm" type="none"/>
            <a:tailEnd len="med" w="med" type="triangle"/>
          </a:ln>
        </p:spPr>
      </p:cxnSp>
      <p:cxnSp>
        <p:nvCxnSpPr>
          <p:cNvPr id="238" name="Google Shape;238;p44"/>
          <p:cNvCxnSpPr>
            <a:stCxn id="223" idx="3"/>
            <a:endCxn id="227" idx="2"/>
          </p:cNvCxnSpPr>
          <p:nvPr/>
        </p:nvCxnSpPr>
        <p:spPr>
          <a:xfrm>
            <a:off x="6088778" y="2448415"/>
            <a:ext cx="1575600" cy="0"/>
          </a:xfrm>
          <a:prstGeom prst="straightConnector1">
            <a:avLst/>
          </a:prstGeom>
          <a:noFill/>
          <a:ln cap="flat" cmpd="sng" w="9525">
            <a:solidFill>
              <a:schemeClr val="dk2"/>
            </a:solidFill>
            <a:prstDash val="solid"/>
            <a:round/>
            <a:headEnd len="sm" w="sm" type="none"/>
            <a:tailEnd len="med" w="med" type="triangle"/>
          </a:ln>
        </p:spPr>
      </p:cxnSp>
      <p:sp>
        <p:nvSpPr>
          <p:cNvPr id="239" name="Google Shape;239;p44"/>
          <p:cNvSpPr txBox="1"/>
          <p:nvPr/>
        </p:nvSpPr>
        <p:spPr>
          <a:xfrm>
            <a:off x="3741164" y="836057"/>
            <a:ext cx="566700" cy="1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2"/>
                </a:solidFill>
                <a:latin typeface="Montserrat"/>
                <a:ea typeface="Montserrat"/>
                <a:cs typeface="Montserrat"/>
                <a:sym typeface="Montserrat"/>
              </a:rPr>
              <a:t>ĐẠT</a:t>
            </a:r>
            <a:endParaRPr b="1" i="0" sz="900" u="none" cap="none" strike="noStrike">
              <a:solidFill>
                <a:schemeClr val="dk2"/>
              </a:solidFill>
              <a:latin typeface="Montserrat"/>
              <a:ea typeface="Montserrat"/>
              <a:cs typeface="Montserrat"/>
              <a:sym typeface="Montserrat"/>
            </a:endParaRPr>
          </a:p>
        </p:txBody>
      </p:sp>
      <p:sp>
        <p:nvSpPr>
          <p:cNvPr id="240" name="Google Shape;240;p44"/>
          <p:cNvSpPr txBox="1"/>
          <p:nvPr/>
        </p:nvSpPr>
        <p:spPr>
          <a:xfrm>
            <a:off x="2298203" y="1627439"/>
            <a:ext cx="1405800" cy="1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2"/>
                </a:solidFill>
                <a:latin typeface="Montserrat"/>
                <a:ea typeface="Montserrat"/>
                <a:cs typeface="Montserrat"/>
                <a:sym typeface="Montserrat"/>
              </a:rPr>
              <a:t>KHÔNG ĐẠT</a:t>
            </a:r>
            <a:endParaRPr b="1" i="0" sz="900" u="none" cap="none" strike="noStrike">
              <a:solidFill>
                <a:schemeClr val="dk2"/>
              </a:solidFill>
              <a:latin typeface="Montserrat"/>
              <a:ea typeface="Montserrat"/>
              <a:cs typeface="Montserrat"/>
              <a:sym typeface="Montserrat"/>
            </a:endParaRPr>
          </a:p>
        </p:txBody>
      </p:sp>
      <p:sp>
        <p:nvSpPr>
          <p:cNvPr id="241" name="Google Shape;241;p44"/>
          <p:cNvSpPr txBox="1"/>
          <p:nvPr/>
        </p:nvSpPr>
        <p:spPr>
          <a:xfrm>
            <a:off x="6258480" y="3248820"/>
            <a:ext cx="1405800" cy="1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2"/>
                </a:solidFill>
                <a:latin typeface="Montserrat"/>
                <a:ea typeface="Montserrat"/>
                <a:cs typeface="Montserrat"/>
                <a:sym typeface="Montserrat"/>
              </a:rPr>
              <a:t>KHÔNG ĐẠT</a:t>
            </a:r>
            <a:endParaRPr b="1" i="0" sz="900" u="none" cap="none" strike="noStrike">
              <a:solidFill>
                <a:schemeClr val="dk2"/>
              </a:solidFill>
              <a:latin typeface="Montserrat"/>
              <a:ea typeface="Montserrat"/>
              <a:cs typeface="Montserrat"/>
              <a:sym typeface="Montserrat"/>
            </a:endParaRPr>
          </a:p>
        </p:txBody>
      </p:sp>
      <p:sp>
        <p:nvSpPr>
          <p:cNvPr id="242" name="Google Shape;242;p44"/>
          <p:cNvSpPr txBox="1"/>
          <p:nvPr/>
        </p:nvSpPr>
        <p:spPr>
          <a:xfrm>
            <a:off x="8092150" y="2760309"/>
            <a:ext cx="566700" cy="1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2"/>
                </a:solidFill>
                <a:latin typeface="Montserrat"/>
                <a:ea typeface="Montserrat"/>
                <a:cs typeface="Montserrat"/>
                <a:sym typeface="Montserrat"/>
              </a:rPr>
              <a:t>ĐẠT</a:t>
            </a:r>
            <a:endParaRPr b="1" i="0" sz="9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6" name="Shape 246"/>
        <p:cNvGrpSpPr/>
        <p:nvPr/>
      </p:nvGrpSpPr>
      <p:grpSpPr>
        <a:xfrm>
          <a:off x="0" y="0"/>
          <a:ext cx="0" cy="0"/>
          <a:chOff x="0" y="0"/>
          <a:chExt cx="0" cy="0"/>
        </a:xfrm>
      </p:grpSpPr>
      <p:sp>
        <p:nvSpPr>
          <p:cNvPr id="247" name="Google Shape;247;p45"/>
          <p:cNvSpPr txBox="1"/>
          <p:nvPr>
            <p:ph idx="1" type="body"/>
          </p:nvPr>
        </p:nvSpPr>
        <p:spPr>
          <a:xfrm>
            <a:off x="2755600" y="2173350"/>
            <a:ext cx="60516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GB" sz="3500">
                <a:solidFill>
                  <a:schemeClr val="lt1"/>
                </a:solidFill>
                <a:latin typeface="Montserrat ExtraBold"/>
                <a:ea typeface="Montserrat ExtraBold"/>
                <a:cs typeface="Montserrat ExtraBold"/>
                <a:sym typeface="Montserrat ExtraBold"/>
              </a:rPr>
              <a:t>CÁC LOẠI BÀI CHẤM</a:t>
            </a:r>
            <a:endParaRPr b="1" sz="3500">
              <a:solidFill>
                <a:schemeClr val="lt1"/>
              </a:solidFill>
              <a:latin typeface="Montserrat ExtraBold"/>
              <a:ea typeface="Montserrat ExtraBold"/>
              <a:cs typeface="Montserrat ExtraBold"/>
              <a:sym typeface="Montserrat ExtraBold"/>
            </a:endParaRPr>
          </a:p>
        </p:txBody>
      </p:sp>
      <p:sp>
        <p:nvSpPr>
          <p:cNvPr id="248" name="Google Shape;248;p45"/>
          <p:cNvSpPr txBox="1"/>
          <p:nvPr/>
        </p:nvSpPr>
        <p:spPr>
          <a:xfrm>
            <a:off x="2599475" y="3493700"/>
            <a:ext cx="5192100" cy="109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t/>
            </a:r>
            <a:endParaRPr b="0" i="0" sz="1800" u="none" cap="none" strike="noStrike">
              <a:solidFill>
                <a:srgbClr val="00467F"/>
              </a:solidFill>
              <a:latin typeface="Montserrat"/>
              <a:ea typeface="Montserrat"/>
              <a:cs typeface="Montserrat"/>
              <a:sym typeface="Montserrat"/>
            </a:endParaRPr>
          </a:p>
          <a:p>
            <a:pPr indent="-342900" lvl="0" marL="457200" marR="0" rtl="0" algn="l">
              <a:lnSpc>
                <a:spcPct val="115000"/>
              </a:lnSpc>
              <a:spcBef>
                <a:spcPts val="0"/>
              </a:spcBef>
              <a:spcAft>
                <a:spcPts val="0"/>
              </a:spcAft>
              <a:buClr>
                <a:srgbClr val="00467F"/>
              </a:buClr>
              <a:buSzPts val="1800"/>
              <a:buFont typeface="Montserrat"/>
              <a:buAutoNum type="alphaUcPeriod"/>
            </a:pPr>
            <a:r>
              <a:rPr b="0" i="0" lang="en-GB" sz="1800" u="none" cap="none" strike="noStrike">
                <a:solidFill>
                  <a:srgbClr val="00467F"/>
                </a:solidFill>
                <a:latin typeface="Montserrat"/>
                <a:ea typeface="Montserrat"/>
                <a:cs typeface="Montserrat"/>
                <a:sym typeface="Montserrat"/>
              </a:rPr>
              <a:t>BÀI CHẤM HÀNG NGÀY </a:t>
            </a:r>
            <a:endParaRPr b="0" i="0" sz="1800" u="none" cap="none" strike="noStrike">
              <a:solidFill>
                <a:srgbClr val="00467F"/>
              </a:solidFill>
              <a:latin typeface="Montserrat"/>
              <a:ea typeface="Montserrat"/>
              <a:cs typeface="Montserrat"/>
              <a:sym typeface="Montserrat"/>
            </a:endParaRPr>
          </a:p>
          <a:p>
            <a:pPr indent="-342900" lvl="0" marL="457200" marR="0" rtl="0" algn="l">
              <a:lnSpc>
                <a:spcPct val="115000"/>
              </a:lnSpc>
              <a:spcBef>
                <a:spcPts val="0"/>
              </a:spcBef>
              <a:spcAft>
                <a:spcPts val="0"/>
              </a:spcAft>
              <a:buClr>
                <a:srgbClr val="00467F"/>
              </a:buClr>
              <a:buSzPts val="1800"/>
              <a:buFont typeface="Montserrat"/>
              <a:buAutoNum type="alphaUcPeriod"/>
            </a:pPr>
            <a:r>
              <a:rPr b="0" i="0" lang="en-GB" sz="1800" u="none" cap="none" strike="noStrike">
                <a:solidFill>
                  <a:srgbClr val="00467F"/>
                </a:solidFill>
                <a:latin typeface="Montserrat"/>
                <a:ea typeface="Montserrat"/>
                <a:cs typeface="Montserrat"/>
                <a:sym typeface="Montserrat"/>
              </a:rPr>
              <a:t>BÀI CHẤM HÀNG TUẦN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cxnSp>
        <p:nvCxnSpPr>
          <p:cNvPr id="253" name="Google Shape;253;p46"/>
          <p:cNvCxnSpPr/>
          <p:nvPr/>
        </p:nvCxnSpPr>
        <p:spPr>
          <a:xfrm flipH="1" rot="-5400000">
            <a:off x="8347025" y="889350"/>
            <a:ext cx="169500" cy="600"/>
          </a:xfrm>
          <a:prstGeom prst="bentConnector3">
            <a:avLst>
              <a:gd fmla="val 54985" name="adj1"/>
            </a:avLst>
          </a:prstGeom>
          <a:noFill/>
          <a:ln cap="flat" cmpd="sng" w="19050">
            <a:solidFill>
              <a:srgbClr val="3300FF"/>
            </a:solidFill>
            <a:prstDash val="solid"/>
            <a:round/>
            <a:headEnd len="sm" w="sm" type="none"/>
            <a:tailEnd len="sm" w="sm" type="none"/>
          </a:ln>
        </p:spPr>
      </p:cxnSp>
      <p:sp>
        <p:nvSpPr>
          <p:cNvPr id="254" name="Google Shape;254;p46"/>
          <p:cNvSpPr txBox="1"/>
          <p:nvPr/>
        </p:nvSpPr>
        <p:spPr>
          <a:xfrm>
            <a:off x="208625" y="124100"/>
            <a:ext cx="6546000" cy="50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50"/>
              <a:buFont typeface="Arial"/>
              <a:buNone/>
            </a:pPr>
            <a:r>
              <a:rPr b="1" i="0" lang="en-GB" sz="2050" u="none" cap="none" strike="noStrike">
                <a:solidFill>
                  <a:srgbClr val="00467F"/>
                </a:solidFill>
                <a:latin typeface="Montserrat"/>
                <a:ea typeface="Montserrat"/>
                <a:cs typeface="Montserrat"/>
                <a:sym typeface="Montserrat"/>
              </a:rPr>
              <a:t>CÁC LOẠI BÀI CHẤM &amp; TIÊU CHÍ</a:t>
            </a:r>
            <a:endParaRPr b="1" i="0" sz="2050" u="none" cap="none" strike="noStrike">
              <a:solidFill>
                <a:srgbClr val="00467F"/>
              </a:solidFill>
              <a:latin typeface="Montserrat"/>
              <a:ea typeface="Montserrat"/>
              <a:cs typeface="Montserrat"/>
              <a:sym typeface="Montserrat"/>
            </a:endParaRPr>
          </a:p>
        </p:txBody>
      </p:sp>
      <p:graphicFrame>
        <p:nvGraphicFramePr>
          <p:cNvPr id="255" name="Google Shape;255;p46"/>
          <p:cNvGraphicFramePr/>
          <p:nvPr/>
        </p:nvGraphicFramePr>
        <p:xfrm>
          <a:off x="345938" y="540200"/>
          <a:ext cx="3000000" cy="3000000"/>
        </p:xfrm>
        <a:graphic>
          <a:graphicData uri="http://schemas.openxmlformats.org/drawingml/2006/table">
            <a:tbl>
              <a:tblPr>
                <a:noFill/>
                <a:tableStyleId>{D85CD894-7ADE-400A-BBEF-B107B9F286FF}</a:tableStyleId>
              </a:tblPr>
              <a:tblGrid>
                <a:gridCol w="1312625"/>
                <a:gridCol w="3389275"/>
                <a:gridCol w="3383625"/>
              </a:tblGrid>
              <a:tr h="456150">
                <a:tc>
                  <a:txBody>
                    <a:bodyPr/>
                    <a:lstStyle/>
                    <a:p>
                      <a:pPr indent="0" lvl="0" marL="0" marR="0" rtl="0" algn="l">
                        <a:lnSpc>
                          <a:spcPct val="115000"/>
                        </a:lnSpc>
                        <a:spcBef>
                          <a:spcPts val="0"/>
                        </a:spcBef>
                        <a:spcAft>
                          <a:spcPts val="0"/>
                        </a:spcAft>
                        <a:buClr>
                          <a:srgbClr val="000000"/>
                        </a:buClr>
                        <a:buSzPts val="900"/>
                        <a:buFont typeface="Arial"/>
                        <a:buNone/>
                      </a:pPr>
                      <a:r>
                        <a:rPr b="1" lang="en-GB" sz="900" u="none" cap="none" strike="noStrike">
                          <a:solidFill>
                            <a:schemeClr val="lt1"/>
                          </a:solidFill>
                          <a:latin typeface="Montserrat"/>
                          <a:ea typeface="Montserrat"/>
                          <a:cs typeface="Montserrat"/>
                          <a:sym typeface="Montserrat"/>
                        </a:rPr>
                        <a:t>TÊN BÀI CHẤM</a:t>
                      </a:r>
                      <a:endParaRPr b="1" sz="900" u="none" cap="none" strike="noStrike">
                        <a:solidFill>
                          <a:schemeClr val="lt1"/>
                        </a:solidFill>
                        <a:latin typeface="Montserrat"/>
                        <a:ea typeface="Montserrat"/>
                        <a:cs typeface="Montserrat"/>
                        <a:sym typeface="Montserrat"/>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26522"/>
                    </a:solidFill>
                  </a:tcPr>
                </a:tc>
                <a:tc>
                  <a:txBody>
                    <a:bodyPr/>
                    <a:lstStyle/>
                    <a:p>
                      <a:pPr indent="0" lvl="0" marL="0" marR="0" rtl="0" algn="l">
                        <a:lnSpc>
                          <a:spcPct val="100000"/>
                        </a:lnSpc>
                        <a:spcBef>
                          <a:spcPts val="0"/>
                        </a:spcBef>
                        <a:spcAft>
                          <a:spcPts val="0"/>
                        </a:spcAft>
                        <a:buClr>
                          <a:schemeClr val="dk1"/>
                        </a:buClr>
                        <a:buSzPts val="1100"/>
                        <a:buFont typeface="Arial"/>
                        <a:buNone/>
                      </a:pPr>
                      <a:r>
                        <a:rPr b="1" lang="en-GB" sz="900" u="none" cap="none" strike="noStrike">
                          <a:solidFill>
                            <a:schemeClr val="lt1"/>
                          </a:solidFill>
                          <a:latin typeface="Montserrat"/>
                          <a:ea typeface="Montserrat"/>
                          <a:cs typeface="Montserrat"/>
                          <a:sym typeface="Montserrat"/>
                        </a:rPr>
                        <a:t>[HÀNG NGÀY] BẢNG ĐÁNH GIÁ BC GHN </a:t>
                      </a:r>
                      <a:endParaRPr b="1" sz="900" u="none" cap="none" strike="noStrike">
                        <a:solidFill>
                          <a:schemeClr val="lt1"/>
                        </a:solidFill>
                        <a:latin typeface="Montserrat"/>
                        <a:ea typeface="Montserrat"/>
                        <a:cs typeface="Montserrat"/>
                        <a:sym typeface="Montserrat"/>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26522"/>
                    </a:solidFill>
                  </a:tcPr>
                </a:tc>
                <a:tc>
                  <a:txBody>
                    <a:bodyPr/>
                    <a:lstStyle/>
                    <a:p>
                      <a:pPr indent="0" lvl="0" marL="0" marR="0" rtl="0" algn="l">
                        <a:lnSpc>
                          <a:spcPct val="100000"/>
                        </a:lnSpc>
                        <a:spcBef>
                          <a:spcPts val="0"/>
                        </a:spcBef>
                        <a:spcAft>
                          <a:spcPts val="0"/>
                        </a:spcAft>
                        <a:buClr>
                          <a:schemeClr val="dk1"/>
                        </a:buClr>
                        <a:buSzPts val="1100"/>
                        <a:buFont typeface="Arial"/>
                        <a:buNone/>
                      </a:pPr>
                      <a:r>
                        <a:rPr b="1" lang="en-GB" sz="900" u="none" cap="none" strike="noStrike">
                          <a:solidFill>
                            <a:schemeClr val="lt1"/>
                          </a:solidFill>
                          <a:latin typeface="Montserrat"/>
                          <a:ea typeface="Montserrat"/>
                          <a:cs typeface="Montserrat"/>
                          <a:sym typeface="Montserrat"/>
                        </a:rPr>
                        <a:t>[HÀNG TUẦN] BẢNG ĐÁNH GIÁ BC GHN`</a:t>
                      </a:r>
                      <a:endParaRPr b="1" sz="900" u="none" cap="none" strike="noStrike">
                        <a:solidFill>
                          <a:schemeClr val="lt1"/>
                        </a:solidFill>
                        <a:latin typeface="Montserrat"/>
                        <a:ea typeface="Montserrat"/>
                        <a:cs typeface="Montserrat"/>
                        <a:sym typeface="Montserrat"/>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26522"/>
                    </a:solidFill>
                  </a:tcPr>
                </a:tc>
              </a:tr>
              <a:tr h="456150">
                <a:tc>
                  <a:txBody>
                    <a:bodyPr/>
                    <a:lstStyle/>
                    <a:p>
                      <a:pPr indent="0" lvl="0" marL="0" marR="0" rtl="0" algn="l">
                        <a:lnSpc>
                          <a:spcPct val="115000"/>
                        </a:lnSpc>
                        <a:spcBef>
                          <a:spcPts val="0"/>
                        </a:spcBef>
                        <a:spcAft>
                          <a:spcPts val="0"/>
                        </a:spcAft>
                        <a:buClr>
                          <a:srgbClr val="000000"/>
                        </a:buClr>
                        <a:buSzPts val="900"/>
                        <a:buFont typeface="Arial"/>
                        <a:buNone/>
                      </a:pPr>
                      <a:r>
                        <a:rPr b="1" lang="en-GB" sz="900" u="none" cap="none" strike="noStrike">
                          <a:solidFill>
                            <a:srgbClr val="2980B9"/>
                          </a:solidFill>
                          <a:latin typeface="Montserrat"/>
                          <a:ea typeface="Montserrat"/>
                          <a:cs typeface="Montserrat"/>
                          <a:sym typeface="Montserrat"/>
                        </a:rPr>
                        <a:t>THỜI GIAN CHẤM</a:t>
                      </a:r>
                      <a:endParaRPr b="1" sz="900" u="none" cap="none" strike="noStrike">
                        <a:solidFill>
                          <a:schemeClr val="accent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b="1" lang="en-GB" sz="900" u="none" cap="none" strike="noStrike">
                          <a:solidFill>
                            <a:srgbClr val="2980B9"/>
                          </a:solidFill>
                          <a:latin typeface="Montserrat"/>
                          <a:ea typeface="Montserrat"/>
                          <a:cs typeface="Montserrat"/>
                          <a:sym typeface="Montserrat"/>
                        </a:rPr>
                        <a:t>18h00 - 22h00: Thứ 2 - Thứ 6</a:t>
                      </a:r>
                      <a:endParaRPr b="1" sz="900" u="none" cap="none" strike="noStrike">
                        <a:solidFill>
                          <a:schemeClr val="accent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b="1" lang="en-GB" sz="900" u="none" cap="none" strike="noStrike">
                          <a:solidFill>
                            <a:srgbClr val="2980B9"/>
                          </a:solidFill>
                          <a:latin typeface="Montserrat"/>
                          <a:ea typeface="Montserrat"/>
                          <a:cs typeface="Montserrat"/>
                          <a:sym typeface="Montserrat"/>
                        </a:rPr>
                        <a:t>18h00 - 22h00: Thứ 7</a:t>
                      </a:r>
                      <a:endParaRPr b="1" sz="900" u="none" cap="none" strike="noStrike">
                        <a:solidFill>
                          <a:schemeClr val="accent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r>
              <a:tr h="456150">
                <a:tc>
                  <a:txBody>
                    <a:bodyPr/>
                    <a:lstStyle/>
                    <a:p>
                      <a:pPr indent="0" lvl="0" marL="0" marR="0" rtl="0" algn="l">
                        <a:lnSpc>
                          <a:spcPct val="115000"/>
                        </a:lnSpc>
                        <a:spcBef>
                          <a:spcPts val="0"/>
                        </a:spcBef>
                        <a:spcAft>
                          <a:spcPts val="0"/>
                        </a:spcAft>
                        <a:buClr>
                          <a:srgbClr val="000000"/>
                        </a:buClr>
                        <a:buSzPts val="900"/>
                        <a:buFont typeface="Arial"/>
                        <a:buNone/>
                      </a:pPr>
                      <a:r>
                        <a:rPr b="1" lang="en-GB" sz="900">
                          <a:solidFill>
                            <a:srgbClr val="2980B9"/>
                          </a:solidFill>
                          <a:latin typeface="Montserrat"/>
                          <a:ea typeface="Montserrat"/>
                          <a:cs typeface="Montserrat"/>
                          <a:sym typeface="Montserrat"/>
                        </a:rPr>
                        <a:t>ĐỐI</a:t>
                      </a:r>
                      <a:r>
                        <a:rPr b="1" lang="en-GB" sz="900" u="none" cap="none" strike="noStrike">
                          <a:solidFill>
                            <a:srgbClr val="2980B9"/>
                          </a:solidFill>
                          <a:latin typeface="Montserrat"/>
                          <a:ea typeface="Montserrat"/>
                          <a:cs typeface="Montserrat"/>
                          <a:sym typeface="Montserrat"/>
                        </a:rPr>
                        <a:t> TƯỢNG</a:t>
                      </a:r>
                      <a:endParaRPr b="1" sz="900" u="none" cap="none" strike="noStrike">
                        <a:solidFill>
                          <a:srgbClr val="2980B9"/>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solidFill>
                            <a:srgbClr val="2980B9"/>
                          </a:solidFill>
                          <a:latin typeface="Montserrat"/>
                          <a:ea typeface="Montserrat"/>
                          <a:cs typeface="Montserrat"/>
                          <a:sym typeface="Montserrat"/>
                        </a:rPr>
                        <a:t>AAM/AM/TBC/NVXL</a:t>
                      </a:r>
                      <a:endParaRPr b="1" sz="900" u="none" cap="none" strike="noStrike">
                        <a:solidFill>
                          <a:srgbClr val="2980B9"/>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solidFill>
                            <a:srgbClr val="2980B9"/>
                          </a:solidFill>
                          <a:latin typeface="Montserrat"/>
                          <a:ea typeface="Montserrat"/>
                          <a:cs typeface="Montserrat"/>
                          <a:sym typeface="Montserrat"/>
                        </a:rPr>
                        <a:t>AAM/AM/TBC/NVXL</a:t>
                      </a:r>
                      <a:endParaRPr b="1" sz="900" u="none" cap="none" strike="noStrike">
                        <a:solidFill>
                          <a:srgbClr val="2980B9"/>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r>
              <a:tr h="2898700">
                <a:tc>
                  <a:txBody>
                    <a:bodyPr/>
                    <a:lstStyle/>
                    <a:p>
                      <a:pPr indent="0" lvl="0" marL="0" marR="0" rtl="0" algn="l">
                        <a:lnSpc>
                          <a:spcPct val="115000"/>
                        </a:lnSpc>
                        <a:spcBef>
                          <a:spcPts val="0"/>
                        </a:spcBef>
                        <a:spcAft>
                          <a:spcPts val="0"/>
                        </a:spcAft>
                        <a:buClr>
                          <a:schemeClr val="dk1"/>
                        </a:buClr>
                        <a:buSzPts val="1100"/>
                        <a:buFont typeface="Arial"/>
                        <a:buNone/>
                      </a:pPr>
                      <a:r>
                        <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rPr b="1" lang="en-GB" sz="900" u="none" cap="none" strike="noStrike">
                          <a:solidFill>
                            <a:srgbClr val="2980B9"/>
                          </a:solidFill>
                          <a:latin typeface="Montserrat"/>
                          <a:ea typeface="Montserrat"/>
                          <a:cs typeface="Montserrat"/>
                          <a:sym typeface="Montserrat"/>
                        </a:rPr>
                        <a:t>TIÊU CHÍ</a:t>
                      </a:r>
                      <a:endParaRPr b="1" sz="900" u="none" cap="none" strike="noStrike">
                        <a:solidFill>
                          <a:srgbClr val="2980B9"/>
                        </a:solidFill>
                        <a:latin typeface="Montserrat"/>
                        <a:ea typeface="Montserrat"/>
                        <a:cs typeface="Montserrat"/>
                        <a:sym typeface="Montserrat"/>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chemeClr val="hlink"/>
                          </a:solidFill>
                          <a:uFill>
                            <a:noFill/>
                          </a:uFill>
                          <a:latin typeface="Montserrat"/>
                          <a:ea typeface="Montserrat"/>
                          <a:cs typeface="Montserrat"/>
                          <a:sym typeface="Montserrat"/>
                          <a:hlinkClick action="ppaction://hlinksldjump" r:id="rId3"/>
                        </a:rPr>
                        <a:t>1. KHU VỰC MẶT TIỀN BƯU CỤC</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chemeClr val="hlink"/>
                          </a:solidFill>
                          <a:uFill>
                            <a:noFill/>
                          </a:uFill>
                          <a:latin typeface="Montserrat"/>
                          <a:ea typeface="Montserrat"/>
                          <a:cs typeface="Montserrat"/>
                          <a:sym typeface="Montserrat"/>
                          <a:hlinkClick action="ppaction://hlinksldjump" r:id="rId4"/>
                        </a:rPr>
                        <a:t>2 .TOÀN CẢNH LAYOUT KHU VỰC  NVXL</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chemeClr val="hlink"/>
                          </a:solidFill>
                          <a:uFill>
                            <a:noFill/>
                          </a:uFill>
                          <a:latin typeface="Montserrat"/>
                          <a:ea typeface="Montserrat"/>
                          <a:cs typeface="Montserrat"/>
                          <a:sym typeface="Montserrat"/>
                          <a:hlinkClick action="ppaction://hlinksldjump" r:id="rId5"/>
                        </a:rPr>
                        <a:t>3. TOÀN CẢNH LAYOUT KHU VỰC NVPTTT</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chemeClr val="hlink"/>
                          </a:solidFill>
                          <a:uFill>
                            <a:noFill/>
                          </a:uFill>
                          <a:latin typeface="Montserrat"/>
                          <a:ea typeface="Montserrat"/>
                          <a:cs typeface="Montserrat"/>
                          <a:sym typeface="Montserrat"/>
                          <a:hlinkClick action="ppaction://hlinksldjump" r:id="rId6"/>
                        </a:rPr>
                        <a:t>4.  NHÀ VỆ SINH</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chemeClr val="hlink"/>
                          </a:solidFill>
                          <a:uFill>
                            <a:noFill/>
                          </a:uFill>
                          <a:latin typeface="Montserrat"/>
                          <a:ea typeface="Montserrat"/>
                          <a:cs typeface="Montserrat"/>
                          <a:sym typeface="Montserrat"/>
                          <a:hlinkClick action="ppaction://hlinksldjump" r:id="rId7"/>
                        </a:rPr>
                        <a:t>5.  TÁC PHONG NHÂN VIÊN BƯU CỤC</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6. BẢNG ĐĂNG KÝ KINH DOANH</a:t>
                      </a:r>
                      <a:endParaRPr b="1" sz="800" u="none" cap="none" strike="noStrike">
                        <a:solidFill>
                          <a:srgbClr val="2980B9"/>
                        </a:solidFill>
                        <a:latin typeface="Montserrat"/>
                        <a:ea typeface="Montserrat"/>
                        <a:cs typeface="Montserrat"/>
                        <a:sym typeface="Montserrat"/>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b="1" lang="en-GB" sz="800" u="none" cap="none" strike="noStrike">
                          <a:solidFill>
                            <a:schemeClr val="hlink"/>
                          </a:solidFill>
                          <a:uFill>
                            <a:noFill/>
                          </a:uFill>
                          <a:latin typeface="Montserrat"/>
                          <a:ea typeface="Montserrat"/>
                          <a:cs typeface="Montserrat"/>
                          <a:sym typeface="Montserrat"/>
                          <a:hlinkClick action="ppaction://hlinksldjump" r:id="rId8"/>
                        </a:rPr>
                        <a:t>1. KHU VỰC MẶT TIỀN BƯU CỤC</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2. BẢNG ĐĂNG KÝ KINH DOANH</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3. CƠ SỞ VẬT CHẤT TẠI BƯU CỤC</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4. KHU VỰC CHIA TUYẾN NVPTTT</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5. NHÀ VỆ SINH</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6. THIẾT BỊ PCCC</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7. KHU VỰC CHỨA CCDC, VPP VÀ CCDC</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8. BẢNG THÔNG BÁO</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9. DÁN MẪU THÔNG BÁO LẮP CAMERA</a:t>
                      </a:r>
                      <a:endParaRPr b="1" sz="800" u="none" cap="none" strike="noStrike">
                        <a:solidFill>
                          <a:srgbClr val="2980B9"/>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1" lang="en-GB" sz="800" u="none" cap="none" strike="noStrike">
                          <a:solidFill>
                            <a:srgbClr val="2980B9"/>
                          </a:solidFill>
                          <a:latin typeface="Montserrat"/>
                          <a:ea typeface="Montserrat"/>
                          <a:cs typeface="Montserrat"/>
                          <a:sym typeface="Montserrat"/>
                        </a:rPr>
                        <a:t>10. ĐỒNG PHỤC NHÂN VIÊN </a:t>
                      </a:r>
                      <a:endParaRPr b="1" sz="800" u="none" cap="none" strike="noStrike">
                        <a:solidFill>
                          <a:srgbClr val="2980B9"/>
                        </a:solidFill>
                        <a:latin typeface="Montserrat"/>
                        <a:ea typeface="Montserrat"/>
                        <a:cs typeface="Montserrat"/>
                        <a:sym typeface="Montserrat"/>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61" name="Google Shape;261;p4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262" name="Google Shape;262;p4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pic>
        <p:nvPicPr>
          <p:cNvPr id="263" name="Google Shape;263;p47"/>
          <p:cNvPicPr preferRelativeResize="0"/>
          <p:nvPr/>
        </p:nvPicPr>
        <p:blipFill rotWithShape="1">
          <a:blip r:embed="rId3">
            <a:alphaModFix/>
          </a:blip>
          <a:srcRect b="0" l="0" r="0" t="0"/>
          <a:stretch/>
        </p:blipFill>
        <p:spPr>
          <a:xfrm>
            <a:off x="46125" y="0"/>
            <a:ext cx="9144000" cy="5143500"/>
          </a:xfrm>
          <a:prstGeom prst="rect">
            <a:avLst/>
          </a:prstGeom>
          <a:noFill/>
          <a:ln>
            <a:noFill/>
          </a:ln>
        </p:spPr>
      </p:pic>
      <p:sp>
        <p:nvSpPr>
          <p:cNvPr id="264" name="Google Shape;264;p47"/>
          <p:cNvSpPr txBox="1"/>
          <p:nvPr>
            <p:ph idx="1" type="body"/>
          </p:nvPr>
        </p:nvSpPr>
        <p:spPr>
          <a:xfrm>
            <a:off x="1833900" y="2367200"/>
            <a:ext cx="7057200" cy="7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2500">
                <a:solidFill>
                  <a:schemeClr val="lt1"/>
                </a:solidFill>
                <a:latin typeface="Montserrat ExtraBold"/>
                <a:ea typeface="Montserrat ExtraBold"/>
                <a:cs typeface="Montserrat ExtraBold"/>
                <a:sym typeface="Montserrat ExtraBold"/>
              </a:rPr>
              <a:t>BÀI CHẤM HÀNG NGÀY</a:t>
            </a:r>
            <a:endParaRPr b="1" sz="25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8"/>
          <p:cNvSpPr txBox="1"/>
          <p:nvPr/>
        </p:nvSpPr>
        <p:spPr>
          <a:xfrm>
            <a:off x="348500" y="682025"/>
            <a:ext cx="5232000" cy="37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 KHU VỰC MẶT TIỀN BƯU CỤC </a:t>
            </a:r>
            <a:endParaRPr b="1" i="0" sz="1200" u="none" cap="none" strike="noStrike">
              <a:solidFill>
                <a:srgbClr val="2980B9"/>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KV này bao gồm cả BẢNG HIỆU và KHU VỰC ĐẬU XE MÁY</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Cách chụp:</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 Đúng:</a:t>
            </a:r>
            <a:endParaRPr b="1" i="0" sz="1200" u="none" cap="none" strike="noStrike">
              <a:solidFill>
                <a:srgbClr val="000000"/>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Đảm bảo 1 hoặc nhiều hình chụp phải thấy được biển hiệu và toàn cảnh bao quát mặt tiền thông thoáng, sắp xếp gọn gàng, sạch sẽ không rác, không đồ ăn thức uống, không vật dụng cá nhân và vật dụng thừa.</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 Không đạt:</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Hình chụp không thấy được toàn cảnh mặt tiền, bao gồm biển hiệu Bưu cục.</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Hình chụp không thấy được khu vực đậu xe.</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Khu vực mặt tiền không thông thoáng, không gọn gàng, có rác thải.</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3"/>
              </a:rPr>
              <a:t>hình ảnh minh hoạ</a:t>
            </a:r>
            <a:endParaRPr b="1" i="0" sz="12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rgbClr val="212121"/>
              </a:solidFill>
              <a:highlight>
                <a:srgbClr val="FFFFFF"/>
              </a:highlight>
              <a:latin typeface="Montserrat"/>
              <a:ea typeface="Montserrat"/>
              <a:cs typeface="Montserrat"/>
              <a:sym typeface="Montserrat"/>
            </a:endParaRPr>
          </a:p>
          <a:p>
            <a:pPr indent="0" lvl="0" marL="0" marR="0" rtl="0" algn="l">
              <a:lnSpc>
                <a:spcPct val="100000"/>
              </a:lnSpc>
              <a:spcBef>
                <a:spcPts val="1000"/>
              </a:spcBef>
              <a:spcAft>
                <a:spcPts val="1000"/>
              </a:spcAft>
              <a:buClr>
                <a:srgbClr val="000000"/>
              </a:buClr>
              <a:buSzPts val="1100"/>
              <a:buFont typeface="Arial"/>
              <a:buNone/>
            </a:pPr>
            <a:r>
              <a:t/>
            </a:r>
            <a:endParaRPr b="0" i="0" sz="1100" u="none" cap="none" strike="noStrike">
              <a:solidFill>
                <a:srgbClr val="0000FF"/>
              </a:solidFill>
              <a:latin typeface="Montserrat"/>
              <a:ea typeface="Montserrat"/>
              <a:cs typeface="Montserrat"/>
              <a:sym typeface="Montserrat"/>
            </a:endParaRPr>
          </a:p>
        </p:txBody>
      </p:sp>
      <p:sp>
        <p:nvSpPr>
          <p:cNvPr id="270" name="Google Shape;270;p48"/>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A</a:t>
            </a:r>
            <a:r>
              <a:rPr b="1" i="0" lang="en-GB" sz="2050" u="none" cap="none" strike="noStrike">
                <a:solidFill>
                  <a:srgbClr val="00467F"/>
                </a:solidFill>
                <a:latin typeface="Montserrat"/>
                <a:ea typeface="Montserrat"/>
                <a:cs typeface="Montserrat"/>
                <a:sym typeface="Montserrat"/>
              </a:rPr>
              <a:t>. BÀI CHẤM HÀNG NGÀY</a:t>
            </a:r>
            <a:endParaRPr b="1" i="0" sz="2050" u="none" cap="none" strike="noStrike">
              <a:solidFill>
                <a:srgbClr val="00467F"/>
              </a:solidFill>
              <a:latin typeface="Montserrat"/>
              <a:ea typeface="Montserrat"/>
              <a:cs typeface="Montserrat"/>
              <a:sym typeface="Montserrat"/>
            </a:endParaRPr>
          </a:p>
        </p:txBody>
      </p:sp>
      <p:sp>
        <p:nvSpPr>
          <p:cNvPr id="271" name="Google Shape;271;p48"/>
          <p:cNvSpPr/>
          <p:nvPr/>
        </p:nvSpPr>
        <p:spPr>
          <a:xfrm>
            <a:off x="6953775" y="908325"/>
            <a:ext cx="367200" cy="2910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pic>
        <p:nvPicPr>
          <p:cNvPr id="272" name="Google Shape;272;p48"/>
          <p:cNvPicPr preferRelativeResize="0"/>
          <p:nvPr/>
        </p:nvPicPr>
        <p:blipFill rotWithShape="1">
          <a:blip r:embed="rId4">
            <a:alphaModFix/>
          </a:blip>
          <a:srcRect b="0" l="0" r="0" t="0"/>
          <a:stretch/>
        </p:blipFill>
        <p:spPr>
          <a:xfrm>
            <a:off x="5580500" y="857750"/>
            <a:ext cx="3355275" cy="3803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nvSpPr>
        <p:spPr>
          <a:xfrm>
            <a:off x="360350" y="623700"/>
            <a:ext cx="4971600" cy="358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2980B9"/>
                </a:solidFill>
                <a:latin typeface="Montserrat"/>
                <a:ea typeface="Montserrat"/>
                <a:cs typeface="Montserrat"/>
                <a:sym typeface="Montserrat"/>
              </a:rPr>
              <a:t>2. TOÀN CẢNH LAYOUT KHU VỰC NVXL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KV này được dùng cho việc NVXL thao tác.</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 </a:t>
            </a:r>
            <a:endParaRPr b="1"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phải bao quát, thấy được vị trí bàn làm việc của NVXL.</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Nếu 1 hình ảnh không bao quát được toàn cảnh, có thể chụp nhiều hình đính kèm vào tiêu chí.</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vận hành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không bao quát, không thấy được vị trí bàn làm việc của NVXL.</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Khu vực không gọn gàng, có rác thải.</a:t>
            </a:r>
            <a:endParaRPr b="0" i="0" sz="1100" u="none" cap="none" strike="noStrike">
              <a:solidFill>
                <a:srgbClr val="212121"/>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212121"/>
              </a:solidFill>
              <a:highlight>
                <a:srgbClr val="FFFFFF"/>
              </a:highlight>
              <a:latin typeface="Montserrat"/>
              <a:ea typeface="Montserrat"/>
              <a:cs typeface="Montserrat"/>
              <a:sym typeface="Montserrat"/>
            </a:endParaRPr>
          </a:p>
        </p:txBody>
      </p:sp>
      <p:pic>
        <p:nvPicPr>
          <p:cNvPr id="278" name="Google Shape;278;p49"/>
          <p:cNvPicPr preferRelativeResize="0"/>
          <p:nvPr/>
        </p:nvPicPr>
        <p:blipFill rotWithShape="1">
          <a:blip r:embed="rId3">
            <a:alphaModFix/>
          </a:blip>
          <a:srcRect b="0" l="0" r="0" t="0"/>
          <a:stretch/>
        </p:blipFill>
        <p:spPr>
          <a:xfrm>
            <a:off x="5642700" y="785550"/>
            <a:ext cx="3107275" cy="4127026"/>
          </a:xfrm>
          <a:prstGeom prst="rect">
            <a:avLst/>
          </a:prstGeom>
          <a:noFill/>
          <a:ln cap="flat" cmpd="sng" w="9525">
            <a:solidFill>
              <a:srgbClr val="595959"/>
            </a:solidFill>
            <a:prstDash val="solid"/>
            <a:round/>
            <a:headEnd len="sm" w="sm" type="none"/>
            <a:tailEnd len="sm" w="sm" type="none"/>
          </a:ln>
        </p:spPr>
      </p:pic>
      <p:sp>
        <p:nvSpPr>
          <p:cNvPr id="279" name="Google Shape;279;p49"/>
          <p:cNvSpPr txBox="1"/>
          <p:nvPr/>
        </p:nvSpPr>
        <p:spPr>
          <a:xfrm>
            <a:off x="360350" y="3797450"/>
            <a:ext cx="237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4"/>
              </a:rPr>
              <a:t>hình ảnh minh hoạ</a:t>
            </a:r>
            <a:endParaRPr b="1" i="0" sz="1200" u="none" cap="none" strike="noStrike">
              <a:solidFill>
                <a:srgbClr val="0097A7"/>
              </a:solidFill>
              <a:highlight>
                <a:srgbClr val="EEFF41"/>
              </a:highlight>
              <a:latin typeface="Montserrat"/>
              <a:ea typeface="Montserrat"/>
              <a:cs typeface="Montserrat"/>
              <a:sym typeface="Montserrat"/>
            </a:endParaRPr>
          </a:p>
        </p:txBody>
      </p:sp>
      <p:sp>
        <p:nvSpPr>
          <p:cNvPr id="280" name="Google Shape;280;p49"/>
          <p:cNvSpPr txBox="1"/>
          <p:nvPr/>
        </p:nvSpPr>
        <p:spPr>
          <a:xfrm>
            <a:off x="360350" y="4166750"/>
            <a:ext cx="4286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in mẫu biển định vị: </a:t>
            </a:r>
            <a:r>
              <a:rPr b="1" i="0" lang="en-GB" sz="1200" u="sng" cap="none" strike="noStrike">
                <a:solidFill>
                  <a:schemeClr val="hlink"/>
                </a:solidFill>
                <a:highlight>
                  <a:srgbClr val="FFFF00"/>
                </a:highlight>
                <a:latin typeface="Montserrat"/>
                <a:ea typeface="Montserrat"/>
                <a:cs typeface="Montserrat"/>
                <a:sym typeface="Montserrat"/>
                <a:hlinkClick r:id="rId5"/>
              </a:rPr>
              <a:t>Mẫu Biển Định Vị</a:t>
            </a:r>
            <a:endParaRPr b="1" i="0" sz="1200" u="none" cap="none" strike="noStrike">
              <a:solidFill>
                <a:srgbClr val="0097A7"/>
              </a:solidFill>
              <a:highlight>
                <a:srgbClr val="EEFF41"/>
              </a:highlight>
              <a:latin typeface="Montserrat"/>
              <a:ea typeface="Montserrat"/>
              <a:cs typeface="Montserrat"/>
              <a:sym typeface="Montserrat"/>
            </a:endParaRPr>
          </a:p>
        </p:txBody>
      </p:sp>
      <p:sp>
        <p:nvSpPr>
          <p:cNvPr id="281" name="Google Shape;281;p49"/>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A</a:t>
            </a:r>
            <a:r>
              <a:rPr b="1" i="0" lang="en-GB" sz="2050" u="none" cap="none" strike="noStrike">
                <a:solidFill>
                  <a:srgbClr val="00467F"/>
                </a:solidFill>
                <a:latin typeface="Montserrat"/>
                <a:ea typeface="Montserrat"/>
                <a:cs typeface="Montserrat"/>
                <a:sym typeface="Montserrat"/>
              </a:rPr>
              <a:t>. BÀI CHẤM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0"/>
          <p:cNvSpPr txBox="1"/>
          <p:nvPr/>
        </p:nvSpPr>
        <p:spPr>
          <a:xfrm>
            <a:off x="348725" y="649625"/>
            <a:ext cx="4408800" cy="430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2980B9"/>
                </a:solidFill>
                <a:latin typeface="Montserrat"/>
                <a:ea typeface="Montserrat"/>
                <a:cs typeface="Montserrat"/>
                <a:sym typeface="Montserrat"/>
              </a:rPr>
              <a:t>3. TOÀN CẢNH LAYOUT KHU VỰC NVPTTT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KV này được dùng cho việc NVPTTT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phải bao quát, thấy được khu vực làm việc bao gồm khu vực để rổ nhựa, sort hàng của NV PTTT.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Chụp không đủ 2 hình ảnh gồm 1 hình từ cửa BC chụp bao quát hướng vào trong, 1 hình từ cuối BC chụp bao quát hướng ra ngoài cửa chính.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không bao quát được toàn cảnh hoặc khu vực không gọn gàng, có rác thải</a:t>
            </a:r>
            <a:endParaRPr b="0" i="0" sz="1100" u="none" cap="none" strike="noStrike">
              <a:solidFill>
                <a:srgbClr val="E74C3C"/>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FF0000"/>
                </a:solidFill>
                <a:highlight>
                  <a:srgbClr val="FFFF00"/>
                </a:highlight>
                <a:latin typeface="Montserrat"/>
                <a:ea typeface="Montserrat"/>
                <a:cs typeface="Montserrat"/>
                <a:sym typeface="Montserrat"/>
              </a:rPr>
              <a:t>Link </a:t>
            </a:r>
            <a:r>
              <a:rPr b="1" i="0" lang="en-GB" sz="1100" u="sng" cap="none" strike="noStrike">
                <a:solidFill>
                  <a:schemeClr val="hlink"/>
                </a:solidFill>
                <a:highlight>
                  <a:srgbClr val="FFFF00"/>
                </a:highlight>
                <a:latin typeface="Montserrat"/>
                <a:ea typeface="Montserrat"/>
                <a:cs typeface="Montserrat"/>
                <a:sym typeface="Montserrat"/>
                <a:hlinkClick r:id="rId3"/>
              </a:rPr>
              <a:t>hình ảnh minh hoạ</a:t>
            </a:r>
            <a:endParaRPr b="1" i="0" sz="1100" u="none" cap="none" strike="noStrike">
              <a:solidFill>
                <a:schemeClr val="accent5"/>
              </a:solidFill>
              <a:highlight>
                <a:schemeClr val="accent6"/>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EEFF41"/>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287" name="Google Shape;287;p50"/>
          <p:cNvPicPr preferRelativeResize="0"/>
          <p:nvPr/>
        </p:nvPicPr>
        <p:blipFill rotWithShape="1">
          <a:blip r:embed="rId4">
            <a:alphaModFix/>
          </a:blip>
          <a:srcRect b="0" l="0" r="0" t="0"/>
          <a:stretch/>
        </p:blipFill>
        <p:spPr>
          <a:xfrm>
            <a:off x="4827226" y="1095750"/>
            <a:ext cx="1994251" cy="2636100"/>
          </a:xfrm>
          <a:prstGeom prst="rect">
            <a:avLst/>
          </a:prstGeom>
          <a:noFill/>
          <a:ln>
            <a:noFill/>
          </a:ln>
        </p:spPr>
      </p:pic>
      <p:pic>
        <p:nvPicPr>
          <p:cNvPr id="288" name="Google Shape;288;p50"/>
          <p:cNvPicPr preferRelativeResize="0"/>
          <p:nvPr/>
        </p:nvPicPr>
        <p:blipFill rotWithShape="1">
          <a:blip r:embed="rId5">
            <a:alphaModFix/>
          </a:blip>
          <a:srcRect b="0" l="0" r="0" t="0"/>
          <a:stretch/>
        </p:blipFill>
        <p:spPr>
          <a:xfrm>
            <a:off x="6880225" y="1097063"/>
            <a:ext cx="1993392" cy="2633472"/>
          </a:xfrm>
          <a:prstGeom prst="rect">
            <a:avLst/>
          </a:prstGeom>
          <a:noFill/>
          <a:ln>
            <a:noFill/>
          </a:ln>
        </p:spPr>
      </p:pic>
      <p:sp>
        <p:nvSpPr>
          <p:cNvPr id="289" name="Google Shape;289;p50"/>
          <p:cNvSpPr txBox="1"/>
          <p:nvPr/>
        </p:nvSpPr>
        <p:spPr>
          <a:xfrm>
            <a:off x="197525" y="108825"/>
            <a:ext cx="68769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A</a:t>
            </a:r>
            <a:r>
              <a:rPr b="1" i="0" lang="en-GB" sz="2050" u="none" cap="none" strike="noStrike">
                <a:solidFill>
                  <a:srgbClr val="00467F"/>
                </a:solidFill>
                <a:latin typeface="Montserrat"/>
                <a:ea typeface="Montserrat"/>
                <a:cs typeface="Montserrat"/>
                <a:sym typeface="Montserrat"/>
              </a:rPr>
              <a:t>. BÀI CHẤM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51"/>
          <p:cNvPicPr preferRelativeResize="0"/>
          <p:nvPr/>
        </p:nvPicPr>
        <p:blipFill rotWithShape="1">
          <a:blip r:embed="rId3">
            <a:alphaModFix/>
          </a:blip>
          <a:srcRect b="0" l="0" r="0" t="0"/>
          <a:stretch/>
        </p:blipFill>
        <p:spPr>
          <a:xfrm>
            <a:off x="5853875" y="757700"/>
            <a:ext cx="2538650" cy="3654299"/>
          </a:xfrm>
          <a:prstGeom prst="rect">
            <a:avLst/>
          </a:prstGeom>
          <a:noFill/>
          <a:ln>
            <a:noFill/>
          </a:ln>
        </p:spPr>
      </p:pic>
      <p:sp>
        <p:nvSpPr>
          <p:cNvPr id="295" name="Google Shape;295;p51"/>
          <p:cNvSpPr txBox="1"/>
          <p:nvPr/>
        </p:nvSpPr>
        <p:spPr>
          <a:xfrm>
            <a:off x="361675" y="602650"/>
            <a:ext cx="5207100" cy="240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2980B9"/>
                </a:solidFill>
                <a:latin typeface="Montserrat"/>
                <a:ea typeface="Montserrat"/>
                <a:cs typeface="Montserrat"/>
                <a:sym typeface="Montserrat"/>
              </a:rPr>
              <a:t>4. NHÀ VỆ SINH </a:t>
            </a:r>
            <a:endParaRPr b="1"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150"/>
              <a:buFont typeface="Arial"/>
              <a:buNone/>
            </a:pPr>
            <a:r>
              <a:rPr b="0" i="0" lang="en-GB" sz="1150" u="none" cap="none" strike="noStrike">
                <a:solidFill>
                  <a:schemeClr val="accent2"/>
                </a:solidFill>
                <a:highlight>
                  <a:srgbClr val="FFFFFF"/>
                </a:highlight>
                <a:latin typeface="Montserrat"/>
                <a:ea typeface="Montserrat"/>
                <a:cs typeface="Montserrat"/>
                <a:sym typeface="Montserrat"/>
              </a:rPr>
              <a:t>- Nhà vệ sinh cá nhân hoặc nhà vệ sinh công cộng.</a:t>
            </a:r>
            <a:endParaRPr b="0"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150"/>
              <a:buFont typeface="Arial"/>
              <a:buNone/>
            </a:pPr>
            <a:r>
              <a:rPr b="1" i="0" lang="en-GB" sz="1150" u="none" cap="none" strike="noStrike">
                <a:solidFill>
                  <a:schemeClr val="accent2"/>
                </a:solidFill>
                <a:highlight>
                  <a:srgbClr val="FFFFFF"/>
                </a:highlight>
                <a:latin typeface="Montserrat"/>
                <a:ea typeface="Montserrat"/>
                <a:cs typeface="Montserrat"/>
                <a:sym typeface="Montserrat"/>
              </a:rPr>
              <a:t>Cách chụp:</a:t>
            </a:r>
            <a:endParaRPr b="1"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150"/>
              <a:buFont typeface="Arial"/>
              <a:buNone/>
            </a:pPr>
            <a:r>
              <a:rPr b="1" i="0" lang="en-GB" sz="1150" u="none" cap="none" strike="noStrike">
                <a:solidFill>
                  <a:schemeClr val="accent2"/>
                </a:solidFill>
                <a:highlight>
                  <a:srgbClr val="FFFFFF"/>
                </a:highlight>
                <a:latin typeface="Montserrat"/>
                <a:ea typeface="Montserrat"/>
                <a:cs typeface="Montserrat"/>
                <a:sym typeface="Montserrat"/>
              </a:rPr>
              <a:t>+ Đúng:</a:t>
            </a:r>
            <a:br>
              <a:rPr b="1" i="0" lang="en-GB" sz="1150" u="none" cap="none" strike="noStrike">
                <a:solidFill>
                  <a:schemeClr val="accent2"/>
                </a:solidFill>
                <a:highlight>
                  <a:srgbClr val="FFFFFF"/>
                </a:highlight>
                <a:latin typeface="Montserrat"/>
                <a:ea typeface="Montserrat"/>
                <a:cs typeface="Montserrat"/>
                <a:sym typeface="Montserrat"/>
              </a:rPr>
            </a:br>
            <a:r>
              <a:rPr b="0" i="0" lang="en-GB" sz="1150" u="none" cap="none" strike="noStrike">
                <a:solidFill>
                  <a:schemeClr val="accent2"/>
                </a:solidFill>
                <a:highlight>
                  <a:srgbClr val="FFFFFF"/>
                </a:highlight>
                <a:latin typeface="Montserrat"/>
                <a:ea typeface="Montserrat"/>
                <a:cs typeface="Montserrat"/>
                <a:sym typeface="Montserrat"/>
              </a:rPr>
              <a:t>- Đảm bảo 1 hoặc nhiều hình chụp phải thấy được toàn bộ KV nhà vệ sinh thông thoáng, sắp xếp gọn gàng, sạch sẽ không rác.</a:t>
            </a:r>
            <a:endParaRPr b="0"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150"/>
              <a:buFont typeface="Arial"/>
              <a:buNone/>
            </a:pPr>
            <a:r>
              <a:rPr b="1" i="0" lang="en-GB" sz="1150" u="none" cap="none" strike="noStrike">
                <a:solidFill>
                  <a:schemeClr val="accent2"/>
                </a:solidFill>
                <a:highlight>
                  <a:srgbClr val="FFFFFF"/>
                </a:highlight>
                <a:latin typeface="Montserrat"/>
                <a:ea typeface="Montserrat"/>
                <a:cs typeface="Montserrat"/>
                <a:sym typeface="Montserrat"/>
              </a:rPr>
              <a:t>+ Không đạt:</a:t>
            </a:r>
            <a:br>
              <a:rPr b="1" i="0" lang="en-GB" sz="1150" u="none" cap="none" strike="noStrike">
                <a:solidFill>
                  <a:schemeClr val="accent2"/>
                </a:solidFill>
                <a:highlight>
                  <a:srgbClr val="FFFFFF"/>
                </a:highlight>
                <a:latin typeface="Montserrat"/>
                <a:ea typeface="Montserrat"/>
                <a:cs typeface="Montserrat"/>
                <a:sym typeface="Montserrat"/>
              </a:rPr>
            </a:br>
            <a:r>
              <a:rPr b="0" i="0" lang="en-GB" sz="1150" u="none" cap="none" strike="noStrike">
                <a:solidFill>
                  <a:schemeClr val="accent2"/>
                </a:solidFill>
                <a:highlight>
                  <a:srgbClr val="FFFFFF"/>
                </a:highlight>
                <a:latin typeface="Montserrat"/>
                <a:ea typeface="Montserrat"/>
                <a:cs typeface="Montserrat"/>
                <a:sym typeface="Montserrat"/>
              </a:rPr>
              <a:t>- Khu vực Nhà vệ sinh không gọn gàng, có rác thải.</a:t>
            </a:r>
            <a:endParaRPr b="0"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chemeClr val="dk1"/>
              </a:buClr>
              <a:buSzPts val="1100"/>
              <a:buFont typeface="Arial"/>
              <a:buNone/>
            </a:pPr>
            <a:r>
              <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800"/>
              </a:spcBef>
              <a:spcAft>
                <a:spcPts val="0"/>
              </a:spcAft>
              <a:buClr>
                <a:schemeClr val="dk1"/>
              </a:buClr>
              <a:buSzPts val="1100"/>
              <a:buFont typeface="Arial"/>
              <a:buNone/>
            </a:pPr>
            <a:r>
              <a:rPr b="1" i="0" lang="en-GB" sz="1100" u="none" cap="none" strike="noStrike">
                <a:solidFill>
                  <a:srgbClr val="FF0000"/>
                </a:solidFill>
                <a:highlight>
                  <a:srgbClr val="FFFF00"/>
                </a:highlight>
                <a:latin typeface="Montserrat"/>
                <a:ea typeface="Montserrat"/>
                <a:cs typeface="Montserrat"/>
                <a:sym typeface="Montserrat"/>
              </a:rPr>
              <a:t>Link </a:t>
            </a:r>
            <a:r>
              <a:rPr b="1" i="0" lang="en-GB" sz="1100" u="sng" cap="none" strike="noStrike">
                <a:solidFill>
                  <a:schemeClr val="hlink"/>
                </a:solidFill>
                <a:highlight>
                  <a:srgbClr val="FFFF00"/>
                </a:highlight>
                <a:latin typeface="Montserrat"/>
                <a:ea typeface="Montserrat"/>
                <a:cs typeface="Montserrat"/>
                <a:sym typeface="Montserrat"/>
                <a:hlinkClick r:id="rId4"/>
              </a:rPr>
              <a:t>hình ảnh minh hoạ</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97A7"/>
              </a:solidFill>
              <a:highlight>
                <a:srgbClr val="EEFF41"/>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296" name="Google Shape;296;p51"/>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A</a:t>
            </a:r>
            <a:r>
              <a:rPr b="1" i="0" lang="en-GB" sz="2050" u="none" cap="none" strike="noStrike">
                <a:solidFill>
                  <a:srgbClr val="00467F"/>
                </a:solidFill>
                <a:latin typeface="Montserrat"/>
                <a:ea typeface="Montserrat"/>
                <a:cs typeface="Montserrat"/>
                <a:sym typeface="Montserrat"/>
              </a:rPr>
              <a:t>. BÀI CHẤM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nvSpPr>
        <p:spPr>
          <a:xfrm>
            <a:off x="368150" y="682375"/>
            <a:ext cx="58446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5. ĐỒNG PHỤC</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nhân viên là bộ mặt của Công ty.</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 </a:t>
            </a:r>
            <a:r>
              <a:rPr b="0" i="0" lang="en-GB" sz="1100" u="none" cap="none" strike="noStrike">
                <a:solidFill>
                  <a:srgbClr val="000000"/>
                </a:solidFill>
                <a:latin typeface="Montserrat"/>
                <a:ea typeface="Montserrat"/>
                <a:cs typeface="Montserrat"/>
                <a:sym typeface="Montserrat"/>
              </a:rPr>
              <a:t>(Hình ảnh 1)</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nhân viên thì chỉ cần chụp 1 tấm (Khoảng cách trung bình 2 mét), nếu hình chụp gần không đủ bao quát thì phải chụp nhiều hình đính kèm vào tiêu chí.</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tất cả nhân viên có mặt tại BC thời điểm đó.</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 </a:t>
            </a:r>
            <a:r>
              <a:rPr b="0" i="0" lang="en-GB" sz="1100" u="none" cap="none" strike="noStrike">
                <a:solidFill>
                  <a:srgbClr val="000000"/>
                </a:solidFill>
                <a:latin typeface="Montserrat"/>
                <a:ea typeface="Montserrat"/>
                <a:cs typeface="Montserrat"/>
                <a:sym typeface="Montserrat"/>
              </a:rPr>
              <a:t>(Hình ảnh 2 và 3)</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Nhân viên không tuân thủ quy định đồng phục theo Chính sách nhận diện thương hiệu và hành vi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toàn cảnh bao quát.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toàn bộ tất cả nhân viên có mặt tại BC thời điểm đó.</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Lưu ý: không thỏa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Ví dụ: nhân viên mang dép, tiêu chí này KHÔNG ĐẠT.</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3"/>
              </a:rPr>
              <a:t>hình ảnh minh hoạ</a:t>
            </a:r>
            <a:endParaRPr b="1" i="0" sz="1200" u="none" cap="none" strike="noStrike">
              <a:solidFill>
                <a:schemeClr val="accent5"/>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pic>
        <p:nvPicPr>
          <p:cNvPr id="302" name="Google Shape;302;p52"/>
          <p:cNvPicPr preferRelativeResize="0"/>
          <p:nvPr/>
        </p:nvPicPr>
        <p:blipFill rotWithShape="1">
          <a:blip r:embed="rId4">
            <a:alphaModFix/>
          </a:blip>
          <a:srcRect b="1788" l="0" r="0" t="10974"/>
          <a:stretch/>
        </p:blipFill>
        <p:spPr>
          <a:xfrm>
            <a:off x="6245130" y="743475"/>
            <a:ext cx="2355394" cy="3656550"/>
          </a:xfrm>
          <a:prstGeom prst="rect">
            <a:avLst/>
          </a:prstGeom>
          <a:noFill/>
          <a:ln cap="flat" cmpd="sng" w="9525">
            <a:solidFill>
              <a:schemeClr val="dk2"/>
            </a:solidFill>
            <a:prstDash val="solid"/>
            <a:round/>
            <a:headEnd len="sm" w="sm" type="none"/>
            <a:tailEnd len="sm" w="sm" type="none"/>
          </a:ln>
        </p:spPr>
      </p:pic>
      <p:sp>
        <p:nvSpPr>
          <p:cNvPr id="303" name="Google Shape;303;p52"/>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A</a:t>
            </a:r>
            <a:r>
              <a:rPr b="1" i="0" lang="en-GB" sz="2050" u="none" cap="none" strike="noStrike">
                <a:solidFill>
                  <a:srgbClr val="00467F"/>
                </a:solidFill>
                <a:latin typeface="Montserrat"/>
                <a:ea typeface="Montserrat"/>
                <a:cs typeface="Montserrat"/>
                <a:sym typeface="Montserrat"/>
              </a:rPr>
              <a:t>. BÀI CHẤM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3"/>
          <p:cNvSpPr txBox="1"/>
          <p:nvPr/>
        </p:nvSpPr>
        <p:spPr>
          <a:xfrm>
            <a:off x="368150" y="682375"/>
            <a:ext cx="49032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6. BẢNG ĐĂNG KÝ KINH DOANH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Nhân viên chụp bảng đăng ký kinh doanh được gắn trước cửa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r>
              <a:rPr b="0" i="0" lang="en-GB" sz="1100" u="none" cap="none" strike="noStrike">
                <a:solidFill>
                  <a:srgbClr val="000000"/>
                </a:solidFill>
                <a:latin typeface="Montserrat"/>
                <a:ea typeface="Montserrat"/>
                <a:cs typeface="Montserrat"/>
                <a:sym typeface="Montserrat"/>
              </a:rPr>
              <a:t> Đảm bảo hình chụp cần thấy được đầy đủ, rõ thông tin trên bảng.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Lưu ý: không thoả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09" name="Google Shape;309;p53"/>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A</a:t>
            </a:r>
            <a:r>
              <a:rPr b="1" i="0" lang="en-GB" sz="2050" u="none" cap="none" strike="noStrike">
                <a:solidFill>
                  <a:srgbClr val="00467F"/>
                </a:solidFill>
                <a:latin typeface="Montserrat"/>
                <a:ea typeface="Montserrat"/>
                <a:cs typeface="Montserrat"/>
                <a:sym typeface="Montserrat"/>
              </a:rPr>
              <a:t>. BÀI CHẤM HÀNG NGÀY</a:t>
            </a:r>
            <a:endParaRPr b="1" i="0" sz="2050" u="none" cap="none" strike="noStrike">
              <a:solidFill>
                <a:srgbClr val="00467F"/>
              </a:solidFill>
              <a:latin typeface="Montserrat"/>
              <a:ea typeface="Montserrat"/>
              <a:cs typeface="Montserrat"/>
              <a:sym typeface="Montserrat"/>
            </a:endParaRPr>
          </a:p>
        </p:txBody>
      </p:sp>
      <p:pic>
        <p:nvPicPr>
          <p:cNvPr id="310" name="Google Shape;310;p53"/>
          <p:cNvPicPr preferRelativeResize="0"/>
          <p:nvPr/>
        </p:nvPicPr>
        <p:blipFill rotWithShape="1">
          <a:blip r:embed="rId3">
            <a:alphaModFix/>
          </a:blip>
          <a:srcRect b="0" l="0" r="0" t="0"/>
          <a:stretch/>
        </p:blipFill>
        <p:spPr>
          <a:xfrm>
            <a:off x="5423750" y="644325"/>
            <a:ext cx="3567850" cy="34939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16" name="Google Shape;316;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17" name="Google Shape;317;p54"/>
          <p:cNvPicPr preferRelativeResize="0"/>
          <p:nvPr/>
        </p:nvPicPr>
        <p:blipFill rotWithShape="1">
          <a:blip r:embed="rId3">
            <a:alphaModFix/>
          </a:blip>
          <a:srcRect b="0" l="0" r="0" t="0"/>
          <a:stretch/>
        </p:blipFill>
        <p:spPr>
          <a:xfrm>
            <a:off x="152400" y="152400"/>
            <a:ext cx="9144000" cy="5143500"/>
          </a:xfrm>
          <a:prstGeom prst="rect">
            <a:avLst/>
          </a:prstGeom>
          <a:noFill/>
          <a:ln>
            <a:noFill/>
          </a:ln>
        </p:spPr>
      </p:pic>
      <p:sp>
        <p:nvSpPr>
          <p:cNvPr id="318" name="Google Shape;318;p54"/>
          <p:cNvSpPr txBox="1"/>
          <p:nvPr>
            <p:ph idx="1" type="body"/>
          </p:nvPr>
        </p:nvSpPr>
        <p:spPr>
          <a:xfrm>
            <a:off x="1833900" y="2367200"/>
            <a:ext cx="70572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2500">
                <a:solidFill>
                  <a:schemeClr val="lt1"/>
                </a:solidFill>
                <a:latin typeface="Montserrat ExtraBold"/>
                <a:ea typeface="Montserrat ExtraBold"/>
                <a:cs typeface="Montserrat ExtraBold"/>
                <a:sym typeface="Montserrat ExtraBold"/>
              </a:rPr>
              <a:t>BÀI CHẤM HÀNG </a:t>
            </a:r>
            <a:r>
              <a:rPr b="1" lang="en-GB" sz="2500">
                <a:solidFill>
                  <a:schemeClr val="lt1"/>
                </a:solidFill>
                <a:latin typeface="Montserrat ExtraBold"/>
                <a:ea typeface="Montserrat ExtraBold"/>
                <a:cs typeface="Montserrat ExtraBold"/>
                <a:sym typeface="Montserrat ExtraBold"/>
              </a:rPr>
              <a:t>TUẦN</a:t>
            </a:r>
            <a:endParaRPr b="1" sz="2500">
              <a:solidFill>
                <a:schemeClr val="lt1"/>
              </a:solidFill>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Clr>
                <a:schemeClr val="dk1"/>
              </a:buClr>
              <a:buSzPts val="1100"/>
              <a:buFont typeface="Arial"/>
              <a:buNone/>
            </a:pPr>
            <a:r>
              <a:t/>
            </a:r>
            <a:endParaRPr b="1" sz="25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5"/>
          <p:cNvSpPr txBox="1"/>
          <p:nvPr/>
        </p:nvSpPr>
        <p:spPr>
          <a:xfrm>
            <a:off x="348500" y="682025"/>
            <a:ext cx="5232000" cy="372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 KHU VỰC MẶT TIỀN BƯU CỤC </a:t>
            </a:r>
            <a:endParaRPr b="1" i="0" sz="1200" u="none" cap="none" strike="noStrike">
              <a:solidFill>
                <a:srgbClr val="2980B9"/>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KV này bao gồm cả BẢNG HIỆU và KHU VỰC ĐẬU XE MÁY</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Cách chụp:</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 Đúng:</a:t>
            </a:r>
            <a:endParaRPr b="1" i="0" sz="1200" u="none" cap="none" strike="noStrike">
              <a:solidFill>
                <a:srgbClr val="000000"/>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Đảm bảo 1 hoặc nhiều hình chụp phải thấy được biển hiệu và toàn cảnh bao quát mặt tiền thông thoáng, sắp xếp gọn gàng, sạch sẽ không rác, không đồ ăn thức uống, không vật dụng cá nhân và vật dụng thừa.</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 Không đạt:</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Hình chụp không thấy được toàn cảnh mặt tiền, bao gồm biển hiệu Bưu cục.</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Hình chụp không thấy được khu vực đậu xe.</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0" i="0" lang="en-GB" sz="1200" u="none" cap="none" strike="noStrike">
                <a:solidFill>
                  <a:srgbClr val="000000"/>
                </a:solidFill>
                <a:latin typeface="Montserrat"/>
                <a:ea typeface="Montserrat"/>
                <a:cs typeface="Montserrat"/>
                <a:sym typeface="Montserrat"/>
              </a:rPr>
              <a:t>- Khu vực mặt tiền không thông thoáng, không gọn gàng, có rác thải.</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3"/>
              </a:rPr>
              <a:t>hình ảnh minh hoạ</a:t>
            </a:r>
            <a:endParaRPr b="1" i="0" sz="12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200"/>
              <a:buFont typeface="Arial"/>
              <a:buNone/>
            </a:pPr>
            <a:r>
              <a:t/>
            </a:r>
            <a:endParaRPr b="0" i="0" sz="1200" u="none" cap="none" strike="noStrike">
              <a:solidFill>
                <a:srgbClr val="212121"/>
              </a:solidFill>
              <a:highlight>
                <a:srgbClr val="FFFFFF"/>
              </a:highlight>
              <a:latin typeface="Montserrat"/>
              <a:ea typeface="Montserrat"/>
              <a:cs typeface="Montserrat"/>
              <a:sym typeface="Montserrat"/>
            </a:endParaRPr>
          </a:p>
          <a:p>
            <a:pPr indent="0" lvl="0" marL="0" marR="0" rtl="0" algn="l">
              <a:lnSpc>
                <a:spcPct val="100000"/>
              </a:lnSpc>
              <a:spcBef>
                <a:spcPts val="1000"/>
              </a:spcBef>
              <a:spcAft>
                <a:spcPts val="1000"/>
              </a:spcAft>
              <a:buClr>
                <a:srgbClr val="000000"/>
              </a:buClr>
              <a:buSzPts val="1100"/>
              <a:buFont typeface="Arial"/>
              <a:buNone/>
            </a:pPr>
            <a:r>
              <a:t/>
            </a:r>
            <a:endParaRPr b="0" i="0" sz="1100" u="none" cap="none" strike="noStrike">
              <a:solidFill>
                <a:srgbClr val="0000FF"/>
              </a:solidFill>
              <a:latin typeface="Montserrat"/>
              <a:ea typeface="Montserrat"/>
              <a:cs typeface="Montserrat"/>
              <a:sym typeface="Montserrat"/>
            </a:endParaRPr>
          </a:p>
        </p:txBody>
      </p:sp>
      <p:sp>
        <p:nvSpPr>
          <p:cNvPr id="324" name="Google Shape;324;p55"/>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sp>
        <p:nvSpPr>
          <p:cNvPr id="325" name="Google Shape;325;p55"/>
          <p:cNvSpPr/>
          <p:nvPr/>
        </p:nvSpPr>
        <p:spPr>
          <a:xfrm>
            <a:off x="6953775" y="908325"/>
            <a:ext cx="367200" cy="2910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pic>
        <p:nvPicPr>
          <p:cNvPr id="326" name="Google Shape;326;p55"/>
          <p:cNvPicPr preferRelativeResize="0"/>
          <p:nvPr/>
        </p:nvPicPr>
        <p:blipFill rotWithShape="1">
          <a:blip r:embed="rId4">
            <a:alphaModFix/>
          </a:blip>
          <a:srcRect b="0" l="0" r="0" t="0"/>
          <a:stretch/>
        </p:blipFill>
        <p:spPr>
          <a:xfrm>
            <a:off x="5580500" y="857750"/>
            <a:ext cx="3445225" cy="3803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6"/>
          <p:cNvSpPr txBox="1"/>
          <p:nvPr/>
        </p:nvSpPr>
        <p:spPr>
          <a:xfrm>
            <a:off x="368150" y="682375"/>
            <a:ext cx="49032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2. BẢNG ĐĂNG KÝ KINH DOANH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Nhân viên chụp bảng đăng ký kinh doanh được gắn trước cửa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r>
              <a:rPr b="0" i="0" lang="en-GB" sz="1100" u="none" cap="none" strike="noStrike">
                <a:solidFill>
                  <a:srgbClr val="000000"/>
                </a:solidFill>
                <a:latin typeface="Montserrat"/>
                <a:ea typeface="Montserrat"/>
                <a:cs typeface="Montserrat"/>
                <a:sym typeface="Montserrat"/>
              </a:rPr>
              <a:t> Đảm bảo hình chụp cần thấy được đầy đủ, rõ thông tin trên bảng.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Lưu ý: không </a:t>
            </a:r>
            <a:r>
              <a:rPr lang="en-GB" sz="1100">
                <a:latin typeface="Montserrat"/>
                <a:ea typeface="Montserrat"/>
                <a:cs typeface="Montserrat"/>
                <a:sym typeface="Montserrat"/>
              </a:rPr>
              <a:t>thỏa</a:t>
            </a:r>
            <a:r>
              <a:rPr b="0" i="0" lang="en-GB" sz="1100" u="none" cap="none" strike="noStrike">
                <a:solidFill>
                  <a:srgbClr val="000000"/>
                </a:solidFill>
                <a:latin typeface="Montserrat"/>
                <a:ea typeface="Montserrat"/>
                <a:cs typeface="Montserrat"/>
                <a:sym typeface="Montserrat"/>
              </a:rPr>
              <a:t>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32" name="Google Shape;332;p56"/>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33" name="Google Shape;333;p56"/>
          <p:cNvPicPr preferRelativeResize="0"/>
          <p:nvPr/>
        </p:nvPicPr>
        <p:blipFill rotWithShape="1">
          <a:blip r:embed="rId3">
            <a:alphaModFix/>
          </a:blip>
          <a:srcRect b="0" l="0" r="0" t="0"/>
          <a:stretch/>
        </p:blipFill>
        <p:spPr>
          <a:xfrm>
            <a:off x="5423750" y="644325"/>
            <a:ext cx="3567850" cy="34939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7"/>
          <p:cNvSpPr txBox="1"/>
          <p:nvPr/>
        </p:nvSpPr>
        <p:spPr>
          <a:xfrm>
            <a:off x="368150" y="682375"/>
            <a:ext cx="46902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3. CƠ SỞ VẬT CHẤT TẠI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Tổng quan toàn cảnh layout của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Chụp 2 hình ảnh, một hình từ ngoài vào trong và một hình từ trong ra ngoài. Hình ảnh phải bao quát, thấy được toàn cảnh layout của bưu cục bao gồm khu tiếp khách, xử lý hàng, lưu trữ, lối đi chính nhằm kiểm tình trạng chung của bàn ghế, kệ, máy móc, sàn nhà, trần nhà, hệ thống điện, ánh sáng. Đảm bảo đủ dùng và không hư hỏng. Thể hiện luồng di chuyển, sắp xếp khu vực làm việc, gọn gàng của layout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Chụp không đủ 2 hình ảnh gồm 1 hình từ cửa BC chụp bao quát hướng vào trong, 1 hình từ cuối BC chụp bao quát hướng ra ngoài cửa chính.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Hình ảnh không bao quát được toàn cảnh hoặc khu vực không gọn gàng, có rác thải.</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39" name="Google Shape;339;p57"/>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40" name="Google Shape;340;p57"/>
          <p:cNvPicPr preferRelativeResize="0"/>
          <p:nvPr/>
        </p:nvPicPr>
        <p:blipFill rotWithShape="1">
          <a:blip r:embed="rId3">
            <a:alphaModFix/>
          </a:blip>
          <a:srcRect b="0" l="0" r="0" t="0"/>
          <a:stretch/>
        </p:blipFill>
        <p:spPr>
          <a:xfrm>
            <a:off x="5170450" y="1258200"/>
            <a:ext cx="1697075" cy="2249775"/>
          </a:xfrm>
          <a:prstGeom prst="rect">
            <a:avLst/>
          </a:prstGeom>
          <a:noFill/>
          <a:ln>
            <a:noFill/>
          </a:ln>
        </p:spPr>
      </p:pic>
      <p:pic>
        <p:nvPicPr>
          <p:cNvPr id="341" name="Google Shape;341;p57"/>
          <p:cNvPicPr preferRelativeResize="0"/>
          <p:nvPr/>
        </p:nvPicPr>
        <p:blipFill rotWithShape="1">
          <a:blip r:embed="rId4">
            <a:alphaModFix/>
          </a:blip>
          <a:srcRect b="0" l="0" r="0" t="0"/>
          <a:stretch/>
        </p:blipFill>
        <p:spPr>
          <a:xfrm>
            <a:off x="6867525" y="1258200"/>
            <a:ext cx="2177813" cy="2249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8"/>
          <p:cNvSpPr txBox="1"/>
          <p:nvPr/>
        </p:nvSpPr>
        <p:spPr>
          <a:xfrm>
            <a:off x="368150" y="682375"/>
            <a:ext cx="49032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4. KHU VỰC CHIA TUYẾN NVPTTT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Khu vực được dùng cho việc NVPTTT  nhằm đảm bảo nhận diện rõ ràng và phân loại chính xác hàng hóa, mỗi sọt hàng tại khu vực NVPTTT đều được gắn bảng tên và tuyến phát tương ứng với từng nhân viên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Hình ảnh phải bao quát, thấy được khu vực làm việc bao gồm khu vực để rổ nhựa, sort hàng của NVPTTT.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Mỗi sọt hàng có bảng tên + tuyến NV chạy theo format: Tên tuyến (Địa bàn) + IDNV</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Sọt hàng không có bảng tên tuyến theo yêu cầu, không đáp ứng một trong các yêu cầu trên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Hình ảnh không bao quát được toàn cảnh hoặc khu vực không gọn gàng, có rác thải.</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47" name="Google Shape;347;p58"/>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48" name="Google Shape;348;p58"/>
          <p:cNvPicPr preferRelativeResize="0"/>
          <p:nvPr/>
        </p:nvPicPr>
        <p:blipFill rotWithShape="1">
          <a:blip r:embed="rId3">
            <a:alphaModFix/>
          </a:blip>
          <a:srcRect b="0" l="0" r="0" t="0"/>
          <a:stretch/>
        </p:blipFill>
        <p:spPr>
          <a:xfrm>
            <a:off x="5477160" y="2571751"/>
            <a:ext cx="3204266" cy="2237175"/>
          </a:xfrm>
          <a:prstGeom prst="rect">
            <a:avLst/>
          </a:prstGeom>
          <a:noFill/>
          <a:ln>
            <a:noFill/>
          </a:ln>
        </p:spPr>
      </p:pic>
      <p:pic>
        <p:nvPicPr>
          <p:cNvPr id="349" name="Google Shape;349;p58"/>
          <p:cNvPicPr preferRelativeResize="0"/>
          <p:nvPr/>
        </p:nvPicPr>
        <p:blipFill rotWithShape="1">
          <a:blip r:embed="rId4">
            <a:alphaModFix/>
          </a:blip>
          <a:srcRect b="0" l="0" r="0" t="0"/>
          <a:stretch/>
        </p:blipFill>
        <p:spPr>
          <a:xfrm>
            <a:off x="5477150" y="570846"/>
            <a:ext cx="3204276" cy="20009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59"/>
          <p:cNvPicPr preferRelativeResize="0"/>
          <p:nvPr/>
        </p:nvPicPr>
        <p:blipFill rotWithShape="1">
          <a:blip r:embed="rId3">
            <a:alphaModFix/>
          </a:blip>
          <a:srcRect b="0" l="0" r="0" t="0"/>
          <a:stretch/>
        </p:blipFill>
        <p:spPr>
          <a:xfrm>
            <a:off x="5853875" y="757700"/>
            <a:ext cx="2538650" cy="3654299"/>
          </a:xfrm>
          <a:prstGeom prst="rect">
            <a:avLst/>
          </a:prstGeom>
          <a:noFill/>
          <a:ln>
            <a:noFill/>
          </a:ln>
        </p:spPr>
      </p:pic>
      <p:sp>
        <p:nvSpPr>
          <p:cNvPr id="355" name="Google Shape;355;p59"/>
          <p:cNvSpPr txBox="1"/>
          <p:nvPr/>
        </p:nvSpPr>
        <p:spPr>
          <a:xfrm>
            <a:off x="361675" y="602650"/>
            <a:ext cx="5207100" cy="240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2980B9"/>
                </a:solidFill>
                <a:latin typeface="Montserrat"/>
                <a:ea typeface="Montserrat"/>
                <a:cs typeface="Montserrat"/>
                <a:sym typeface="Montserrat"/>
              </a:rPr>
              <a:t>5. NHÀ VỆ SINH </a:t>
            </a:r>
            <a:endParaRPr b="1"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150"/>
              <a:buFont typeface="Arial"/>
              <a:buNone/>
            </a:pPr>
            <a:r>
              <a:rPr b="0" i="0" lang="en-GB" sz="1150" u="none" cap="none" strike="noStrike">
                <a:solidFill>
                  <a:schemeClr val="accent2"/>
                </a:solidFill>
                <a:highlight>
                  <a:srgbClr val="FFFFFF"/>
                </a:highlight>
                <a:latin typeface="Montserrat"/>
                <a:ea typeface="Montserrat"/>
                <a:cs typeface="Montserrat"/>
                <a:sym typeface="Montserrat"/>
              </a:rPr>
              <a:t>- Nhà vệ sinh cá nhân hoặc nhà vệ sinh công cộng.</a:t>
            </a:r>
            <a:endParaRPr b="0"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150"/>
              <a:buFont typeface="Arial"/>
              <a:buNone/>
            </a:pPr>
            <a:r>
              <a:rPr b="1" i="0" lang="en-GB" sz="1150" u="none" cap="none" strike="noStrike">
                <a:solidFill>
                  <a:schemeClr val="accent2"/>
                </a:solidFill>
                <a:highlight>
                  <a:srgbClr val="FFFFFF"/>
                </a:highlight>
                <a:latin typeface="Montserrat"/>
                <a:ea typeface="Montserrat"/>
                <a:cs typeface="Montserrat"/>
                <a:sym typeface="Montserrat"/>
              </a:rPr>
              <a:t>Cách chụp:</a:t>
            </a:r>
            <a:endParaRPr b="1"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150"/>
              <a:buFont typeface="Arial"/>
              <a:buNone/>
            </a:pPr>
            <a:r>
              <a:rPr b="1" i="0" lang="en-GB" sz="1150" u="none" cap="none" strike="noStrike">
                <a:solidFill>
                  <a:schemeClr val="accent2"/>
                </a:solidFill>
                <a:highlight>
                  <a:srgbClr val="FFFFFF"/>
                </a:highlight>
                <a:latin typeface="Montserrat"/>
                <a:ea typeface="Montserrat"/>
                <a:cs typeface="Montserrat"/>
                <a:sym typeface="Montserrat"/>
              </a:rPr>
              <a:t>+ Đúng:</a:t>
            </a:r>
            <a:br>
              <a:rPr b="1" i="0" lang="en-GB" sz="1150" u="none" cap="none" strike="noStrike">
                <a:solidFill>
                  <a:schemeClr val="accent2"/>
                </a:solidFill>
                <a:highlight>
                  <a:srgbClr val="FFFFFF"/>
                </a:highlight>
                <a:latin typeface="Montserrat"/>
                <a:ea typeface="Montserrat"/>
                <a:cs typeface="Montserrat"/>
                <a:sym typeface="Montserrat"/>
              </a:rPr>
            </a:br>
            <a:r>
              <a:rPr b="0" i="0" lang="en-GB" sz="1150" u="none" cap="none" strike="noStrike">
                <a:solidFill>
                  <a:schemeClr val="accent2"/>
                </a:solidFill>
                <a:highlight>
                  <a:srgbClr val="FFFFFF"/>
                </a:highlight>
                <a:latin typeface="Montserrat"/>
                <a:ea typeface="Montserrat"/>
                <a:cs typeface="Montserrat"/>
                <a:sym typeface="Montserrat"/>
              </a:rPr>
              <a:t>- Đảm bảo 1 hoặc nhiều hình chụp phải thấy được toàn bộ KV nhà vệ sinh thông thoáng, sắp xếp gọn gàng, sạch sẽ không rác.</a:t>
            </a:r>
            <a:endParaRPr b="0"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150"/>
              <a:buFont typeface="Arial"/>
              <a:buNone/>
            </a:pPr>
            <a:r>
              <a:rPr b="1" i="0" lang="en-GB" sz="1150" u="none" cap="none" strike="noStrike">
                <a:solidFill>
                  <a:schemeClr val="accent2"/>
                </a:solidFill>
                <a:highlight>
                  <a:srgbClr val="FFFFFF"/>
                </a:highlight>
                <a:latin typeface="Montserrat"/>
                <a:ea typeface="Montserrat"/>
                <a:cs typeface="Montserrat"/>
                <a:sym typeface="Montserrat"/>
              </a:rPr>
              <a:t>+ Không đạt:</a:t>
            </a:r>
            <a:br>
              <a:rPr b="1" i="0" lang="en-GB" sz="1150" u="none" cap="none" strike="noStrike">
                <a:solidFill>
                  <a:schemeClr val="accent2"/>
                </a:solidFill>
                <a:highlight>
                  <a:srgbClr val="FFFFFF"/>
                </a:highlight>
                <a:latin typeface="Montserrat"/>
                <a:ea typeface="Montserrat"/>
                <a:cs typeface="Montserrat"/>
                <a:sym typeface="Montserrat"/>
              </a:rPr>
            </a:br>
            <a:r>
              <a:rPr b="0" i="0" lang="en-GB" sz="1150" u="none" cap="none" strike="noStrike">
                <a:solidFill>
                  <a:schemeClr val="accent2"/>
                </a:solidFill>
                <a:highlight>
                  <a:srgbClr val="FFFFFF"/>
                </a:highlight>
                <a:latin typeface="Montserrat"/>
                <a:ea typeface="Montserrat"/>
                <a:cs typeface="Montserrat"/>
                <a:sym typeface="Montserrat"/>
              </a:rPr>
              <a:t>- Khu vực Nhà vệ sinh không gọn gàng, có rác thải.</a:t>
            </a:r>
            <a:endParaRPr b="0" i="0" sz="1150" u="none" cap="none" strike="noStrike">
              <a:solidFill>
                <a:schemeClr val="accent2"/>
              </a:solidFill>
              <a:highlight>
                <a:srgbClr val="FFFFFF"/>
              </a:highlight>
              <a:latin typeface="Montserrat"/>
              <a:ea typeface="Montserrat"/>
              <a:cs typeface="Montserrat"/>
              <a:sym typeface="Montserrat"/>
            </a:endParaRPr>
          </a:p>
          <a:p>
            <a:pPr indent="0" lvl="0" marL="0" marR="0" rtl="0" algn="l">
              <a:lnSpc>
                <a:spcPct val="115000"/>
              </a:lnSpc>
              <a:spcBef>
                <a:spcPts val="800"/>
              </a:spcBef>
              <a:spcAft>
                <a:spcPts val="0"/>
              </a:spcAft>
              <a:buClr>
                <a:schemeClr val="dk1"/>
              </a:buClr>
              <a:buSzPts val="1100"/>
              <a:buFont typeface="Arial"/>
              <a:buNone/>
            </a:pPr>
            <a:r>
              <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800"/>
              </a:spcBef>
              <a:spcAft>
                <a:spcPts val="0"/>
              </a:spcAft>
              <a:buClr>
                <a:schemeClr val="dk1"/>
              </a:buClr>
              <a:buSzPts val="1100"/>
              <a:buFont typeface="Arial"/>
              <a:buNone/>
            </a:pPr>
            <a:r>
              <a:rPr b="1" i="0" lang="en-GB" sz="1100" u="none" cap="none" strike="noStrike">
                <a:solidFill>
                  <a:srgbClr val="FF0000"/>
                </a:solidFill>
                <a:highlight>
                  <a:srgbClr val="FFFF00"/>
                </a:highlight>
                <a:latin typeface="Montserrat"/>
                <a:ea typeface="Montserrat"/>
                <a:cs typeface="Montserrat"/>
                <a:sym typeface="Montserrat"/>
              </a:rPr>
              <a:t>Link </a:t>
            </a:r>
            <a:r>
              <a:rPr b="1" i="0" lang="en-GB" sz="1100" u="sng" cap="none" strike="noStrike">
                <a:solidFill>
                  <a:schemeClr val="hlink"/>
                </a:solidFill>
                <a:highlight>
                  <a:srgbClr val="FFFF00"/>
                </a:highlight>
                <a:latin typeface="Montserrat"/>
                <a:ea typeface="Montserrat"/>
                <a:cs typeface="Montserrat"/>
                <a:sym typeface="Montserrat"/>
                <a:hlinkClick r:id="rId4"/>
              </a:rPr>
              <a:t>hình ảnh minh hoạ</a:t>
            </a:r>
            <a:endParaRPr b="1"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97A7"/>
              </a:solidFill>
              <a:highlight>
                <a:srgbClr val="EEFF41"/>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56" name="Google Shape;356;p59"/>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0"/>
          <p:cNvSpPr txBox="1"/>
          <p:nvPr/>
        </p:nvSpPr>
        <p:spPr>
          <a:xfrm>
            <a:off x="368150" y="682375"/>
            <a:ext cx="44832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6. THIẾT BỊ PCCC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Thiết bị PCCC: 1 bộ tiêu lệnh - 2 bình chữa cháy.</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CCDC trên đầy đủ số lượng, tình trạng có hoặc không phải ghi chú đầy đủ thông tin và số lượng vào bài chấm, KV lưu trữ CCDC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Lưu ý: không thoả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Ví dụ: không có đầy đủ thiết bị PCCC,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62" name="Google Shape;362;p60"/>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63" name="Google Shape;363;p60"/>
          <p:cNvPicPr preferRelativeResize="0"/>
          <p:nvPr/>
        </p:nvPicPr>
        <p:blipFill rotWithShape="1">
          <a:blip r:embed="rId3">
            <a:alphaModFix/>
          </a:blip>
          <a:srcRect b="0" l="0" r="0" t="0"/>
          <a:stretch/>
        </p:blipFill>
        <p:spPr>
          <a:xfrm>
            <a:off x="5067079" y="617650"/>
            <a:ext cx="1735820" cy="3049149"/>
          </a:xfrm>
          <a:prstGeom prst="rect">
            <a:avLst/>
          </a:prstGeom>
          <a:noFill/>
          <a:ln>
            <a:noFill/>
          </a:ln>
        </p:spPr>
      </p:pic>
      <p:pic>
        <p:nvPicPr>
          <p:cNvPr id="364" name="Google Shape;364;p60"/>
          <p:cNvPicPr preferRelativeResize="0"/>
          <p:nvPr/>
        </p:nvPicPr>
        <p:blipFill rotWithShape="1">
          <a:blip r:embed="rId4">
            <a:alphaModFix/>
          </a:blip>
          <a:srcRect b="0" l="0" r="0" t="0"/>
          <a:stretch/>
        </p:blipFill>
        <p:spPr>
          <a:xfrm>
            <a:off x="6802900" y="617650"/>
            <a:ext cx="2266250" cy="304914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1"/>
          <p:cNvSpPr txBox="1"/>
          <p:nvPr/>
        </p:nvSpPr>
        <p:spPr>
          <a:xfrm>
            <a:off x="368150" y="682375"/>
            <a:ext cx="48387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7. KHU VỰC CHỨA CCDC, VPP VÀ CCDC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Khu vực chứa công cụ dụng cụ (CCDC), văn phòng phẩm (VPP) hiện tại sẽ chỉ đặt đủ dùng, không tồn quá nhiều để lưu trữ tại BC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Bao gồm các loại CCDC cơ bản sau: cân điện tử/ cân cơ (100kg), máy in, pallet, khung cố định bao tải, sóng nhựa, thiết bị PCCC, súng barcode... theo chuẩn từng khu vực. Các vật dụng hư hỏng được thu gom, bảo quản riêng tại kho.</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khu vực thì chỉ cần chụp 1 tấm (Khoảng cách trung bình 2 mét), nếu hình chụp gần không đủ bao quát thì phải chụp nhiều hình đính kèm vào tiêu chí.</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vận hành thông thoáng, sắp xếp gọn gàng, sạch sẽ không rác, không đồ ăn thức uống, không vật dụng cá nhân và vật dụng thừa.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tất cả các loại CCDC trên, tình trạng có hoặc không phải ghi chú đầy đủ thông tin và số lượng vào bài chấm, KV lưu trữ CCDC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Lưu ý: không thoả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Ví dụ: CCDC vứt lung tung không dọn dẹp,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70" name="Google Shape;370;p61"/>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71" name="Google Shape;371;p61"/>
          <p:cNvPicPr preferRelativeResize="0"/>
          <p:nvPr/>
        </p:nvPicPr>
        <p:blipFill rotWithShape="1">
          <a:blip r:embed="rId3">
            <a:alphaModFix/>
          </a:blip>
          <a:srcRect b="0" l="0" r="0" t="0"/>
          <a:stretch/>
        </p:blipFill>
        <p:spPr>
          <a:xfrm>
            <a:off x="5206850" y="1006175"/>
            <a:ext cx="2287200" cy="3394550"/>
          </a:xfrm>
          <a:prstGeom prst="rect">
            <a:avLst/>
          </a:prstGeom>
          <a:noFill/>
          <a:ln>
            <a:noFill/>
          </a:ln>
        </p:spPr>
      </p:pic>
      <p:pic>
        <p:nvPicPr>
          <p:cNvPr id="372" name="Google Shape;372;p61"/>
          <p:cNvPicPr preferRelativeResize="0"/>
          <p:nvPr/>
        </p:nvPicPr>
        <p:blipFill rotWithShape="1">
          <a:blip r:embed="rId4">
            <a:alphaModFix/>
          </a:blip>
          <a:srcRect b="0" l="0" r="0" t="0"/>
          <a:stretch/>
        </p:blipFill>
        <p:spPr>
          <a:xfrm>
            <a:off x="7494050" y="1006175"/>
            <a:ext cx="1563930" cy="2017874"/>
          </a:xfrm>
          <a:prstGeom prst="rect">
            <a:avLst/>
          </a:prstGeom>
          <a:noFill/>
          <a:ln>
            <a:noFill/>
          </a:ln>
        </p:spPr>
      </p:pic>
      <p:pic>
        <p:nvPicPr>
          <p:cNvPr id="373" name="Google Shape;373;p61"/>
          <p:cNvPicPr preferRelativeResize="0"/>
          <p:nvPr/>
        </p:nvPicPr>
        <p:blipFill rotWithShape="1">
          <a:blip r:embed="rId5">
            <a:alphaModFix/>
          </a:blip>
          <a:srcRect b="0" l="0" r="0" t="0"/>
          <a:stretch/>
        </p:blipFill>
        <p:spPr>
          <a:xfrm>
            <a:off x="7494050" y="3024050"/>
            <a:ext cx="1563925" cy="137667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2"/>
          <p:cNvSpPr txBox="1"/>
          <p:nvPr/>
        </p:nvSpPr>
        <p:spPr>
          <a:xfrm>
            <a:off x="368150" y="682375"/>
            <a:ext cx="49032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8. BẢNG THÔNG BÁO</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Loại bảng màu xanh dương tuyên truyền các thông tin tại BC và DS số điện thoại liên lạc khẩn cấp (AM,GĐV, Công An, PCCC, TBC,..)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khu vực bảng được treo trên cao (cạnh trên cách chân tường 1m8) ngay ngắn, không hư hỏng. Khu vực phía dưới, xung quanh gọn gàng, sạch sẽ, thông thoáng.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Bảng thông báo thể hiện đầy đủ các thông tin, cụ thể: 7 file chính sách + mục lục bên legal, chuyên mục tin tức, các điều cấm (EB và L&amp;D), contact liên hệ khẩn cấp</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Link chính sách: </a:t>
            </a:r>
            <a:r>
              <a:rPr b="0" i="0" lang="en-GB" sz="1100" u="sng" cap="none" strike="noStrike">
                <a:solidFill>
                  <a:schemeClr val="hlink"/>
                </a:solidFill>
                <a:latin typeface="Montserrat"/>
                <a:ea typeface="Montserrat"/>
                <a:cs typeface="Montserrat"/>
                <a:sym typeface="Montserrat"/>
                <a:hlinkClick r:id="rId3"/>
              </a:rPr>
              <a:t>tại link</a:t>
            </a:r>
            <a:r>
              <a:rPr b="0" i="0" lang="en-GB" sz="1100" u="none" cap="none" strike="noStrike">
                <a:solidFill>
                  <a:srgbClr val="000000"/>
                </a:solidFill>
                <a:latin typeface="Montserrat"/>
                <a:ea typeface="Montserrat"/>
                <a:cs typeface="Montserrat"/>
                <a:sym typeface="Montserrat"/>
              </a:rPr>
              <a:t>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Thông tin trên bảng thông báo treo không ngay ngắn, dán băng keo đè lên thông tin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Thông tin chứa không đầy đủ các yêu cầu bên trên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Khu vực treo bảng không ngăn nắp, có rác thải.</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79" name="Google Shape;379;p62"/>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80" name="Google Shape;380;p62"/>
          <p:cNvPicPr preferRelativeResize="0"/>
          <p:nvPr/>
        </p:nvPicPr>
        <p:blipFill rotWithShape="1">
          <a:blip r:embed="rId4">
            <a:alphaModFix/>
          </a:blip>
          <a:srcRect b="0" l="0" r="0" t="0"/>
          <a:stretch/>
        </p:blipFill>
        <p:spPr>
          <a:xfrm>
            <a:off x="5436675" y="993250"/>
            <a:ext cx="3567850" cy="289643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3"/>
          <p:cNvSpPr txBox="1"/>
          <p:nvPr/>
        </p:nvSpPr>
        <p:spPr>
          <a:xfrm>
            <a:off x="368150" y="682375"/>
            <a:ext cx="39534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9. DÁN MẪU THÔNG BÁO LẮP CAMERA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Bưu cục in màu hoặc in trắng đen bằng khổ giấy A4 theo mẫu (</a:t>
            </a:r>
            <a:r>
              <a:rPr b="0" i="0" lang="en-GB" sz="1100" u="sng" cap="none" strike="noStrike">
                <a:solidFill>
                  <a:schemeClr val="hlink"/>
                </a:solidFill>
                <a:latin typeface="Montserrat"/>
                <a:ea typeface="Montserrat"/>
                <a:cs typeface="Montserrat"/>
                <a:sym typeface="Montserrat"/>
                <a:hlinkClick r:id="rId3"/>
              </a:rPr>
              <a:t>Link in Mẫu tại đây</a:t>
            </a:r>
            <a:r>
              <a:rPr b="0" i="0" lang="en-GB" sz="1100" u="none" cap="none" strike="noStrike">
                <a:solidFill>
                  <a:srgbClr val="000000"/>
                </a:solidFill>
                <a:latin typeface="Montserrat"/>
                <a:ea typeface="Montserrat"/>
                <a:cs typeface="Montserrat"/>
                <a:sym typeface="Montserrat"/>
              </a:rPr>
              <a:t>.) =&gt; Dán/ ghim Mẫu Thông Báo Lắp Camera lên Bảng Thông Báo của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Tờ thông báo phải được in rõ mực không bị mờ/ lem mực.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Hình chụp phải thấy được nội dung tiêu đề của thông báo.</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Tờ thông báo gắn đúng với phần chuyên mục đã quy hoạch theo “Bộ Quy Chuẩn Bảng Thông Báo” ban hành bởi phòng Truyền thông Nội bộ &amp; Thương hiệu Tuyển dụng (gọi tắt là EB)</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n-GB" sz="1100" u="none" cap="none" strike="noStrike">
                <a:solidFill>
                  <a:srgbClr val="000000"/>
                </a:solidFill>
                <a:latin typeface="Montserrat"/>
                <a:ea typeface="Montserrat"/>
                <a:cs typeface="Montserrat"/>
                <a:sym typeface="Montserrat"/>
              </a:rPr>
              <a:t>*** Lưu ý: Trường hợp Bưu Cục không có bảng thông báo Bưu Cục dán trực tiếp lên tường tại khu vực tiếp Khách Hàng.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sp>
        <p:nvSpPr>
          <p:cNvPr id="386" name="Google Shape;386;p63"/>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pic>
        <p:nvPicPr>
          <p:cNvPr id="387" name="Google Shape;387;p63"/>
          <p:cNvPicPr preferRelativeResize="0"/>
          <p:nvPr/>
        </p:nvPicPr>
        <p:blipFill rotWithShape="1">
          <a:blip r:embed="rId4">
            <a:alphaModFix/>
          </a:blip>
          <a:srcRect b="0" l="0" r="0" t="0"/>
          <a:stretch/>
        </p:blipFill>
        <p:spPr>
          <a:xfrm>
            <a:off x="4409450" y="754175"/>
            <a:ext cx="2359676" cy="3292575"/>
          </a:xfrm>
          <a:prstGeom prst="rect">
            <a:avLst/>
          </a:prstGeom>
          <a:noFill/>
          <a:ln>
            <a:noFill/>
          </a:ln>
        </p:spPr>
      </p:pic>
      <p:pic>
        <p:nvPicPr>
          <p:cNvPr id="388" name="Google Shape;388;p63"/>
          <p:cNvPicPr preferRelativeResize="0"/>
          <p:nvPr/>
        </p:nvPicPr>
        <p:blipFill rotWithShape="1">
          <a:blip r:embed="rId5">
            <a:alphaModFix/>
          </a:blip>
          <a:srcRect b="0" l="0" r="0" t="0"/>
          <a:stretch/>
        </p:blipFill>
        <p:spPr>
          <a:xfrm>
            <a:off x="6769126" y="754175"/>
            <a:ext cx="2070075" cy="329642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nvSpPr>
        <p:spPr>
          <a:xfrm>
            <a:off x="368150" y="682375"/>
            <a:ext cx="5844600" cy="431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10. ĐỒNG PHỤC</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nhân viên là bộ mặt của Công ty.</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 </a:t>
            </a:r>
            <a:r>
              <a:rPr b="0" i="0" lang="en-GB" sz="1100" u="none" cap="none" strike="noStrike">
                <a:solidFill>
                  <a:srgbClr val="000000"/>
                </a:solidFill>
                <a:latin typeface="Montserrat"/>
                <a:ea typeface="Montserrat"/>
                <a:cs typeface="Montserrat"/>
                <a:sym typeface="Montserrat"/>
              </a:rPr>
              <a:t>(Hình ảnh 1)</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nhân viên thì chỉ cần chụp 1 tấm (Khoảng cách trung bình 2 mét), nếu hình chụp gần không đủ bao quát thì phải chụp nhiều hình đính kèm vào tiêu chí.</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tất cả nhân viên có mặt tại BC thời điểm đó.</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 </a:t>
            </a:r>
            <a:r>
              <a:rPr b="0" i="0" lang="en-GB" sz="1100" u="none" cap="none" strike="noStrike">
                <a:solidFill>
                  <a:srgbClr val="000000"/>
                </a:solidFill>
                <a:latin typeface="Montserrat"/>
                <a:ea typeface="Montserrat"/>
                <a:cs typeface="Montserrat"/>
                <a:sym typeface="Montserrat"/>
              </a:rPr>
              <a:t>(Hình ảnh 2 và 3)</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Nhân viên không tuân thủ quy định đồng phục theo Chính sách nhận diện thương hiệu và hành vi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toàn cảnh bao quát.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toàn bộ tất cả nhân viên có mặt tại BC thời điểm đó.</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Lưu ý: không thỏa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Ví dụ: nhân viên mang dép, tiêu chí này KHÔNG ĐẠT.</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3"/>
              </a:rPr>
              <a:t>hình ảnh minh hoạ</a:t>
            </a:r>
            <a:endParaRPr b="1" i="0" sz="1200" u="none" cap="none" strike="noStrike">
              <a:solidFill>
                <a:schemeClr val="accent5"/>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p:txBody>
      </p:sp>
      <p:pic>
        <p:nvPicPr>
          <p:cNvPr id="394" name="Google Shape;394;p64"/>
          <p:cNvPicPr preferRelativeResize="0"/>
          <p:nvPr/>
        </p:nvPicPr>
        <p:blipFill rotWithShape="1">
          <a:blip r:embed="rId4">
            <a:alphaModFix/>
          </a:blip>
          <a:srcRect b="1788" l="0" r="0" t="10974"/>
          <a:stretch/>
        </p:blipFill>
        <p:spPr>
          <a:xfrm>
            <a:off x="6245130" y="743475"/>
            <a:ext cx="2355394" cy="3656550"/>
          </a:xfrm>
          <a:prstGeom prst="rect">
            <a:avLst/>
          </a:prstGeom>
          <a:noFill/>
          <a:ln cap="flat" cmpd="sng" w="9525">
            <a:solidFill>
              <a:schemeClr val="dk2"/>
            </a:solidFill>
            <a:prstDash val="solid"/>
            <a:round/>
            <a:headEnd len="sm" w="sm" type="none"/>
            <a:tailEnd len="sm" w="sm" type="none"/>
          </a:ln>
        </p:spPr>
      </p:pic>
      <p:sp>
        <p:nvSpPr>
          <p:cNvPr id="395" name="Google Shape;395;p64"/>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GB" sz="2050">
                <a:solidFill>
                  <a:srgbClr val="00467F"/>
                </a:solidFill>
                <a:latin typeface="Montserrat"/>
                <a:ea typeface="Montserrat"/>
                <a:cs typeface="Montserrat"/>
                <a:sym typeface="Montserrat"/>
              </a:rPr>
              <a:t>B</a:t>
            </a:r>
            <a:r>
              <a:rPr b="1" i="0" lang="en-GB" sz="2050" u="none" cap="none" strike="noStrike">
                <a:solidFill>
                  <a:srgbClr val="00467F"/>
                </a:solidFill>
                <a:latin typeface="Montserrat"/>
                <a:ea typeface="Montserrat"/>
                <a:cs typeface="Montserrat"/>
                <a:sym typeface="Montserrat"/>
              </a:rPr>
              <a:t>. BÀI CHẤM HÀNG TUẦN</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9" name="Shape 399"/>
        <p:cNvGrpSpPr/>
        <p:nvPr/>
      </p:nvGrpSpPr>
      <p:grpSpPr>
        <a:xfrm>
          <a:off x="0" y="0"/>
          <a:ext cx="0" cy="0"/>
          <a:chOff x="0" y="0"/>
          <a:chExt cx="0" cy="0"/>
        </a:xfrm>
      </p:grpSpPr>
      <p:sp>
        <p:nvSpPr>
          <p:cNvPr id="400" name="Google Shape;400;p65"/>
          <p:cNvSpPr txBox="1"/>
          <p:nvPr>
            <p:ph idx="1" type="body"/>
          </p:nvPr>
        </p:nvSpPr>
        <p:spPr>
          <a:xfrm>
            <a:off x="2994125" y="1965375"/>
            <a:ext cx="52932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GB" sz="3200">
                <a:solidFill>
                  <a:schemeClr val="lt1"/>
                </a:solidFill>
                <a:latin typeface="Montserrat ExtraBold"/>
                <a:ea typeface="Montserrat ExtraBold"/>
                <a:cs typeface="Montserrat ExtraBold"/>
                <a:sym typeface="Montserrat ExtraBold"/>
              </a:rPr>
              <a:t>HƯỚNG DẪN CHẤM VÀ KHẮC PHỤC PHIẾU LỖI</a:t>
            </a:r>
            <a:endParaRPr b="1" sz="2900">
              <a:solidFill>
                <a:schemeClr val="lt1"/>
              </a:solidFill>
              <a:latin typeface="Montserrat ExtraBold"/>
              <a:ea typeface="Montserrat ExtraBold"/>
              <a:cs typeface="Montserrat ExtraBold"/>
              <a:sym typeface="Montserrat ExtraBold"/>
            </a:endParaRPr>
          </a:p>
        </p:txBody>
      </p:sp>
      <p:sp>
        <p:nvSpPr>
          <p:cNvPr id="401" name="Google Shape;401;p65"/>
          <p:cNvSpPr txBox="1"/>
          <p:nvPr/>
        </p:nvSpPr>
        <p:spPr>
          <a:xfrm>
            <a:off x="2530150" y="3465975"/>
            <a:ext cx="5784900" cy="11082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CÁCH THỨC CHẤM ĐIỂM TRÊN HRWS</a:t>
            </a:r>
            <a:endParaRPr b="0" i="0" sz="1500" u="none" cap="none" strike="noStrike">
              <a:solidFill>
                <a:srgbClr val="00467F"/>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HƯỚNG DẪN KHẮC PHỤC PHIẾU KHÔNG ĐẠT</a:t>
            </a:r>
            <a:endParaRPr b="0" i="0" sz="1500" u="none" cap="none" strike="noStrike">
              <a:solidFill>
                <a:srgbClr val="00467F"/>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CÁCH KHẮC PHỤC LỖI HỆ THỐNG THƯỜNG GẶP.</a:t>
            </a:r>
            <a:endParaRPr b="0" i="0" sz="1500" u="none" cap="none" strike="noStrike">
              <a:solidFill>
                <a:srgbClr val="00467F"/>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CÁC LƯU Ý VỀ BÀI CHẤM &amp; HỆ THỐNG.</a:t>
            </a:r>
            <a:endParaRPr b="0" i="0" sz="150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66"/>
          <p:cNvPicPr preferRelativeResize="0"/>
          <p:nvPr/>
        </p:nvPicPr>
        <p:blipFill rotWithShape="1">
          <a:blip r:embed="rId3">
            <a:alphaModFix/>
          </a:blip>
          <a:srcRect b="0" l="0" r="0" t="0"/>
          <a:stretch/>
        </p:blipFill>
        <p:spPr>
          <a:xfrm>
            <a:off x="4352025" y="827325"/>
            <a:ext cx="1781700" cy="3959400"/>
          </a:xfrm>
          <a:prstGeom prst="roundRect">
            <a:avLst>
              <a:gd fmla="val 8429" name="adj"/>
            </a:avLst>
          </a:prstGeom>
          <a:noFill/>
          <a:ln cap="flat" cmpd="sng" w="9525">
            <a:solidFill>
              <a:srgbClr val="1A3A97"/>
            </a:solidFill>
            <a:prstDash val="solid"/>
            <a:round/>
            <a:headEnd len="sm" w="sm" type="none"/>
            <a:tailEnd len="sm" w="sm" type="none"/>
          </a:ln>
        </p:spPr>
      </p:pic>
      <p:sp>
        <p:nvSpPr>
          <p:cNvPr id="407" name="Google Shape;407;p66"/>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A. CÁCH THỨC CHẤM ĐIỂM TRÊN HRWS</a:t>
            </a:r>
            <a:endParaRPr b="1" sz="2288">
              <a:solidFill>
                <a:srgbClr val="00467F"/>
              </a:solidFill>
              <a:latin typeface="Montserrat"/>
              <a:ea typeface="Montserrat"/>
              <a:cs typeface="Montserrat"/>
              <a:sym typeface="Montserrat"/>
            </a:endParaRPr>
          </a:p>
          <a:p>
            <a:pPr indent="0" lvl="0" marL="0" rtl="0" algn="l">
              <a:lnSpc>
                <a:spcPct val="100000"/>
              </a:lnSpc>
              <a:spcBef>
                <a:spcPts val="0"/>
              </a:spcBef>
              <a:spcAft>
                <a:spcPts val="0"/>
              </a:spcAft>
              <a:buSzPct val="259259"/>
              <a:buNone/>
            </a:pPr>
            <a:r>
              <a:rPr b="1" lang="en-GB" sz="1200">
                <a:solidFill>
                  <a:srgbClr val="2980B9"/>
                </a:solidFill>
                <a:latin typeface="Montserrat"/>
                <a:ea typeface="Montserrat"/>
                <a:cs typeface="Montserrat"/>
                <a:sym typeface="Montserrat"/>
              </a:rPr>
              <a:t>HƯỚNG DẪN THAO TÁC CHẤM BÀI HÀNG NGÀY &amp; HÀNG TUẦN</a:t>
            </a:r>
            <a:endParaRPr b="1" sz="1200">
              <a:solidFill>
                <a:srgbClr val="2980B9"/>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
        <p:nvSpPr>
          <p:cNvPr id="408" name="Google Shape;408;p66"/>
          <p:cNvSpPr txBox="1"/>
          <p:nvPr/>
        </p:nvSpPr>
        <p:spPr>
          <a:xfrm>
            <a:off x="1564879" y="3780164"/>
            <a:ext cx="912300" cy="1884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5F497A"/>
              </a:buClr>
              <a:buSzPts val="900"/>
              <a:buFont typeface="Arial"/>
              <a:buNone/>
            </a:pPr>
            <a:r>
              <a:rPr b="1" i="0" lang="en-GB" sz="900" u="none" cap="none" strike="noStrike">
                <a:solidFill>
                  <a:srgbClr val="FFFFFF"/>
                </a:solidFill>
                <a:latin typeface="Arial"/>
                <a:ea typeface="Arial"/>
                <a:cs typeface="Arial"/>
                <a:sym typeface="Arial"/>
              </a:rPr>
              <a:t>KHÁI NIỆM</a:t>
            </a:r>
            <a:endParaRPr b="1" i="0" sz="900" u="none" cap="none" strike="noStrike">
              <a:solidFill>
                <a:srgbClr val="FFFFFF"/>
              </a:solidFill>
              <a:latin typeface="Arial"/>
              <a:ea typeface="Arial"/>
              <a:cs typeface="Arial"/>
              <a:sym typeface="Arial"/>
            </a:endParaRPr>
          </a:p>
        </p:txBody>
      </p:sp>
      <p:sp>
        <p:nvSpPr>
          <p:cNvPr id="409" name="Google Shape;409;p66"/>
          <p:cNvSpPr/>
          <p:nvPr/>
        </p:nvSpPr>
        <p:spPr>
          <a:xfrm>
            <a:off x="3610056" y="2582121"/>
            <a:ext cx="540600" cy="333000"/>
          </a:xfrm>
          <a:prstGeom prst="rightArrow">
            <a:avLst>
              <a:gd fmla="val 50000" name="adj1"/>
              <a:gd fmla="val 50000" name="adj2"/>
            </a:avLst>
          </a:prstGeom>
          <a:solidFill>
            <a:srgbClr val="4372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FFFFFF"/>
              </a:solidFill>
              <a:latin typeface="Arial"/>
              <a:ea typeface="Arial"/>
              <a:cs typeface="Arial"/>
              <a:sym typeface="Arial"/>
            </a:endParaRPr>
          </a:p>
        </p:txBody>
      </p:sp>
      <p:sp>
        <p:nvSpPr>
          <p:cNvPr id="410" name="Google Shape;410;p66"/>
          <p:cNvSpPr/>
          <p:nvPr/>
        </p:nvSpPr>
        <p:spPr>
          <a:xfrm>
            <a:off x="227000" y="1857163"/>
            <a:ext cx="912300" cy="1795500"/>
          </a:xfrm>
          <a:prstGeom prst="roundRect">
            <a:avLst>
              <a:gd fmla="val 16667" name="adj"/>
            </a:avLst>
          </a:prstGeom>
          <a:gradFill>
            <a:gsLst>
              <a:gs pos="0">
                <a:srgbClr val="F08B54"/>
              </a:gs>
              <a:gs pos="50000">
                <a:srgbClr val="F67A26"/>
              </a:gs>
              <a:gs pos="100000">
                <a:srgbClr val="E36A18"/>
              </a:gs>
            </a:gsLst>
            <a:lin ang="5400012" scaled="0"/>
          </a:gradFill>
          <a:ln>
            <a:noFill/>
          </a:ln>
          <a:effectLst>
            <a:outerShdw blurRad="57150" rotWithShape="0" algn="ctr" dir="5400000" dist="19050">
              <a:srgbClr val="000000">
                <a:alpha val="61569"/>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11" name="Google Shape;411;p66"/>
          <p:cNvSpPr txBox="1"/>
          <p:nvPr/>
        </p:nvSpPr>
        <p:spPr>
          <a:xfrm>
            <a:off x="227001" y="1847088"/>
            <a:ext cx="912300" cy="1782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800"/>
              <a:buFont typeface="Arial"/>
              <a:buNone/>
            </a:pPr>
            <a:r>
              <a:rPr b="1" i="0" lang="en-GB" sz="1800" u="none" cap="none" strike="noStrike">
                <a:solidFill>
                  <a:srgbClr val="FFFFFF"/>
                </a:solidFill>
                <a:latin typeface="Montserrat"/>
                <a:ea typeface="Montserrat"/>
                <a:cs typeface="Montserrat"/>
                <a:sym typeface="Montserrat"/>
              </a:rPr>
              <a:t>CHẤM ĐIỂM </a:t>
            </a:r>
            <a:endParaRPr b="1" i="0" sz="1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1800"/>
              <a:buFont typeface="Arial"/>
              <a:buNone/>
            </a:pPr>
            <a:r>
              <a:rPr b="1" i="0" lang="en-GB" sz="1800" u="none" cap="none" strike="noStrike">
                <a:solidFill>
                  <a:srgbClr val="FFFFFF"/>
                </a:solidFill>
                <a:latin typeface="Montserrat"/>
                <a:ea typeface="Montserrat"/>
                <a:cs typeface="Montserrat"/>
                <a:sym typeface="Montserrat"/>
              </a:rPr>
              <a:t>ĐỊNH KỲ </a:t>
            </a:r>
            <a:endParaRPr b="1" i="0" sz="1400" u="none" cap="none" strike="noStrike">
              <a:solidFill>
                <a:srgbClr val="FFFFFF"/>
              </a:solidFill>
              <a:latin typeface="Montserrat"/>
              <a:ea typeface="Montserrat"/>
              <a:cs typeface="Montserrat"/>
              <a:sym typeface="Montserrat"/>
            </a:endParaRPr>
          </a:p>
        </p:txBody>
      </p:sp>
      <p:sp>
        <p:nvSpPr>
          <p:cNvPr id="412" name="Google Shape;412;p66"/>
          <p:cNvSpPr/>
          <p:nvPr/>
        </p:nvSpPr>
        <p:spPr>
          <a:xfrm>
            <a:off x="1183240" y="1857164"/>
            <a:ext cx="1345200" cy="1782900"/>
          </a:xfrm>
          <a:prstGeom prst="roundRect">
            <a:avLst>
              <a:gd fmla="val 16667" name="adj"/>
            </a:avLst>
          </a:prstGeom>
          <a:noFill/>
          <a:ln cap="flat" cmpd="sng" w="12700">
            <a:solidFill>
              <a:srgbClr val="EC7C3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Montserrat"/>
                <a:ea typeface="Montserrat"/>
                <a:cs typeface="Montserrat"/>
                <a:sym typeface="Montserrat"/>
              </a:rPr>
              <a:t>Bưu cục chấm điểm hàng ngày theo lịch.</a:t>
            </a:r>
            <a:endParaRPr b="1" i="0" sz="1800" u="none" cap="none" strike="noStrike">
              <a:solidFill>
                <a:srgbClr val="FFFFFF"/>
              </a:solidFill>
              <a:latin typeface="Montserrat"/>
              <a:ea typeface="Montserrat"/>
              <a:cs typeface="Montserrat"/>
              <a:sym typeface="Montserrat"/>
            </a:endParaRPr>
          </a:p>
        </p:txBody>
      </p:sp>
      <p:sp>
        <p:nvSpPr>
          <p:cNvPr id="413" name="Google Shape;413;p66"/>
          <p:cNvSpPr/>
          <p:nvPr/>
        </p:nvSpPr>
        <p:spPr>
          <a:xfrm>
            <a:off x="2583524" y="1857163"/>
            <a:ext cx="912300" cy="1782900"/>
          </a:xfrm>
          <a:prstGeom prst="roundRect">
            <a:avLst>
              <a:gd fmla="val 16667" name="adj"/>
            </a:avLst>
          </a:prstGeom>
          <a:noFill/>
          <a:ln cap="flat" cmpd="sng" w="12700">
            <a:solidFill>
              <a:srgbClr val="EC7C3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Montserrat"/>
              <a:ea typeface="Montserrat"/>
              <a:cs typeface="Montserrat"/>
              <a:sym typeface="Montserrat"/>
            </a:endParaRPr>
          </a:p>
          <a:p>
            <a:pPr indent="-127000" lvl="0" marL="127000" marR="0" rtl="0" algn="l">
              <a:lnSpc>
                <a:spcPct val="150000"/>
              </a:lnSpc>
              <a:spcBef>
                <a:spcPts val="0"/>
              </a:spcBef>
              <a:spcAft>
                <a:spcPts val="0"/>
              </a:spcAft>
              <a:buClr>
                <a:schemeClr val="dk1"/>
              </a:buClr>
              <a:buSzPts val="1400"/>
              <a:buFont typeface="Montserrat"/>
              <a:buChar char="•"/>
            </a:pPr>
            <a:r>
              <a:rPr b="0" i="0" lang="en-GB" sz="1400" u="none" cap="none" strike="noStrike">
                <a:solidFill>
                  <a:schemeClr val="dk1"/>
                </a:solidFill>
                <a:latin typeface="Montserrat"/>
                <a:ea typeface="Montserrat"/>
                <a:cs typeface="Montserrat"/>
                <a:sym typeface="Montserrat"/>
              </a:rPr>
              <a:t>TBC</a:t>
            </a:r>
            <a:endParaRPr b="0" i="0" sz="1400" u="none" cap="none" strike="noStrike">
              <a:solidFill>
                <a:schemeClr val="dk1"/>
              </a:solidFill>
              <a:latin typeface="Montserrat"/>
              <a:ea typeface="Montserrat"/>
              <a:cs typeface="Montserrat"/>
              <a:sym typeface="Montserrat"/>
            </a:endParaRPr>
          </a:p>
          <a:p>
            <a:pPr indent="-127000" lvl="0" marL="127000" marR="0" rtl="0" algn="l">
              <a:lnSpc>
                <a:spcPct val="150000"/>
              </a:lnSpc>
              <a:spcBef>
                <a:spcPts val="0"/>
              </a:spcBef>
              <a:spcAft>
                <a:spcPts val="0"/>
              </a:spcAft>
              <a:buClr>
                <a:schemeClr val="dk1"/>
              </a:buClr>
              <a:buSzPts val="1400"/>
              <a:buFont typeface="Montserrat"/>
              <a:buChar char="•"/>
            </a:pPr>
            <a:r>
              <a:rPr b="0" i="0" lang="en-GB" sz="1400" u="none" cap="none" strike="noStrike">
                <a:solidFill>
                  <a:schemeClr val="dk1"/>
                </a:solidFill>
                <a:latin typeface="Montserrat"/>
                <a:ea typeface="Montserrat"/>
                <a:cs typeface="Montserrat"/>
                <a:sym typeface="Montserrat"/>
              </a:rPr>
              <a:t>NVXL</a:t>
            </a:r>
            <a:endParaRPr b="0" i="0" sz="1400" u="none" cap="none" strike="noStrike">
              <a:solidFill>
                <a:schemeClr val="dk1"/>
              </a:solidFill>
              <a:latin typeface="Montserrat"/>
              <a:ea typeface="Montserrat"/>
              <a:cs typeface="Montserrat"/>
              <a:sym typeface="Montserrat"/>
            </a:endParaRPr>
          </a:p>
        </p:txBody>
      </p:sp>
      <p:sp>
        <p:nvSpPr>
          <p:cNvPr id="414" name="Google Shape;414;p66"/>
          <p:cNvSpPr/>
          <p:nvPr/>
        </p:nvSpPr>
        <p:spPr>
          <a:xfrm>
            <a:off x="5446675" y="4294598"/>
            <a:ext cx="243900" cy="2469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6"/>
          <p:cNvSpPr/>
          <p:nvPr/>
        </p:nvSpPr>
        <p:spPr>
          <a:xfrm>
            <a:off x="4624150" y="1320100"/>
            <a:ext cx="1470300" cy="6975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6" name="Google Shape;416;p66"/>
          <p:cNvCxnSpPr>
            <a:stCxn id="414" idx="3"/>
            <a:endCxn id="415" idx="2"/>
          </p:cNvCxnSpPr>
          <p:nvPr/>
        </p:nvCxnSpPr>
        <p:spPr>
          <a:xfrm rot="10800000">
            <a:off x="5359375" y="2017748"/>
            <a:ext cx="331200" cy="2400300"/>
          </a:xfrm>
          <a:prstGeom prst="straightConnector1">
            <a:avLst/>
          </a:prstGeom>
          <a:noFill/>
          <a:ln cap="flat" cmpd="sng" w="19050">
            <a:solidFill>
              <a:srgbClr val="FF0000"/>
            </a:solidFill>
            <a:prstDash val="solid"/>
            <a:round/>
            <a:headEnd len="sm" w="sm" type="none"/>
            <a:tailEnd len="med" w="med" type="triangle"/>
          </a:ln>
        </p:spPr>
      </p:cxnSp>
      <p:pic>
        <p:nvPicPr>
          <p:cNvPr id="417" name="Google Shape;417;p66"/>
          <p:cNvPicPr preferRelativeResize="0"/>
          <p:nvPr/>
        </p:nvPicPr>
        <p:blipFill rotWithShape="1">
          <a:blip r:embed="rId4">
            <a:alphaModFix/>
          </a:blip>
          <a:srcRect b="0" l="0" r="0" t="0"/>
          <a:stretch/>
        </p:blipFill>
        <p:spPr>
          <a:xfrm>
            <a:off x="6469925" y="855350"/>
            <a:ext cx="1781700" cy="3959700"/>
          </a:xfrm>
          <a:prstGeom prst="roundRect">
            <a:avLst>
              <a:gd fmla="val 5949" name="adj"/>
            </a:avLst>
          </a:prstGeom>
          <a:noFill/>
          <a:ln cap="flat" cmpd="sng" w="9525">
            <a:solidFill>
              <a:srgbClr val="1A3A97"/>
            </a:solidFill>
            <a:prstDash val="solid"/>
            <a:round/>
            <a:headEnd len="sm" w="sm" type="none"/>
            <a:tailEnd len="sm" w="sm" type="none"/>
          </a:ln>
        </p:spPr>
      </p:pic>
      <p:sp>
        <p:nvSpPr>
          <p:cNvPr id="418" name="Google Shape;418;p66"/>
          <p:cNvSpPr/>
          <p:nvPr/>
        </p:nvSpPr>
        <p:spPr>
          <a:xfrm>
            <a:off x="6892700" y="2449200"/>
            <a:ext cx="1018800" cy="2451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9" name="Google Shape;419;p66"/>
          <p:cNvCxnSpPr/>
          <p:nvPr/>
        </p:nvCxnSpPr>
        <p:spPr>
          <a:xfrm rot="10800000">
            <a:off x="7547525" y="2694300"/>
            <a:ext cx="679200" cy="63090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67" title="Screenshot_50.png"/>
          <p:cNvPicPr preferRelativeResize="0"/>
          <p:nvPr/>
        </p:nvPicPr>
        <p:blipFill rotWithShape="1">
          <a:blip r:embed="rId3">
            <a:alphaModFix/>
          </a:blip>
          <a:srcRect b="1324" l="0" r="0" t="1314"/>
          <a:stretch/>
        </p:blipFill>
        <p:spPr>
          <a:xfrm>
            <a:off x="2012447" y="1041043"/>
            <a:ext cx="1666564" cy="3441290"/>
          </a:xfrm>
          <a:prstGeom prst="rect">
            <a:avLst/>
          </a:prstGeom>
          <a:noFill/>
          <a:ln cap="flat" cmpd="sng" w="19050">
            <a:solidFill>
              <a:srgbClr val="0056B3"/>
            </a:solidFill>
            <a:prstDash val="solid"/>
            <a:round/>
            <a:headEnd len="sm" w="sm" type="none"/>
            <a:tailEnd len="sm" w="sm" type="none"/>
          </a:ln>
        </p:spPr>
      </p:pic>
      <p:pic>
        <p:nvPicPr>
          <p:cNvPr id="425" name="Google Shape;425;p67" title="photo_2025-03-31_13-17-29.jpg"/>
          <p:cNvPicPr preferRelativeResize="0"/>
          <p:nvPr/>
        </p:nvPicPr>
        <p:blipFill rotWithShape="1">
          <a:blip r:embed="rId4">
            <a:alphaModFix/>
          </a:blip>
          <a:srcRect b="3086" l="0" r="0" t="3086"/>
          <a:stretch/>
        </p:blipFill>
        <p:spPr>
          <a:xfrm>
            <a:off x="5523711" y="1024250"/>
            <a:ext cx="1666564" cy="3474877"/>
          </a:xfrm>
          <a:prstGeom prst="rect">
            <a:avLst/>
          </a:prstGeom>
          <a:noFill/>
          <a:ln cap="flat" cmpd="sng" w="19050">
            <a:solidFill>
              <a:srgbClr val="0056B3"/>
            </a:solidFill>
            <a:prstDash val="solid"/>
            <a:round/>
            <a:headEnd len="sm" w="sm" type="none"/>
            <a:tailEnd len="sm" w="sm" type="none"/>
          </a:ln>
        </p:spPr>
      </p:pic>
      <p:pic>
        <p:nvPicPr>
          <p:cNvPr id="426" name="Google Shape;426;p67" title="Screenshot_48.png"/>
          <p:cNvPicPr preferRelativeResize="0"/>
          <p:nvPr/>
        </p:nvPicPr>
        <p:blipFill rotWithShape="1">
          <a:blip r:embed="rId5">
            <a:alphaModFix/>
          </a:blip>
          <a:srcRect b="0" l="0" r="0" t="1497"/>
          <a:stretch/>
        </p:blipFill>
        <p:spPr>
          <a:xfrm>
            <a:off x="256800" y="1041050"/>
            <a:ext cx="1666576" cy="3441274"/>
          </a:xfrm>
          <a:prstGeom prst="rect">
            <a:avLst/>
          </a:prstGeom>
          <a:noFill/>
          <a:ln cap="flat" cmpd="sng" w="19050">
            <a:solidFill>
              <a:srgbClr val="0056B3"/>
            </a:solidFill>
            <a:prstDash val="solid"/>
            <a:round/>
            <a:headEnd len="sm" w="sm" type="none"/>
            <a:tailEnd len="sm" w="sm" type="none"/>
          </a:ln>
        </p:spPr>
      </p:pic>
      <p:pic>
        <p:nvPicPr>
          <p:cNvPr id="427" name="Google Shape;427;p67" title="Screenshot_51.png"/>
          <p:cNvPicPr preferRelativeResize="0"/>
          <p:nvPr/>
        </p:nvPicPr>
        <p:blipFill rotWithShape="1">
          <a:blip r:embed="rId6">
            <a:alphaModFix/>
          </a:blip>
          <a:srcRect b="553" l="0" r="0" t="543"/>
          <a:stretch/>
        </p:blipFill>
        <p:spPr>
          <a:xfrm>
            <a:off x="3768066" y="1024247"/>
            <a:ext cx="1666564" cy="3474876"/>
          </a:xfrm>
          <a:prstGeom prst="rect">
            <a:avLst/>
          </a:prstGeom>
          <a:noFill/>
          <a:ln cap="flat" cmpd="sng" w="19050">
            <a:solidFill>
              <a:srgbClr val="0056B3"/>
            </a:solidFill>
            <a:prstDash val="solid"/>
            <a:round/>
            <a:headEnd len="sm" w="sm" type="none"/>
            <a:tailEnd len="sm" w="sm" type="none"/>
          </a:ln>
        </p:spPr>
      </p:pic>
      <p:pic>
        <p:nvPicPr>
          <p:cNvPr id="428" name="Google Shape;428;p67" title="photo_2025-03-31_13-17-29 (2).jpg"/>
          <p:cNvPicPr preferRelativeResize="0"/>
          <p:nvPr/>
        </p:nvPicPr>
        <p:blipFill rotWithShape="1">
          <a:blip r:embed="rId7">
            <a:alphaModFix/>
          </a:blip>
          <a:srcRect b="3086" l="0" r="0" t="3086"/>
          <a:stretch/>
        </p:blipFill>
        <p:spPr>
          <a:xfrm>
            <a:off x="7279361" y="1007450"/>
            <a:ext cx="1666564" cy="3474877"/>
          </a:xfrm>
          <a:prstGeom prst="rect">
            <a:avLst/>
          </a:prstGeom>
          <a:noFill/>
          <a:ln cap="flat" cmpd="sng" w="19050">
            <a:solidFill>
              <a:srgbClr val="0056B3"/>
            </a:solidFill>
            <a:prstDash val="solid"/>
            <a:round/>
            <a:headEnd len="sm" w="sm" type="none"/>
            <a:tailEnd len="sm" w="sm" type="none"/>
          </a:ln>
        </p:spPr>
      </p:pic>
      <p:sp>
        <p:nvSpPr>
          <p:cNvPr id="429" name="Google Shape;429;p67"/>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B. HƯỚNG DẪN KHẮC PHỤC PHIẾU KHÔNG ĐẠT</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8"/>
          <p:cNvSpPr txBox="1"/>
          <p:nvPr/>
        </p:nvSpPr>
        <p:spPr>
          <a:xfrm>
            <a:off x="-87075" y="852875"/>
            <a:ext cx="2839500" cy="277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Montserrat"/>
              <a:buChar char="-"/>
            </a:pPr>
            <a:r>
              <a:rPr b="0" i="0" lang="en-GB" sz="1400" u="none" cap="none" strike="noStrike">
                <a:solidFill>
                  <a:srgbClr val="000000"/>
                </a:solidFill>
                <a:latin typeface="Montserrat"/>
                <a:ea typeface="Montserrat"/>
                <a:cs typeface="Montserrat"/>
                <a:sym typeface="Montserrat"/>
              </a:rPr>
              <a:t>Không đăng nhập được</a:t>
            </a:r>
            <a:endParaRPr b="0" i="0" sz="1400" u="none" cap="none" strike="noStrike">
              <a:solidFill>
                <a:srgbClr val="000000"/>
              </a:solidFill>
              <a:latin typeface="Montserrat"/>
              <a:ea typeface="Montserrat"/>
              <a:cs typeface="Montserrat"/>
              <a:sym typeface="Montserrat"/>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GB" sz="1400" u="none" cap="none" strike="noStrike">
                <a:solidFill>
                  <a:srgbClr val="000000"/>
                </a:solidFill>
                <a:latin typeface="Montserrat"/>
                <a:ea typeface="Montserrat"/>
                <a:cs typeface="Montserrat"/>
                <a:sym typeface="Montserrat"/>
              </a:rPr>
              <a:t>Đang chấm bị dừng bài chấm</a:t>
            </a:r>
            <a:endParaRPr b="0" i="0" sz="1400" u="none" cap="none" strike="noStrike">
              <a:solidFill>
                <a:srgbClr val="000000"/>
              </a:solidFill>
              <a:latin typeface="Montserrat"/>
              <a:ea typeface="Montserrat"/>
              <a:cs typeface="Montserrat"/>
              <a:sym typeface="Montserrat"/>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GB" sz="1400" u="none" cap="none" strike="noStrike">
                <a:solidFill>
                  <a:srgbClr val="000000"/>
                </a:solidFill>
                <a:latin typeface="Montserrat"/>
                <a:ea typeface="Montserrat"/>
                <a:cs typeface="Montserrat"/>
                <a:sym typeface="Montserrat"/>
              </a:rPr>
              <a:t>Đang chấm bị thoát ứng dụng</a:t>
            </a:r>
            <a:endParaRPr b="0" i="0" sz="1400" u="none" cap="none" strike="noStrike">
              <a:solidFill>
                <a:srgbClr val="000000"/>
              </a:solidFill>
              <a:latin typeface="Montserrat"/>
              <a:ea typeface="Montserrat"/>
              <a:cs typeface="Montserrat"/>
              <a:sym typeface="Montserrat"/>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GB" sz="1400" u="none" cap="none" strike="noStrike">
                <a:solidFill>
                  <a:srgbClr val="000000"/>
                </a:solidFill>
                <a:latin typeface="Montserrat"/>
                <a:ea typeface="Montserrat"/>
                <a:cs typeface="Montserrat"/>
                <a:sym typeface="Montserrat"/>
              </a:rPr>
              <a:t>Đang Up ảnh bị thoát ra</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GB" sz="1400" u="none" cap="none" strike="noStrike">
                <a:solidFill>
                  <a:srgbClr val="000000"/>
                </a:solidFill>
                <a:latin typeface="Montserrat"/>
                <a:ea typeface="Montserrat"/>
                <a:cs typeface="Montserrat"/>
                <a:sym typeface="Montserrat"/>
              </a:rPr>
              <a:t>Màn hình ứng dụng trắng xoá</a:t>
            </a:r>
            <a:endParaRPr b="0" i="0" sz="1400" u="none" cap="none" strike="noStrike">
              <a:solidFill>
                <a:srgbClr val="000000"/>
              </a:solidFill>
              <a:latin typeface="Montserrat"/>
              <a:ea typeface="Montserrat"/>
              <a:cs typeface="Montserrat"/>
              <a:sym typeface="Montserrat"/>
            </a:endParaRPr>
          </a:p>
        </p:txBody>
      </p:sp>
      <p:pic>
        <p:nvPicPr>
          <p:cNvPr id="435" name="Google Shape;435;p68"/>
          <p:cNvPicPr preferRelativeResize="0"/>
          <p:nvPr/>
        </p:nvPicPr>
        <p:blipFill rotWithShape="1">
          <a:blip r:embed="rId3">
            <a:alphaModFix/>
          </a:blip>
          <a:srcRect b="0" l="0" r="0" t="0"/>
          <a:stretch/>
        </p:blipFill>
        <p:spPr>
          <a:xfrm>
            <a:off x="2866975" y="848292"/>
            <a:ext cx="1920900" cy="4043700"/>
          </a:xfrm>
          <a:prstGeom prst="roundRect">
            <a:avLst>
              <a:gd fmla="val 6425" name="adj"/>
            </a:avLst>
          </a:prstGeom>
          <a:noFill/>
          <a:ln>
            <a:noFill/>
          </a:ln>
        </p:spPr>
      </p:pic>
      <p:pic>
        <p:nvPicPr>
          <p:cNvPr id="436" name="Google Shape;436;p68"/>
          <p:cNvPicPr preferRelativeResize="0"/>
          <p:nvPr/>
        </p:nvPicPr>
        <p:blipFill rotWithShape="1">
          <a:blip r:embed="rId4">
            <a:alphaModFix/>
          </a:blip>
          <a:srcRect b="0" l="0" r="0" t="0"/>
          <a:stretch/>
        </p:blipFill>
        <p:spPr>
          <a:xfrm>
            <a:off x="4936026" y="848308"/>
            <a:ext cx="1920900" cy="4043700"/>
          </a:xfrm>
          <a:prstGeom prst="roundRect">
            <a:avLst>
              <a:gd fmla="val 6520" name="adj"/>
            </a:avLst>
          </a:prstGeom>
          <a:noFill/>
          <a:ln>
            <a:noFill/>
          </a:ln>
        </p:spPr>
      </p:pic>
      <p:pic>
        <p:nvPicPr>
          <p:cNvPr id="437" name="Google Shape;437;p68"/>
          <p:cNvPicPr preferRelativeResize="0"/>
          <p:nvPr/>
        </p:nvPicPr>
        <p:blipFill rotWithShape="1">
          <a:blip r:embed="rId5">
            <a:alphaModFix/>
          </a:blip>
          <a:srcRect b="0" l="0" r="0" t="0"/>
          <a:stretch/>
        </p:blipFill>
        <p:spPr>
          <a:xfrm>
            <a:off x="7005075" y="848275"/>
            <a:ext cx="1920900" cy="4043700"/>
          </a:xfrm>
          <a:prstGeom prst="roundRect">
            <a:avLst>
              <a:gd fmla="val 5836" name="adj"/>
            </a:avLst>
          </a:prstGeom>
          <a:noFill/>
          <a:ln>
            <a:noFill/>
          </a:ln>
        </p:spPr>
      </p:pic>
      <p:sp>
        <p:nvSpPr>
          <p:cNvPr id="438" name="Google Shape;438;p68"/>
          <p:cNvSpPr txBox="1"/>
          <p:nvPr/>
        </p:nvSpPr>
        <p:spPr>
          <a:xfrm>
            <a:off x="141525" y="3535775"/>
            <a:ext cx="24318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=&gt; Xoá dữ liệu trình duyệt, xoá app cũ, tải phiên bản mới nhất, kiểm tra lại chất lượng mạng, hoặc thay đổi qua máy bạn khác chấm thử.</a:t>
            </a:r>
            <a:endParaRPr b="0" i="0" sz="1400" u="none" cap="none" strike="noStrike">
              <a:solidFill>
                <a:srgbClr val="000000"/>
              </a:solidFill>
              <a:latin typeface="Montserrat"/>
              <a:ea typeface="Montserrat"/>
              <a:cs typeface="Montserrat"/>
              <a:sym typeface="Montserrat"/>
            </a:endParaRPr>
          </a:p>
        </p:txBody>
      </p:sp>
      <p:sp>
        <p:nvSpPr>
          <p:cNvPr id="439" name="Google Shape;439;p68"/>
          <p:cNvSpPr/>
          <p:nvPr/>
        </p:nvSpPr>
        <p:spPr>
          <a:xfrm>
            <a:off x="2894725" y="3157375"/>
            <a:ext cx="1809900" cy="279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8"/>
          <p:cNvSpPr/>
          <p:nvPr/>
        </p:nvSpPr>
        <p:spPr>
          <a:xfrm>
            <a:off x="4991500" y="2760850"/>
            <a:ext cx="1809900" cy="279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8"/>
          <p:cNvSpPr/>
          <p:nvPr/>
        </p:nvSpPr>
        <p:spPr>
          <a:xfrm>
            <a:off x="7060563" y="4135025"/>
            <a:ext cx="1809900" cy="279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8"/>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8058"/>
              <a:buFont typeface="Arial"/>
              <a:buNone/>
            </a:pPr>
            <a:r>
              <a:rPr b="1" lang="en-GB" sz="2288">
                <a:solidFill>
                  <a:srgbClr val="00467F"/>
                </a:solidFill>
                <a:latin typeface="Montserrat"/>
                <a:ea typeface="Montserrat"/>
                <a:cs typeface="Montserrat"/>
                <a:sym typeface="Montserrat"/>
              </a:rPr>
              <a:t>C. CÁCH KHẮC PHỤC LỖI - TRÊN IOS</a:t>
            </a:r>
            <a:endParaRPr b="1" sz="2288">
              <a:solidFill>
                <a:srgbClr val="00467F"/>
              </a:solidFill>
              <a:latin typeface="Montserrat"/>
              <a:ea typeface="Montserrat"/>
              <a:cs typeface="Montserrat"/>
              <a:sym typeface="Montserrat"/>
            </a:endParaRPr>
          </a:p>
          <a:p>
            <a:pPr indent="0" lvl="0" marL="0" rtl="0" algn="l">
              <a:lnSpc>
                <a:spcPct val="100000"/>
              </a:lnSpc>
              <a:spcBef>
                <a:spcPts val="0"/>
              </a:spcBef>
              <a:spcAft>
                <a:spcPts val="0"/>
              </a:spcAft>
              <a:buSzPct val="135975"/>
              <a:buNone/>
            </a:pPr>
            <a:r>
              <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69"/>
          <p:cNvPicPr preferRelativeResize="0"/>
          <p:nvPr/>
        </p:nvPicPr>
        <p:blipFill rotWithShape="1">
          <a:blip r:embed="rId3">
            <a:alphaModFix/>
          </a:blip>
          <a:srcRect b="9363" l="0" r="0" t="11422"/>
          <a:stretch/>
        </p:blipFill>
        <p:spPr>
          <a:xfrm>
            <a:off x="302074" y="1493278"/>
            <a:ext cx="8405075" cy="3452198"/>
          </a:xfrm>
          <a:prstGeom prst="rect">
            <a:avLst/>
          </a:prstGeom>
          <a:noFill/>
          <a:ln>
            <a:noFill/>
          </a:ln>
        </p:spPr>
      </p:pic>
      <p:sp>
        <p:nvSpPr>
          <p:cNvPr id="448" name="Google Shape;448;p69"/>
          <p:cNvSpPr txBox="1"/>
          <p:nvPr/>
        </p:nvSpPr>
        <p:spPr>
          <a:xfrm>
            <a:off x="302025" y="881125"/>
            <a:ext cx="840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Xóa Cache của Chrome: </a:t>
            </a:r>
            <a:r>
              <a:rPr b="0" i="0" lang="en-GB" sz="1400" u="sng" cap="none" strike="noStrike">
                <a:solidFill>
                  <a:schemeClr val="hlink"/>
                </a:solidFill>
                <a:highlight>
                  <a:srgbClr val="F9F9F9"/>
                </a:highlight>
                <a:latin typeface="Montserrat"/>
                <a:ea typeface="Montserrat"/>
                <a:cs typeface="Montserrat"/>
                <a:sym typeface="Montserrat"/>
                <a:hlinkClick r:id="rId4"/>
              </a:rPr>
              <a:t>https://www.youtube.com/watch?v=hi6JuZp7dHY</a:t>
            </a:r>
            <a:endParaRPr b="0" i="0" sz="1400" u="none" cap="none" strike="noStrike">
              <a:solidFill>
                <a:srgbClr val="000000"/>
              </a:solidFill>
              <a:latin typeface="Montserrat"/>
              <a:ea typeface="Montserrat"/>
              <a:cs typeface="Montserrat"/>
              <a:sym typeface="Montserrat"/>
            </a:endParaRPr>
          </a:p>
        </p:txBody>
      </p:sp>
      <p:sp>
        <p:nvSpPr>
          <p:cNvPr id="449" name="Google Shape;449;p69"/>
          <p:cNvSpPr txBox="1"/>
          <p:nvPr/>
        </p:nvSpPr>
        <p:spPr>
          <a:xfrm>
            <a:off x="302025" y="1241554"/>
            <a:ext cx="840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Xóa Cache của App HRW: </a:t>
            </a:r>
            <a:r>
              <a:rPr b="0" i="0" lang="en-GB" sz="1400" u="sng" cap="none" strike="noStrike">
                <a:solidFill>
                  <a:schemeClr val="hlink"/>
                </a:solidFill>
                <a:highlight>
                  <a:srgbClr val="F9F9F9"/>
                </a:highlight>
                <a:latin typeface="Montserrat"/>
                <a:ea typeface="Montserrat"/>
                <a:cs typeface="Montserrat"/>
                <a:sym typeface="Montserrat"/>
                <a:hlinkClick r:id="rId5"/>
              </a:rPr>
              <a:t>https://www.youtube.com/watch?v=yGQv5mCZfmU</a:t>
            </a:r>
            <a:endParaRPr b="0" i="0" sz="1400" u="none" cap="none" strike="noStrike">
              <a:solidFill>
                <a:srgbClr val="000000"/>
              </a:solidFill>
              <a:latin typeface="Montserrat"/>
              <a:ea typeface="Montserrat"/>
              <a:cs typeface="Montserrat"/>
              <a:sym typeface="Montserrat"/>
            </a:endParaRPr>
          </a:p>
        </p:txBody>
      </p:sp>
      <p:sp>
        <p:nvSpPr>
          <p:cNvPr id="450" name="Google Shape;450;p69"/>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C. CÁCH KHẮC PHỤC LỖI - TRÊN ANDROID</a:t>
            </a:r>
            <a:endParaRPr b="1" sz="2288">
              <a:solidFill>
                <a:srgbClr val="00467F"/>
              </a:solidFill>
              <a:latin typeface="Montserrat"/>
              <a:ea typeface="Montserrat"/>
              <a:cs typeface="Montserrat"/>
              <a:sym typeface="Montserrat"/>
            </a:endParaRPr>
          </a:p>
          <a:p>
            <a:pPr indent="0" lvl="0" marL="0" rtl="0" algn="l">
              <a:lnSpc>
                <a:spcPct val="100000"/>
              </a:lnSpc>
              <a:spcBef>
                <a:spcPts val="0"/>
              </a:spcBef>
              <a:spcAft>
                <a:spcPts val="0"/>
              </a:spcAft>
              <a:buSzPct val="135975"/>
              <a:buNone/>
            </a:pPr>
            <a:r>
              <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0"/>
          <p:cNvSpPr txBox="1"/>
          <p:nvPr/>
        </p:nvSpPr>
        <p:spPr>
          <a:xfrm>
            <a:off x="391543" y="783976"/>
            <a:ext cx="6874500" cy="3240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rgbClr val="0056B3"/>
              </a:buClr>
              <a:buSzPts val="1600"/>
              <a:buFont typeface="Montserrat"/>
              <a:buAutoNum type="arabicPeriod"/>
            </a:pPr>
            <a:r>
              <a:rPr b="1" i="0" lang="en-GB" sz="1600" u="none" cap="none" strike="noStrike">
                <a:solidFill>
                  <a:srgbClr val="0056B3"/>
                </a:solidFill>
                <a:latin typeface="Montserrat"/>
                <a:ea typeface="Montserrat"/>
                <a:cs typeface="Montserrat"/>
                <a:sym typeface="Montserrat"/>
              </a:rPr>
              <a:t>CÁCH TÌM BÀI CHẤM VÀ PHIẾU KHÔNG ĐẠT</a:t>
            </a:r>
            <a:endParaRPr b="1" i="0" sz="1600" u="none" cap="none" strike="noStrike">
              <a:solidFill>
                <a:srgbClr val="0056B3"/>
              </a:solidFill>
              <a:latin typeface="Montserrat"/>
              <a:ea typeface="Montserrat"/>
              <a:cs typeface="Montserrat"/>
              <a:sym typeface="Montserrat"/>
            </a:endParaRPr>
          </a:p>
        </p:txBody>
      </p:sp>
      <p:pic>
        <p:nvPicPr>
          <p:cNvPr id="456" name="Google Shape;456;p70" title="Screenshot_56.png"/>
          <p:cNvPicPr preferRelativeResize="0"/>
          <p:nvPr/>
        </p:nvPicPr>
        <p:blipFill rotWithShape="1">
          <a:blip r:embed="rId3">
            <a:alphaModFix/>
          </a:blip>
          <a:srcRect b="7792" l="0" r="0" t="7783"/>
          <a:stretch/>
        </p:blipFill>
        <p:spPr>
          <a:xfrm>
            <a:off x="5146181" y="3053828"/>
            <a:ext cx="3655767" cy="1615021"/>
          </a:xfrm>
          <a:prstGeom prst="rect">
            <a:avLst/>
          </a:prstGeom>
          <a:noFill/>
          <a:ln cap="flat" cmpd="sng" w="19050">
            <a:solidFill>
              <a:schemeClr val="accent4"/>
            </a:solidFill>
            <a:prstDash val="solid"/>
            <a:round/>
            <a:headEnd len="sm" w="sm" type="none"/>
            <a:tailEnd len="sm" w="sm" type="none"/>
          </a:ln>
        </p:spPr>
      </p:pic>
      <p:pic>
        <p:nvPicPr>
          <p:cNvPr id="457" name="Google Shape;457;p70" title="Screenshot_59.png"/>
          <p:cNvPicPr preferRelativeResize="0"/>
          <p:nvPr/>
        </p:nvPicPr>
        <p:blipFill rotWithShape="1">
          <a:blip r:embed="rId4">
            <a:alphaModFix/>
          </a:blip>
          <a:srcRect b="5483" l="0" r="0" t="5492"/>
          <a:stretch/>
        </p:blipFill>
        <p:spPr>
          <a:xfrm>
            <a:off x="5146185" y="1353555"/>
            <a:ext cx="3655765" cy="1615018"/>
          </a:xfrm>
          <a:prstGeom prst="rect">
            <a:avLst/>
          </a:prstGeom>
          <a:noFill/>
          <a:ln cap="flat" cmpd="sng" w="19050">
            <a:solidFill>
              <a:schemeClr val="accent4"/>
            </a:solidFill>
            <a:prstDash val="solid"/>
            <a:round/>
            <a:headEnd len="sm" w="sm" type="none"/>
            <a:tailEnd len="sm" w="sm" type="none"/>
          </a:ln>
        </p:spPr>
      </p:pic>
      <p:sp>
        <p:nvSpPr>
          <p:cNvPr id="458" name="Google Shape;458;p70"/>
          <p:cNvSpPr txBox="1"/>
          <p:nvPr/>
        </p:nvSpPr>
        <p:spPr>
          <a:xfrm>
            <a:off x="307702" y="1215959"/>
            <a:ext cx="370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9" name="Google Shape;459;p70"/>
          <p:cNvPicPr preferRelativeResize="0"/>
          <p:nvPr/>
        </p:nvPicPr>
        <p:blipFill rotWithShape="1">
          <a:blip r:embed="rId5">
            <a:alphaModFix/>
          </a:blip>
          <a:srcRect b="10" l="0" r="8575" t="0"/>
          <a:stretch/>
        </p:blipFill>
        <p:spPr>
          <a:xfrm>
            <a:off x="307702" y="1169660"/>
            <a:ext cx="1583430" cy="323972"/>
          </a:xfrm>
          <a:prstGeom prst="rect">
            <a:avLst/>
          </a:prstGeom>
          <a:noFill/>
          <a:ln>
            <a:noFill/>
          </a:ln>
        </p:spPr>
      </p:pic>
      <p:sp>
        <p:nvSpPr>
          <p:cNvPr id="460" name="Google Shape;460;p70"/>
          <p:cNvSpPr txBox="1"/>
          <p:nvPr/>
        </p:nvSpPr>
        <p:spPr>
          <a:xfrm>
            <a:off x="260325" y="1555300"/>
            <a:ext cx="4586400" cy="12006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000000"/>
              </a:buClr>
              <a:buSzPts val="1200"/>
              <a:buFont typeface="Montserrat"/>
              <a:buChar char="-"/>
            </a:pPr>
            <a:r>
              <a:rPr b="0" i="0" lang="en-GB" sz="1200" u="none" cap="none" strike="noStrike">
                <a:solidFill>
                  <a:srgbClr val="000000"/>
                </a:solidFill>
                <a:latin typeface="Montserrat"/>
                <a:ea typeface="Montserrat"/>
                <a:cs typeface="Montserrat"/>
                <a:sym typeface="Montserrat"/>
              </a:rPr>
              <a:t>Kiểm soát được các bài chấm định kỳ, hoặc bài chấm chấm chủ động tạo ra.</a:t>
            </a:r>
            <a:endParaRPr b="0" i="0" sz="1200" u="none" cap="none" strike="noStrike">
              <a:solidFill>
                <a:srgbClr val="000000"/>
              </a:solidFill>
              <a:latin typeface="Montserrat"/>
              <a:ea typeface="Montserrat"/>
              <a:cs typeface="Montserrat"/>
              <a:sym typeface="Montserrat"/>
            </a:endParaRPr>
          </a:p>
          <a:p>
            <a:pPr indent="-304800" lvl="0" marL="457200" marR="0" rtl="0" algn="l">
              <a:lnSpc>
                <a:spcPct val="150000"/>
              </a:lnSpc>
              <a:spcBef>
                <a:spcPts val="0"/>
              </a:spcBef>
              <a:spcAft>
                <a:spcPts val="0"/>
              </a:spcAft>
              <a:buClr>
                <a:srgbClr val="000000"/>
              </a:buClr>
              <a:buSzPts val="1200"/>
              <a:buFont typeface="Montserrat"/>
              <a:buChar char="-"/>
            </a:pPr>
            <a:r>
              <a:rPr b="0" i="0" lang="en-GB" sz="1200" u="none" cap="none" strike="noStrike">
                <a:solidFill>
                  <a:srgbClr val="000000"/>
                </a:solidFill>
                <a:latin typeface="Montserrat"/>
                <a:ea typeface="Montserrat"/>
                <a:cs typeface="Montserrat"/>
                <a:sym typeface="Montserrat"/>
              </a:rPr>
              <a:t>Có thể dùng mục </a:t>
            </a:r>
            <a:r>
              <a:rPr b="1" i="0" lang="en-GB" sz="1200" u="none" cap="none" strike="noStrike">
                <a:solidFill>
                  <a:srgbClr val="000000"/>
                </a:solidFill>
                <a:latin typeface="Montserrat"/>
                <a:ea typeface="Montserrat"/>
                <a:cs typeface="Montserrat"/>
                <a:sym typeface="Montserrat"/>
              </a:rPr>
              <a:t>[Bộ lọc]</a:t>
            </a:r>
            <a:r>
              <a:rPr b="0" i="0" lang="en-GB" sz="1200" u="none" cap="none" strike="noStrike">
                <a:solidFill>
                  <a:srgbClr val="000000"/>
                </a:solidFill>
                <a:latin typeface="Montserrat"/>
                <a:ea typeface="Montserrat"/>
                <a:cs typeface="Montserrat"/>
                <a:sym typeface="Montserrat"/>
              </a:rPr>
              <a:t> để tìm lại các bài chấm đã chấm và </a:t>
            </a:r>
            <a:r>
              <a:rPr b="1" i="0" lang="en-GB" sz="1200" u="none" cap="none" strike="noStrike">
                <a:solidFill>
                  <a:srgbClr val="FF0000"/>
                </a:solidFill>
                <a:latin typeface="Montserrat"/>
                <a:ea typeface="Montserrat"/>
                <a:cs typeface="Montserrat"/>
                <a:sym typeface="Montserrat"/>
              </a:rPr>
              <a:t>chưa chấm</a:t>
            </a:r>
            <a:r>
              <a:rPr b="0" i="0" lang="en-GB" sz="1200" u="none" cap="none" strike="noStrike">
                <a:solidFill>
                  <a:srgbClr val="000000"/>
                </a:solidFill>
                <a:latin typeface="Montserrat"/>
                <a:ea typeface="Montserrat"/>
                <a:cs typeface="Montserrat"/>
                <a:sym typeface="Montserrat"/>
              </a:rPr>
              <a:t> trong KV quản lý.</a:t>
            </a:r>
            <a:endParaRPr b="0" i="0" sz="1200" u="none" cap="none" strike="noStrike">
              <a:solidFill>
                <a:srgbClr val="000000"/>
              </a:solidFill>
              <a:latin typeface="Montserrat"/>
              <a:ea typeface="Montserrat"/>
              <a:cs typeface="Montserrat"/>
              <a:sym typeface="Montserrat"/>
            </a:endParaRPr>
          </a:p>
        </p:txBody>
      </p:sp>
      <p:pic>
        <p:nvPicPr>
          <p:cNvPr id="461" name="Google Shape;461;p70"/>
          <p:cNvPicPr preferRelativeResize="0"/>
          <p:nvPr/>
        </p:nvPicPr>
        <p:blipFill rotWithShape="1">
          <a:blip r:embed="rId6">
            <a:alphaModFix/>
          </a:blip>
          <a:srcRect b="0" l="0" r="0" t="0"/>
          <a:stretch/>
        </p:blipFill>
        <p:spPr>
          <a:xfrm>
            <a:off x="322443" y="2805894"/>
            <a:ext cx="1553943" cy="331171"/>
          </a:xfrm>
          <a:prstGeom prst="rect">
            <a:avLst/>
          </a:prstGeom>
          <a:noFill/>
          <a:ln>
            <a:noFill/>
          </a:ln>
        </p:spPr>
      </p:pic>
      <p:sp>
        <p:nvSpPr>
          <p:cNvPr id="462" name="Google Shape;462;p70"/>
          <p:cNvSpPr txBox="1"/>
          <p:nvPr/>
        </p:nvSpPr>
        <p:spPr>
          <a:xfrm>
            <a:off x="260325" y="3091300"/>
            <a:ext cx="4885800" cy="15084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000000"/>
              </a:buClr>
              <a:buSzPts val="1200"/>
              <a:buFont typeface="Montserrat"/>
              <a:buChar char="-"/>
            </a:pPr>
            <a:r>
              <a:rPr b="0" i="0" lang="en-GB" sz="1200" u="none" cap="none" strike="noStrike">
                <a:solidFill>
                  <a:srgbClr val="000000"/>
                </a:solidFill>
                <a:latin typeface="Montserrat"/>
                <a:ea typeface="Montserrat"/>
                <a:cs typeface="Montserrat"/>
                <a:sym typeface="Montserrat"/>
              </a:rPr>
              <a:t>Kiểm soát được các phiếu không đạt (phiếu lỗi) cần khắc phục trong quá trình chấm bài.</a:t>
            </a:r>
            <a:endParaRPr b="0" i="0" sz="1200" u="none" cap="none" strike="noStrike">
              <a:solidFill>
                <a:srgbClr val="000000"/>
              </a:solidFill>
              <a:latin typeface="Montserrat"/>
              <a:ea typeface="Montserrat"/>
              <a:cs typeface="Montserrat"/>
              <a:sym typeface="Montserrat"/>
            </a:endParaRPr>
          </a:p>
          <a:p>
            <a:pPr indent="-304800" lvl="0" marL="457200" marR="0" rtl="0" algn="l">
              <a:lnSpc>
                <a:spcPct val="150000"/>
              </a:lnSpc>
              <a:spcBef>
                <a:spcPts val="0"/>
              </a:spcBef>
              <a:spcAft>
                <a:spcPts val="0"/>
              </a:spcAft>
              <a:buClr>
                <a:srgbClr val="000000"/>
              </a:buClr>
              <a:buSzPts val="1200"/>
              <a:buFont typeface="Montserrat"/>
              <a:buChar char="-"/>
            </a:pPr>
            <a:r>
              <a:rPr b="0" i="0" lang="en-GB" sz="1200" u="none" cap="none" strike="noStrike">
                <a:solidFill>
                  <a:srgbClr val="000000"/>
                </a:solidFill>
                <a:latin typeface="Montserrat"/>
                <a:ea typeface="Montserrat"/>
                <a:cs typeface="Montserrat"/>
                <a:sym typeface="Montserrat"/>
              </a:rPr>
              <a:t>Có thể dùng mục </a:t>
            </a:r>
            <a:r>
              <a:rPr b="1" i="0" lang="en-GB" sz="1200" u="none" cap="none" strike="noStrike">
                <a:solidFill>
                  <a:srgbClr val="000000"/>
                </a:solidFill>
                <a:latin typeface="Montserrat"/>
                <a:ea typeface="Montserrat"/>
                <a:cs typeface="Montserrat"/>
                <a:sym typeface="Montserrat"/>
              </a:rPr>
              <a:t>[Bộ lọc]</a:t>
            </a:r>
            <a:r>
              <a:rPr b="0" i="0" lang="en-GB" sz="1200" u="none" cap="none" strike="noStrike">
                <a:solidFill>
                  <a:srgbClr val="000000"/>
                </a:solidFill>
                <a:latin typeface="Montserrat"/>
                <a:ea typeface="Montserrat"/>
                <a:cs typeface="Montserrat"/>
                <a:sym typeface="Montserrat"/>
              </a:rPr>
              <a:t> để tìm phiếu không đạt chưa trễ hạn và </a:t>
            </a:r>
            <a:r>
              <a:rPr b="1" i="0" lang="en-GB" sz="1200" u="none" cap="none" strike="noStrike">
                <a:solidFill>
                  <a:srgbClr val="FF0000"/>
                </a:solidFill>
                <a:latin typeface="Montserrat"/>
                <a:ea typeface="Montserrat"/>
                <a:cs typeface="Montserrat"/>
                <a:sym typeface="Montserrat"/>
              </a:rPr>
              <a:t>trễ hạn </a:t>
            </a:r>
            <a:r>
              <a:rPr b="0" i="0" lang="en-GB" sz="1200" u="none" cap="none" strike="noStrike">
                <a:solidFill>
                  <a:srgbClr val="000000"/>
                </a:solidFill>
                <a:latin typeface="Montserrat"/>
                <a:ea typeface="Montserrat"/>
                <a:cs typeface="Montserrat"/>
                <a:sym typeface="Montserrat"/>
              </a:rPr>
              <a:t>theo từng BC.</a:t>
            </a:r>
            <a:endParaRPr b="0" i="0" sz="1200" u="none" cap="none" strike="noStrike">
              <a:solidFill>
                <a:srgbClr val="000000"/>
              </a:solidFill>
              <a:latin typeface="Montserrat"/>
              <a:ea typeface="Montserrat"/>
              <a:cs typeface="Montserrat"/>
              <a:sym typeface="Montserrat"/>
            </a:endParaRPr>
          </a:p>
          <a:p>
            <a:pPr indent="0" lvl="0" marL="179999" marR="0" rtl="0" algn="l">
              <a:lnSpc>
                <a:spcPct val="150000"/>
              </a:lnSpc>
              <a:spcBef>
                <a:spcPts val="0"/>
              </a:spcBef>
              <a:spcAft>
                <a:spcPts val="0"/>
              </a:spcAft>
              <a:buClr>
                <a:srgbClr val="000000"/>
              </a:buClr>
              <a:buSzPts val="1400"/>
              <a:buFont typeface="Arial"/>
              <a:buNone/>
            </a:pPr>
            <a:r>
              <a:rPr b="0" i="0" lang="en-GB" sz="1100" u="none" cap="none" strike="noStrike">
                <a:solidFill>
                  <a:srgbClr val="0000FF"/>
                </a:solidFill>
                <a:latin typeface="Montserrat"/>
                <a:ea typeface="Montserrat"/>
                <a:cs typeface="Montserrat"/>
                <a:sym typeface="Montserrat"/>
              </a:rPr>
              <a:t>=&gt; Bộ lọc có thể tìm được tất cả dữ liệu của </a:t>
            </a:r>
            <a:r>
              <a:rPr b="1" i="0" lang="en-GB" sz="1100" u="none" cap="none" strike="noStrike">
                <a:solidFill>
                  <a:srgbClr val="0000FF"/>
                </a:solidFill>
                <a:latin typeface="Montserrat"/>
                <a:ea typeface="Montserrat"/>
                <a:cs typeface="Montserrat"/>
                <a:sym typeface="Montserrat"/>
              </a:rPr>
              <a:t>TOÀN QUỐC</a:t>
            </a:r>
            <a:r>
              <a:rPr b="0" i="0" lang="en-GB" sz="1400" u="none" cap="none" strike="noStrike">
                <a:solidFill>
                  <a:srgbClr val="0000FF"/>
                </a:solidFill>
                <a:latin typeface="Arial"/>
                <a:ea typeface="Arial"/>
                <a:cs typeface="Arial"/>
                <a:sym typeface="Arial"/>
              </a:rPr>
              <a:t>.</a:t>
            </a:r>
            <a:endParaRPr b="0" i="0" sz="1400" u="none" cap="none" strike="noStrike">
              <a:solidFill>
                <a:srgbClr val="0000FF"/>
              </a:solidFill>
              <a:latin typeface="Arial"/>
              <a:ea typeface="Arial"/>
              <a:cs typeface="Arial"/>
              <a:sym typeface="Arial"/>
            </a:endParaRPr>
          </a:p>
        </p:txBody>
      </p:sp>
      <p:sp>
        <p:nvSpPr>
          <p:cNvPr id="463" name="Google Shape;463;p70"/>
          <p:cNvSpPr txBox="1"/>
          <p:nvPr/>
        </p:nvSpPr>
        <p:spPr>
          <a:xfrm>
            <a:off x="5146181" y="1073275"/>
            <a:ext cx="3655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GB" sz="800" u="none" cap="none" strike="noStrike">
                <a:solidFill>
                  <a:srgbClr val="FF0000"/>
                </a:solidFill>
                <a:latin typeface="Arial"/>
                <a:ea typeface="Arial"/>
                <a:cs typeface="Arial"/>
                <a:sym typeface="Arial"/>
              </a:rPr>
              <a:t>MINH HOẠ TÌM BÀI CHẤM VÀ PHIẾU KHÔNG ĐẠT</a:t>
            </a:r>
            <a:endParaRPr b="0" i="0" sz="800" u="none" cap="none" strike="noStrike">
              <a:solidFill>
                <a:srgbClr val="000000"/>
              </a:solidFill>
              <a:latin typeface="Arial"/>
              <a:ea typeface="Arial"/>
              <a:cs typeface="Arial"/>
              <a:sym typeface="Arial"/>
            </a:endParaRPr>
          </a:p>
        </p:txBody>
      </p:sp>
      <p:sp>
        <p:nvSpPr>
          <p:cNvPr id="464" name="Google Shape;464;p70"/>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8058"/>
              <a:buFont typeface="Arial"/>
              <a:buNone/>
            </a:pPr>
            <a:r>
              <a:rPr b="1" lang="en-GB" sz="2288">
                <a:solidFill>
                  <a:srgbClr val="00467F"/>
                </a:solidFill>
                <a:latin typeface="Montserrat"/>
                <a:ea typeface="Montserrat"/>
                <a:cs typeface="Montserrat"/>
                <a:sym typeface="Montserrat"/>
              </a:rPr>
              <a:t>D. CÁC LƯU Ý VỀ BÀI CHẤM VÀ HỆ THỐNG</a:t>
            </a:r>
            <a:endParaRPr b="1" sz="2288">
              <a:solidFill>
                <a:srgbClr val="00467F"/>
              </a:solidFill>
              <a:latin typeface="Montserrat"/>
              <a:ea typeface="Montserrat"/>
              <a:cs typeface="Montserrat"/>
              <a:sym typeface="Montserrat"/>
            </a:endParaRPr>
          </a:p>
          <a:p>
            <a:pPr indent="0" lvl="0" marL="0" rtl="0" algn="l">
              <a:lnSpc>
                <a:spcPct val="100000"/>
              </a:lnSpc>
              <a:spcBef>
                <a:spcPts val="0"/>
              </a:spcBef>
              <a:spcAft>
                <a:spcPts val="0"/>
              </a:spcAft>
              <a:buSzPct val="135975"/>
              <a:buNone/>
            </a:pPr>
            <a:r>
              <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1"/>
          <p:cNvSpPr txBox="1"/>
          <p:nvPr/>
        </p:nvSpPr>
        <p:spPr>
          <a:xfrm>
            <a:off x="144402" y="774025"/>
            <a:ext cx="6681900" cy="33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1" i="0" lang="en-GB" sz="1600" u="none" cap="none" strike="noStrike">
                <a:solidFill>
                  <a:srgbClr val="0056B3"/>
                </a:solidFill>
                <a:latin typeface="Montserrat"/>
                <a:ea typeface="Montserrat"/>
                <a:cs typeface="Montserrat"/>
                <a:sym typeface="Montserrat"/>
              </a:rPr>
              <a:t>2.    LƯU Ý ĐỐI VỚI BÀI CHẤM HÀNG NGÀY</a:t>
            </a:r>
            <a:endParaRPr b="1" i="0" sz="1600" u="none" cap="none" strike="noStrike">
              <a:solidFill>
                <a:srgbClr val="0056B3"/>
              </a:solidFill>
              <a:latin typeface="Montserrat"/>
              <a:ea typeface="Montserrat"/>
              <a:cs typeface="Montserrat"/>
              <a:sym typeface="Montserrat"/>
            </a:endParaRPr>
          </a:p>
        </p:txBody>
      </p:sp>
      <p:sp>
        <p:nvSpPr>
          <p:cNvPr id="470" name="Google Shape;470;p71"/>
          <p:cNvSpPr txBox="1"/>
          <p:nvPr/>
        </p:nvSpPr>
        <p:spPr>
          <a:xfrm>
            <a:off x="144400" y="1217350"/>
            <a:ext cx="5559300" cy="3140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chemeClr val="dk1"/>
                </a:solidFill>
                <a:latin typeface="Montserrat"/>
                <a:ea typeface="Montserrat"/>
                <a:cs typeface="Montserrat"/>
                <a:sym typeface="Montserrat"/>
              </a:rPr>
              <a:t>2.1.	Quá thời gian chấm, bài chấm sẽ không mở lại được.</a:t>
            </a:r>
            <a:endParaRPr b="1"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=&gt; Hệ thống xuất bài 1 lần toàn quốc, muốn mở lại sẽ phải mở tất cả toàn quốc, khi đó sẽ ảnh hưởng đến các Bưu cục đã chấm xong sẽ phải chấm lại nên không hỗ trợ mở lại các bài chấm quá hạn</a:t>
            </a:r>
            <a:endParaRPr b="0"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chemeClr val="dk1"/>
                </a:solidFill>
                <a:latin typeface="Montserrat"/>
                <a:ea typeface="Montserrat"/>
                <a:cs typeface="Montserrat"/>
                <a:sym typeface="Montserrat"/>
              </a:rPr>
              <a:t>2.2.	Nhân viên nhận bài chấm hàng ngày theo cơ cấu HRW</a:t>
            </a:r>
            <a:endParaRPr b="1"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=&gt; Nhân viên nào đang được phân quyền làm việc tại Bưu cục nào sẽ nhận được bài chấm tại đó, NV muốn chấm bài khác BC phải được HRM điều chuyển mới nhận được bài chấm khác BC.</a:t>
            </a:r>
            <a:endParaRPr b="0"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1" i="1" lang="en-GB" sz="1200" u="none" cap="none" strike="noStrike">
                <a:solidFill>
                  <a:srgbClr val="000000"/>
                </a:solidFill>
                <a:latin typeface="Montserrat"/>
                <a:ea typeface="Montserrat"/>
                <a:cs typeface="Montserrat"/>
                <a:sym typeface="Montserrat"/>
              </a:rPr>
              <a:t>2.3.	Không thể chấm bù bài chấm khi quên chấm bài</a:t>
            </a:r>
            <a:endParaRPr b="1" i="1" sz="1200" u="none" cap="none" strike="noStrike">
              <a:solidFill>
                <a:srgbClr val="00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rgbClr val="000000"/>
                </a:solidFill>
                <a:latin typeface="Montserrat"/>
                <a:ea typeface="Montserrat"/>
                <a:cs typeface="Montserrat"/>
                <a:sym typeface="Montserrat"/>
              </a:rPr>
              <a:t>=&gt; Bài chấm định kỳ </a:t>
            </a:r>
            <a:r>
              <a:rPr b="1" i="0" lang="en-GB" sz="1200" u="none" cap="none" strike="noStrike">
                <a:solidFill>
                  <a:srgbClr val="0000FF"/>
                </a:solidFill>
                <a:latin typeface="Montserrat"/>
                <a:ea typeface="Montserrat"/>
                <a:cs typeface="Montserrat"/>
                <a:sym typeface="Montserrat"/>
              </a:rPr>
              <a:t>[HÀNG NGÀY] </a:t>
            </a:r>
            <a:r>
              <a:rPr b="0" i="0" lang="en-GB" sz="1200" u="none" cap="none" strike="noStrike">
                <a:solidFill>
                  <a:srgbClr val="000000"/>
                </a:solidFill>
                <a:latin typeface="Montserrat"/>
                <a:ea typeface="Montserrat"/>
                <a:cs typeface="Montserrat"/>
                <a:sym typeface="Montserrat"/>
              </a:rPr>
              <a:t>không thể chấm bù bằng bài chấm chủ động của </a:t>
            </a:r>
            <a:r>
              <a:rPr b="1" i="0" lang="en-GB" sz="1200" u="none" cap="none" strike="noStrike">
                <a:solidFill>
                  <a:srgbClr val="0000FF"/>
                </a:solidFill>
                <a:latin typeface="Montserrat"/>
                <a:ea typeface="Montserrat"/>
                <a:cs typeface="Montserrat"/>
                <a:sym typeface="Montserrat"/>
              </a:rPr>
              <a:t>[QUẢN LÝ] </a:t>
            </a:r>
            <a:r>
              <a:rPr b="0" i="0" lang="en-GB" sz="1200" u="none" cap="none" strike="noStrike">
                <a:solidFill>
                  <a:srgbClr val="000000"/>
                </a:solidFill>
                <a:latin typeface="Montserrat"/>
                <a:ea typeface="Montserrat"/>
                <a:cs typeface="Montserrat"/>
                <a:sym typeface="Montserrat"/>
              </a:rPr>
              <a:t>vì chính sách đang khác nhau.</a:t>
            </a:r>
            <a:endParaRPr b="0" i="1" sz="1200" u="none" cap="none" strike="noStrike">
              <a:solidFill>
                <a:srgbClr val="000000"/>
              </a:solidFill>
              <a:latin typeface="Montserrat"/>
              <a:ea typeface="Montserrat"/>
              <a:cs typeface="Montserrat"/>
              <a:sym typeface="Montserrat"/>
            </a:endParaRPr>
          </a:p>
        </p:txBody>
      </p:sp>
      <p:pic>
        <p:nvPicPr>
          <p:cNvPr id="471" name="Google Shape;471;p71"/>
          <p:cNvPicPr preferRelativeResize="0"/>
          <p:nvPr/>
        </p:nvPicPr>
        <p:blipFill rotWithShape="1">
          <a:blip r:embed="rId3">
            <a:alphaModFix/>
          </a:blip>
          <a:srcRect b="0" l="40479" r="3284" t="9706"/>
          <a:stretch/>
        </p:blipFill>
        <p:spPr>
          <a:xfrm>
            <a:off x="5703688" y="1116726"/>
            <a:ext cx="3243731" cy="792156"/>
          </a:xfrm>
          <a:prstGeom prst="rect">
            <a:avLst/>
          </a:prstGeom>
          <a:noFill/>
          <a:ln cap="flat" cmpd="sng" w="19050">
            <a:solidFill>
              <a:schemeClr val="dk2"/>
            </a:solidFill>
            <a:prstDash val="solid"/>
            <a:round/>
            <a:headEnd len="sm" w="sm" type="none"/>
            <a:tailEnd len="sm" w="sm" type="none"/>
          </a:ln>
        </p:spPr>
      </p:pic>
      <p:sp>
        <p:nvSpPr>
          <p:cNvPr id="472" name="Google Shape;472;p71"/>
          <p:cNvSpPr/>
          <p:nvPr/>
        </p:nvSpPr>
        <p:spPr>
          <a:xfrm>
            <a:off x="7249844" y="1369773"/>
            <a:ext cx="893700" cy="467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3" name="Google Shape;473;p71"/>
          <p:cNvPicPr preferRelativeResize="0"/>
          <p:nvPr/>
        </p:nvPicPr>
        <p:blipFill rotWithShape="1">
          <a:blip r:embed="rId4">
            <a:alphaModFix/>
          </a:blip>
          <a:srcRect b="6817" l="0" r="6664" t="46003"/>
          <a:stretch/>
        </p:blipFill>
        <p:spPr>
          <a:xfrm>
            <a:off x="6018968" y="2026735"/>
            <a:ext cx="2461771" cy="1005247"/>
          </a:xfrm>
          <a:prstGeom prst="rect">
            <a:avLst/>
          </a:prstGeom>
          <a:noFill/>
          <a:ln cap="flat" cmpd="sng" w="19050">
            <a:solidFill>
              <a:schemeClr val="dk2"/>
            </a:solidFill>
            <a:prstDash val="solid"/>
            <a:round/>
            <a:headEnd len="sm" w="sm" type="none"/>
            <a:tailEnd len="sm" w="sm" type="none"/>
          </a:ln>
        </p:spPr>
      </p:pic>
      <p:pic>
        <p:nvPicPr>
          <p:cNvPr id="474" name="Google Shape;474;p71"/>
          <p:cNvPicPr preferRelativeResize="0"/>
          <p:nvPr/>
        </p:nvPicPr>
        <p:blipFill rotWithShape="1">
          <a:blip r:embed="rId5">
            <a:alphaModFix/>
          </a:blip>
          <a:srcRect b="0" l="0" r="0" t="0"/>
          <a:stretch/>
        </p:blipFill>
        <p:spPr>
          <a:xfrm>
            <a:off x="6005203" y="3149814"/>
            <a:ext cx="2489282" cy="1532817"/>
          </a:xfrm>
          <a:prstGeom prst="rect">
            <a:avLst/>
          </a:prstGeom>
          <a:noFill/>
          <a:ln cap="flat" cmpd="sng" w="28575">
            <a:solidFill>
              <a:schemeClr val="dk2"/>
            </a:solidFill>
            <a:prstDash val="solid"/>
            <a:round/>
            <a:headEnd len="sm" w="sm" type="none"/>
            <a:tailEnd len="sm" w="sm" type="none"/>
          </a:ln>
        </p:spPr>
      </p:pic>
      <p:sp>
        <p:nvSpPr>
          <p:cNvPr id="475" name="Google Shape;475;p71"/>
          <p:cNvSpPr txBox="1"/>
          <p:nvPr/>
        </p:nvSpPr>
        <p:spPr>
          <a:xfrm>
            <a:off x="5628065" y="830917"/>
            <a:ext cx="32436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GB" sz="800" u="none" cap="none" strike="noStrike">
                <a:solidFill>
                  <a:srgbClr val="FF0000"/>
                </a:solidFill>
                <a:latin typeface="Arial"/>
                <a:ea typeface="Arial"/>
                <a:cs typeface="Arial"/>
                <a:sym typeface="Arial"/>
              </a:rPr>
              <a:t>MINH HOẠ CÁC TRƯỜNG HỢP BÀI CHẤM HÀNG NGÀY</a:t>
            </a:r>
            <a:endParaRPr b="0" i="0" sz="800" u="none" cap="none" strike="noStrike">
              <a:solidFill>
                <a:srgbClr val="000000"/>
              </a:solidFill>
              <a:latin typeface="Arial"/>
              <a:ea typeface="Arial"/>
              <a:cs typeface="Arial"/>
              <a:sym typeface="Arial"/>
            </a:endParaRPr>
          </a:p>
        </p:txBody>
      </p:sp>
      <p:sp>
        <p:nvSpPr>
          <p:cNvPr id="476" name="Google Shape;476;p71"/>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D. CÁC LƯU Ý VỀ BÀI CHẤM VÀ HỆ THỐNG</a:t>
            </a:r>
            <a:endParaRPr b="1" sz="2288">
              <a:solidFill>
                <a:srgbClr val="00467F"/>
              </a:solidFill>
              <a:latin typeface="Montserrat"/>
              <a:ea typeface="Montserrat"/>
              <a:cs typeface="Montserrat"/>
              <a:sym typeface="Montserrat"/>
            </a:endParaRPr>
          </a:p>
          <a:p>
            <a:pPr indent="0" lvl="0" marL="0" rtl="0" algn="l">
              <a:lnSpc>
                <a:spcPct val="100000"/>
              </a:lnSpc>
              <a:spcBef>
                <a:spcPts val="0"/>
              </a:spcBef>
              <a:spcAft>
                <a:spcPts val="0"/>
              </a:spcAft>
              <a:buSzPct val="135975"/>
              <a:buNone/>
            </a:pPr>
            <a:r>
              <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2"/>
          <p:cNvSpPr txBox="1"/>
          <p:nvPr/>
        </p:nvSpPr>
        <p:spPr>
          <a:xfrm>
            <a:off x="188074" y="724200"/>
            <a:ext cx="6645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GB" sz="1600" u="none" cap="none" strike="noStrike">
                <a:solidFill>
                  <a:srgbClr val="0056B3"/>
                </a:solidFill>
                <a:latin typeface="Montserrat"/>
                <a:ea typeface="Montserrat"/>
                <a:cs typeface="Montserrat"/>
                <a:sym typeface="Montserrat"/>
              </a:rPr>
              <a:t>3.    LƯU Ý CHUNG - CHẤM ĐIỂM ĐỊNH KỲ</a:t>
            </a:r>
            <a:endParaRPr b="1" i="0" sz="1600" u="none" cap="none" strike="noStrike">
              <a:solidFill>
                <a:srgbClr val="0056B3"/>
              </a:solidFill>
              <a:latin typeface="Montserrat"/>
              <a:ea typeface="Montserrat"/>
              <a:cs typeface="Montserrat"/>
              <a:sym typeface="Montserrat"/>
            </a:endParaRPr>
          </a:p>
        </p:txBody>
      </p:sp>
      <p:sp>
        <p:nvSpPr>
          <p:cNvPr id="482" name="Google Shape;482;p72"/>
          <p:cNvSpPr txBox="1"/>
          <p:nvPr/>
        </p:nvSpPr>
        <p:spPr>
          <a:xfrm>
            <a:off x="42575" y="1031650"/>
            <a:ext cx="7078500" cy="397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     3.1.  </a:t>
            </a:r>
            <a:r>
              <a:rPr b="1" i="0" lang="en-GB" sz="1200" u="none" cap="none" strike="noStrike">
                <a:solidFill>
                  <a:schemeClr val="dk1"/>
                </a:solidFill>
                <a:latin typeface="Montserrat"/>
                <a:ea typeface="Montserrat"/>
                <a:cs typeface="Montserrat"/>
                <a:sym typeface="Montserrat"/>
              </a:rPr>
              <a:t>Không thể tắt bất kì loại bài chấm nào trên hệ thống</a:t>
            </a:r>
            <a:endParaRPr b="1" i="0" sz="1200" u="none" cap="none" strike="noStrike">
              <a:solidFill>
                <a:schemeClr val="dk1"/>
              </a:solidFill>
              <a:latin typeface="Montserrat"/>
              <a:ea typeface="Montserrat"/>
              <a:cs typeface="Montserrat"/>
              <a:sym typeface="Montserrat"/>
            </a:endParaRPr>
          </a:p>
          <a:p>
            <a:pPr indent="0" lvl="0" marL="36000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=&gt; </a:t>
            </a:r>
            <a:r>
              <a:rPr b="0" i="0" lang="en-GB" sz="1200" u="none" cap="none" strike="noStrike">
                <a:solidFill>
                  <a:srgbClr val="FF0000"/>
                </a:solidFill>
                <a:latin typeface="Montserrat"/>
                <a:ea typeface="Montserrat"/>
                <a:cs typeface="Montserrat"/>
                <a:sym typeface="Montserrat"/>
              </a:rPr>
              <a:t>Không thể tắt bất kì loại bài chấm nào trên hệ thống</a:t>
            </a:r>
            <a:r>
              <a:rPr b="0" i="0" lang="en-GB" sz="1200" u="none" cap="none" strike="noStrike">
                <a:solidFill>
                  <a:schemeClr val="dk1"/>
                </a:solidFill>
                <a:latin typeface="Montserrat"/>
                <a:ea typeface="Montserrat"/>
                <a:cs typeface="Montserrat"/>
                <a:sym typeface="Montserrat"/>
              </a:rPr>
              <a:t> do sẽ ảnh hưởng đến tất cả các Bưu cục khác trong cùng 1 khu vực sẽ bị mất bài chấm theo vì hệ thống xuất bài chấm tự động 1 lần toàn quốc.</a:t>
            </a:r>
            <a:endParaRPr b="0"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chemeClr val="dk1"/>
                </a:solidFill>
                <a:latin typeface="Montserrat"/>
                <a:ea typeface="Montserrat"/>
                <a:cs typeface="Montserrat"/>
                <a:sym typeface="Montserrat"/>
              </a:rPr>
              <a:t>     3.2. Ví dụ các trường hợp sau:</a:t>
            </a:r>
            <a:endParaRPr b="1" i="0" sz="1200" u="none" cap="none" strike="noStrike">
              <a:solidFill>
                <a:schemeClr val="dk1"/>
              </a:solidFill>
              <a:latin typeface="Montserrat"/>
              <a:ea typeface="Montserrat"/>
              <a:cs typeface="Montserrat"/>
              <a:sym typeface="Montserrat"/>
            </a:endParaRPr>
          </a:p>
          <a:p>
            <a:pPr indent="-304800" lvl="0" marL="457200" marR="0" rtl="0" algn="l">
              <a:lnSpc>
                <a:spcPct val="150000"/>
              </a:lnSpc>
              <a:spcBef>
                <a:spcPts val="0"/>
              </a:spcBef>
              <a:spcAft>
                <a:spcPts val="0"/>
              </a:spcAft>
              <a:buClr>
                <a:schemeClr val="dk1"/>
              </a:buClr>
              <a:buSzPts val="1200"/>
              <a:buFont typeface="Montserrat"/>
              <a:buChar char="-"/>
            </a:pPr>
            <a:r>
              <a:rPr b="0" i="0" lang="en-GB" sz="1200" u="none" cap="none" strike="noStrike">
                <a:solidFill>
                  <a:srgbClr val="0000FF"/>
                </a:solidFill>
                <a:latin typeface="Montserrat"/>
                <a:ea typeface="Montserrat"/>
                <a:cs typeface="Montserrat"/>
                <a:sym typeface="Montserrat"/>
              </a:rPr>
              <a:t>Bưu cục sắp trả mặt bằng</a:t>
            </a:r>
            <a:r>
              <a:rPr b="0" i="0" lang="en-GB" sz="1200" u="none" cap="none" strike="noStrike">
                <a:solidFill>
                  <a:schemeClr val="dk1"/>
                </a:solidFill>
                <a:latin typeface="Montserrat"/>
                <a:ea typeface="Montserrat"/>
                <a:cs typeface="Montserrat"/>
                <a:sym typeface="Montserrat"/>
              </a:rPr>
              <a:t> =&gt; </a:t>
            </a:r>
            <a:r>
              <a:rPr b="0" i="1" lang="en-GB" sz="1200" u="none" cap="none" strike="noStrike">
                <a:solidFill>
                  <a:schemeClr val="dk1"/>
                </a:solidFill>
                <a:latin typeface="Montserrat"/>
                <a:ea typeface="Montserrat"/>
                <a:cs typeface="Montserrat"/>
                <a:sym typeface="Montserrat"/>
              </a:rPr>
              <a:t>cần thông báo với bên Finance để xóa bỏ hoàn toàn tên BC trên hệ thống để không xuất bài được nữa.</a:t>
            </a:r>
            <a:endParaRPr b="0" i="1" sz="1200" u="none" cap="none" strike="noStrike">
              <a:solidFill>
                <a:schemeClr val="dk1"/>
              </a:solidFill>
              <a:latin typeface="Montserrat"/>
              <a:ea typeface="Montserrat"/>
              <a:cs typeface="Montserrat"/>
              <a:sym typeface="Montserrat"/>
            </a:endParaRPr>
          </a:p>
          <a:p>
            <a:pPr indent="-304800" lvl="0" marL="457200" marR="0" rtl="0" algn="l">
              <a:lnSpc>
                <a:spcPct val="150000"/>
              </a:lnSpc>
              <a:spcBef>
                <a:spcPts val="0"/>
              </a:spcBef>
              <a:spcAft>
                <a:spcPts val="0"/>
              </a:spcAft>
              <a:buClr>
                <a:schemeClr val="dk1"/>
              </a:buClr>
              <a:buSzPts val="1200"/>
              <a:buFont typeface="Montserrat"/>
              <a:buChar char="-"/>
            </a:pPr>
            <a:r>
              <a:rPr b="0" i="0" lang="en-GB" sz="1200" u="none" cap="none" strike="noStrike">
                <a:solidFill>
                  <a:srgbClr val="0000FF"/>
                </a:solidFill>
                <a:latin typeface="Montserrat"/>
                <a:ea typeface="Montserrat"/>
                <a:cs typeface="Montserrat"/>
                <a:sym typeface="Montserrat"/>
              </a:rPr>
              <a:t>Bưu cục sắp trả mặt bằng</a:t>
            </a:r>
            <a:r>
              <a:rPr b="0" i="0" lang="en-GB" sz="1200" u="none" cap="none" strike="noStrike">
                <a:solidFill>
                  <a:schemeClr val="dk1"/>
                </a:solidFill>
                <a:latin typeface="Montserrat"/>
                <a:ea typeface="Montserrat"/>
                <a:cs typeface="Montserrat"/>
                <a:sym typeface="Montserrat"/>
              </a:rPr>
              <a:t> =&gt; </a:t>
            </a:r>
            <a:r>
              <a:rPr b="0" i="1" lang="en-GB" sz="1200" u="none" cap="none" strike="noStrike">
                <a:solidFill>
                  <a:schemeClr val="dk1"/>
                </a:solidFill>
                <a:latin typeface="Montserrat"/>
                <a:ea typeface="Montserrat"/>
                <a:cs typeface="Montserrat"/>
                <a:sym typeface="Montserrat"/>
              </a:rPr>
              <a:t>không còn bất kì nhân viên nào trong hệ thống của BC đó nữa thì hệ thống không xuất bài hàng ngày cho NVXL và TBC (do hệ thống xuất bài theo chức danh)</a:t>
            </a:r>
            <a:endParaRPr b="0" i="1" sz="1200" u="none" cap="none" strike="noStrike">
              <a:solidFill>
                <a:schemeClr val="dk1"/>
              </a:solidFill>
              <a:latin typeface="Montserrat"/>
              <a:ea typeface="Montserrat"/>
              <a:cs typeface="Montserrat"/>
              <a:sym typeface="Montserrat"/>
            </a:endParaRPr>
          </a:p>
          <a:p>
            <a:pPr indent="-304800" lvl="0" marL="457200" marR="0" rtl="0" algn="l">
              <a:lnSpc>
                <a:spcPct val="150000"/>
              </a:lnSpc>
              <a:spcBef>
                <a:spcPts val="0"/>
              </a:spcBef>
              <a:spcAft>
                <a:spcPts val="0"/>
              </a:spcAft>
              <a:buClr>
                <a:schemeClr val="dk1"/>
              </a:buClr>
              <a:buSzPts val="1200"/>
              <a:buFont typeface="Montserrat"/>
              <a:buChar char="-"/>
            </a:pPr>
            <a:r>
              <a:rPr b="0" i="0" lang="en-GB" sz="1200" u="none" cap="none" strike="noStrike">
                <a:solidFill>
                  <a:srgbClr val="0000FF"/>
                </a:solidFill>
                <a:latin typeface="Montserrat"/>
                <a:ea typeface="Montserrat"/>
                <a:cs typeface="Montserrat"/>
                <a:sym typeface="Montserrat"/>
              </a:rPr>
              <a:t>Bưu cục là BC hệ thống (ở chung BC vật lý)</a:t>
            </a:r>
            <a:r>
              <a:rPr b="0" i="0" lang="en-GB" sz="1200" u="none" cap="none" strike="noStrike">
                <a:solidFill>
                  <a:schemeClr val="dk1"/>
                </a:solidFill>
                <a:latin typeface="Montserrat"/>
                <a:ea typeface="Montserrat"/>
                <a:cs typeface="Montserrat"/>
                <a:sym typeface="Montserrat"/>
              </a:rPr>
              <a:t> =&gt; </a:t>
            </a:r>
            <a:r>
              <a:rPr b="0" i="1" lang="en-GB" sz="1200" u="none" cap="none" strike="noStrike">
                <a:solidFill>
                  <a:schemeClr val="dk1"/>
                </a:solidFill>
                <a:latin typeface="Montserrat"/>
                <a:ea typeface="Montserrat"/>
                <a:cs typeface="Montserrat"/>
                <a:sym typeface="Montserrat"/>
              </a:rPr>
              <a:t>dùng hình ảnh Mail HRW + Link EF được confirm đính kèm vào khi chấm để làm bằng chứng chấm [Đạt]</a:t>
            </a:r>
            <a:endParaRPr b="0" i="1" sz="1200" u="none" cap="none" strike="noStrike">
              <a:solidFill>
                <a:schemeClr val="dk1"/>
              </a:solidFill>
              <a:latin typeface="Montserrat"/>
              <a:ea typeface="Montserrat"/>
              <a:cs typeface="Montserrat"/>
              <a:sym typeface="Montserrat"/>
            </a:endParaRPr>
          </a:p>
          <a:p>
            <a:pPr indent="-304800" lvl="0" marL="457200" marR="0" rtl="0" algn="l">
              <a:lnSpc>
                <a:spcPct val="150000"/>
              </a:lnSpc>
              <a:spcBef>
                <a:spcPts val="0"/>
              </a:spcBef>
              <a:spcAft>
                <a:spcPts val="0"/>
              </a:spcAft>
              <a:buClr>
                <a:schemeClr val="dk1"/>
              </a:buClr>
              <a:buSzPts val="1200"/>
              <a:buFont typeface="Montserrat"/>
              <a:buChar char="-"/>
            </a:pPr>
            <a:r>
              <a:rPr b="0" i="0" lang="en-GB" sz="1200" u="none" cap="none" strike="noStrike">
                <a:solidFill>
                  <a:srgbClr val="0000FF"/>
                </a:solidFill>
                <a:latin typeface="Montserrat"/>
                <a:ea typeface="Montserrat"/>
                <a:cs typeface="Montserrat"/>
                <a:sym typeface="Montserrat"/>
              </a:rPr>
              <a:t>Bưu cục vẫn còn trong quyền quản lý</a:t>
            </a:r>
            <a:r>
              <a:rPr b="0" i="0" lang="en-GB" sz="1200" u="none" cap="none" strike="noStrike">
                <a:solidFill>
                  <a:schemeClr val="dk1"/>
                </a:solidFill>
                <a:latin typeface="Montserrat"/>
                <a:ea typeface="Montserrat"/>
                <a:cs typeface="Montserrat"/>
                <a:sym typeface="Montserrat"/>
              </a:rPr>
              <a:t> =&gt; AM có thể </a:t>
            </a:r>
            <a:r>
              <a:rPr b="0" i="1" lang="en-GB" sz="1200" u="none" cap="none" strike="noStrike">
                <a:solidFill>
                  <a:schemeClr val="dk1"/>
                </a:solidFill>
                <a:latin typeface="Montserrat"/>
                <a:ea typeface="Montserrat"/>
                <a:cs typeface="Montserrat"/>
                <a:sym typeface="Montserrat"/>
              </a:rPr>
              <a:t>dùng hình ảnh Mail HRW + Link EF được confirm đính kèm vào khi chấm đủ số lượng target.</a:t>
            </a:r>
            <a:endParaRPr b="0" i="0" sz="1400" u="none" cap="none" strike="noStrike">
              <a:solidFill>
                <a:schemeClr val="dk1"/>
              </a:solidFill>
              <a:latin typeface="Montserrat"/>
              <a:ea typeface="Montserrat"/>
              <a:cs typeface="Montserrat"/>
              <a:sym typeface="Montserrat"/>
            </a:endParaRPr>
          </a:p>
        </p:txBody>
      </p:sp>
      <p:sp>
        <p:nvSpPr>
          <p:cNvPr id="483" name="Google Shape;483;p72"/>
          <p:cNvSpPr txBox="1"/>
          <p:nvPr/>
        </p:nvSpPr>
        <p:spPr>
          <a:xfrm>
            <a:off x="6961900" y="847500"/>
            <a:ext cx="19395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GB" sz="800" u="none" cap="none" strike="noStrike">
                <a:solidFill>
                  <a:srgbClr val="FF0000"/>
                </a:solidFill>
                <a:latin typeface="Arial"/>
                <a:ea typeface="Arial"/>
                <a:cs typeface="Arial"/>
                <a:sym typeface="Arial"/>
              </a:rPr>
              <a:t>MINH HOẠ GHI CHÚ PHIẾU CHẤM</a:t>
            </a:r>
            <a:endParaRPr b="0" i="0" sz="800" u="none" cap="none" strike="noStrike">
              <a:solidFill>
                <a:srgbClr val="000000"/>
              </a:solidFill>
              <a:latin typeface="Arial"/>
              <a:ea typeface="Arial"/>
              <a:cs typeface="Arial"/>
              <a:sym typeface="Arial"/>
            </a:endParaRPr>
          </a:p>
        </p:txBody>
      </p:sp>
      <p:pic>
        <p:nvPicPr>
          <p:cNvPr id="484" name="Google Shape;484;p72" title="Screenshot_65.png"/>
          <p:cNvPicPr preferRelativeResize="0"/>
          <p:nvPr/>
        </p:nvPicPr>
        <p:blipFill rotWithShape="1">
          <a:blip r:embed="rId3">
            <a:alphaModFix/>
          </a:blip>
          <a:srcRect b="1047" l="0" r="0" t="1037"/>
          <a:stretch/>
        </p:blipFill>
        <p:spPr>
          <a:xfrm>
            <a:off x="7070232" y="1109222"/>
            <a:ext cx="1831200" cy="3560700"/>
          </a:xfrm>
          <a:prstGeom prst="roundRect">
            <a:avLst>
              <a:gd fmla="val 5013" name="adj"/>
            </a:avLst>
          </a:prstGeom>
          <a:noFill/>
          <a:ln cap="flat" cmpd="sng" w="19050">
            <a:solidFill>
              <a:schemeClr val="dk2"/>
            </a:solidFill>
            <a:prstDash val="solid"/>
            <a:round/>
            <a:headEnd len="sm" w="sm" type="none"/>
            <a:tailEnd len="sm" w="sm" type="none"/>
          </a:ln>
        </p:spPr>
      </p:pic>
      <p:sp>
        <p:nvSpPr>
          <p:cNvPr id="485" name="Google Shape;485;p72"/>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GB" sz="2288">
                <a:solidFill>
                  <a:srgbClr val="00467F"/>
                </a:solidFill>
                <a:latin typeface="Montserrat"/>
                <a:ea typeface="Montserrat"/>
                <a:cs typeface="Montserrat"/>
                <a:sym typeface="Montserrat"/>
              </a:rPr>
              <a:t>D. CÁC LƯU Ý VỀ BÀI CHẤM VÀ HỆ THỐNG</a:t>
            </a:r>
            <a:endParaRPr b="1">
              <a:solidFill>
                <a:srgbClr val="F15E2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3"/>
          <p:cNvSpPr txBox="1"/>
          <p:nvPr/>
        </p:nvSpPr>
        <p:spPr>
          <a:xfrm>
            <a:off x="201647" y="733400"/>
            <a:ext cx="6634800" cy="33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600" u="none" cap="none" strike="noStrike">
                <a:solidFill>
                  <a:srgbClr val="0056B3"/>
                </a:solidFill>
                <a:latin typeface="Montserrat"/>
                <a:ea typeface="Montserrat"/>
                <a:cs typeface="Montserrat"/>
                <a:sym typeface="Montserrat"/>
              </a:rPr>
              <a:t>4.    LƯU Ý TRẠNG THÁI PHIẾU KHÔNG ĐẠT </a:t>
            </a:r>
            <a:endParaRPr b="1" i="0" sz="1600" u="none" cap="none" strike="noStrike">
              <a:solidFill>
                <a:srgbClr val="0056B3"/>
              </a:solidFill>
              <a:latin typeface="Montserrat"/>
              <a:ea typeface="Montserrat"/>
              <a:cs typeface="Montserrat"/>
              <a:sym typeface="Montserrat"/>
            </a:endParaRPr>
          </a:p>
        </p:txBody>
      </p:sp>
      <p:sp>
        <p:nvSpPr>
          <p:cNvPr id="491" name="Google Shape;491;p73"/>
          <p:cNvSpPr txBox="1"/>
          <p:nvPr/>
        </p:nvSpPr>
        <p:spPr>
          <a:xfrm>
            <a:off x="166125" y="1145300"/>
            <a:ext cx="6259500" cy="3694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chemeClr val="dk1"/>
                </a:solidFill>
                <a:latin typeface="Montserrat"/>
                <a:ea typeface="Montserrat"/>
                <a:cs typeface="Montserrat"/>
                <a:sym typeface="Montserrat"/>
              </a:rPr>
              <a:t>4.1. Dashboard sẽ lấy tất cả phiếu lỗi có trạng thái là </a:t>
            </a:r>
            <a:r>
              <a:rPr b="1" i="0" lang="en-GB" sz="1200" u="none" cap="none" strike="noStrike">
                <a:solidFill>
                  <a:srgbClr val="FF0000"/>
                </a:solidFill>
                <a:latin typeface="Montserrat"/>
                <a:ea typeface="Montserrat"/>
                <a:cs typeface="Montserrat"/>
                <a:sym typeface="Montserrat"/>
              </a:rPr>
              <a:t>“trễ hạn"</a:t>
            </a:r>
            <a:r>
              <a:rPr b="1" i="0" lang="en-GB" sz="1200" u="none" cap="none" strike="noStrike">
                <a:solidFill>
                  <a:schemeClr val="dk1"/>
                </a:solidFill>
                <a:latin typeface="Montserrat"/>
                <a:ea typeface="Montserrat"/>
                <a:cs typeface="Montserrat"/>
                <a:sym typeface="Montserrat"/>
              </a:rPr>
              <a:t> để tính phạt.</a:t>
            </a:r>
            <a:endParaRPr b="1"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=&gt;</a:t>
            </a:r>
            <a:r>
              <a:rPr b="0" i="0" lang="en-GB" sz="1200" u="none" cap="none" strike="noStrike">
                <a:solidFill>
                  <a:srgbClr val="000000"/>
                </a:solidFill>
                <a:latin typeface="Montserrat"/>
                <a:ea typeface="Montserrat"/>
                <a:cs typeface="Montserrat"/>
                <a:sym typeface="Montserrat"/>
              </a:rPr>
              <a:t> Hoàn tất trễ hạn &amp; Chưa hoàn tất trễ hạn</a:t>
            </a:r>
            <a:r>
              <a:rPr b="0" i="0" lang="en-GB" sz="1200" u="none" cap="none" strike="noStrike">
                <a:solidFill>
                  <a:schemeClr val="dk1"/>
                </a:solidFill>
                <a:latin typeface="Montserrat"/>
                <a:ea typeface="Montserrat"/>
                <a:cs typeface="Montserrat"/>
                <a:sym typeface="Montserrat"/>
              </a:rPr>
              <a:t> </a:t>
            </a:r>
            <a:r>
              <a:rPr b="1" i="0" lang="en-GB" sz="1200" u="none" cap="none" strike="noStrike">
                <a:solidFill>
                  <a:srgbClr val="FF0000"/>
                </a:solidFill>
                <a:latin typeface="Montserrat"/>
                <a:ea typeface="Montserrat"/>
                <a:cs typeface="Montserrat"/>
                <a:sym typeface="Montserrat"/>
              </a:rPr>
              <a:t>đều sẽ bị áp chính sách.</a:t>
            </a:r>
            <a:endParaRPr b="1" i="0" sz="1200" u="none" cap="none" strike="noStrike">
              <a:solidFill>
                <a:srgbClr val="FF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t/>
            </a:r>
            <a:endParaRPr b="1" i="0" sz="1200" u="none" cap="none" strike="noStrike">
              <a:solidFill>
                <a:srgbClr val="FF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 </a:t>
            </a:r>
            <a:r>
              <a:rPr b="1" i="0" lang="en-GB" sz="1200" u="none" cap="none" strike="noStrike">
                <a:solidFill>
                  <a:srgbClr val="F15E22"/>
                </a:solidFill>
                <a:latin typeface="Montserrat"/>
                <a:ea typeface="Montserrat"/>
                <a:cs typeface="Montserrat"/>
                <a:sym typeface="Montserrat"/>
              </a:rPr>
              <a:t>Tr</a:t>
            </a:r>
            <a:r>
              <a:rPr b="1" i="0" lang="en-GB" sz="1200" u="none" cap="none" strike="noStrike">
                <a:solidFill>
                  <a:srgbClr val="FF0000"/>
                </a:solidFill>
                <a:latin typeface="Montserrat"/>
                <a:ea typeface="Montserrat"/>
                <a:cs typeface="Montserrat"/>
                <a:sym typeface="Montserrat"/>
              </a:rPr>
              <a:t>ễ hạn</a:t>
            </a:r>
            <a:r>
              <a:rPr b="0" i="0" lang="en-GB" sz="1200" u="none" cap="none" strike="noStrike">
                <a:solidFill>
                  <a:schemeClr val="dk1"/>
                </a:solidFill>
                <a:latin typeface="Montserrat"/>
                <a:ea typeface="Montserrat"/>
                <a:cs typeface="Montserrat"/>
                <a:sym typeface="Montserrat"/>
              </a:rPr>
              <a:t>: </a:t>
            </a:r>
            <a:r>
              <a:rPr b="0" i="1" lang="en-GB" sz="1200" u="none" cap="none" strike="noStrike">
                <a:solidFill>
                  <a:schemeClr val="dk1"/>
                </a:solidFill>
                <a:latin typeface="Montserrat"/>
                <a:ea typeface="Montserrat"/>
                <a:cs typeface="Montserrat"/>
                <a:sym typeface="Montserrat"/>
              </a:rPr>
              <a:t>phiếu không đạt đã đóng hệ thống.</a:t>
            </a:r>
            <a:endParaRPr b="0" i="1"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 </a:t>
            </a:r>
            <a:r>
              <a:rPr b="1" i="0" lang="en-GB" sz="1200" u="none" cap="none" strike="noStrike">
                <a:solidFill>
                  <a:srgbClr val="FF0000"/>
                </a:solidFill>
                <a:latin typeface="Montserrat"/>
                <a:ea typeface="Montserrat"/>
                <a:cs typeface="Montserrat"/>
                <a:sym typeface="Montserrat"/>
              </a:rPr>
              <a:t>Không</a:t>
            </a:r>
            <a:r>
              <a:rPr b="0" i="0" lang="en-GB" sz="1200" u="none" cap="none" strike="noStrike">
                <a:solidFill>
                  <a:srgbClr val="FF0000"/>
                </a:solidFill>
                <a:latin typeface="Montserrat"/>
                <a:ea typeface="Montserrat"/>
                <a:cs typeface="Montserrat"/>
                <a:sym typeface="Montserrat"/>
              </a:rPr>
              <a:t> </a:t>
            </a:r>
            <a:r>
              <a:rPr b="1" i="0" lang="en-GB" sz="1200" u="none" cap="none" strike="noStrike">
                <a:solidFill>
                  <a:srgbClr val="FF0000"/>
                </a:solidFill>
                <a:latin typeface="Montserrat"/>
                <a:ea typeface="Montserrat"/>
                <a:cs typeface="Montserrat"/>
                <a:sym typeface="Montserrat"/>
              </a:rPr>
              <a:t>trễ hạn:</a:t>
            </a:r>
            <a:r>
              <a:rPr b="0" i="0" lang="en-GB" sz="1200" u="none" cap="none" strike="noStrike">
                <a:solidFill>
                  <a:schemeClr val="dk1"/>
                </a:solidFill>
                <a:latin typeface="Montserrat"/>
                <a:ea typeface="Montserrat"/>
                <a:cs typeface="Montserrat"/>
                <a:sym typeface="Montserrat"/>
              </a:rPr>
              <a:t> </a:t>
            </a:r>
            <a:r>
              <a:rPr b="0" i="1" lang="en-GB" sz="1200" u="none" cap="none" strike="noStrike">
                <a:solidFill>
                  <a:schemeClr val="dk1"/>
                </a:solidFill>
                <a:latin typeface="Montserrat"/>
                <a:ea typeface="Montserrat"/>
                <a:cs typeface="Montserrat"/>
                <a:sym typeface="Montserrat"/>
              </a:rPr>
              <a:t>phiếu không đạt vẫn có cơ hội gian hạn thời gian.</a:t>
            </a:r>
            <a:endParaRPr b="0" i="1"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t/>
            </a:r>
            <a:endParaRPr b="0" i="1"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chemeClr val="dk1"/>
                </a:solidFill>
                <a:latin typeface="Montserrat"/>
                <a:ea typeface="Montserrat"/>
                <a:cs typeface="Montserrat"/>
                <a:sym typeface="Montserrat"/>
              </a:rPr>
              <a:t>4.2.2 Phiếu không đạt sẽ chốt trạng thái vào ngày cuối cùng của tháng</a:t>
            </a:r>
            <a:endParaRPr b="1"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0" i="0" lang="en-GB" sz="1200" u="none" cap="none" strike="noStrike">
                <a:solidFill>
                  <a:schemeClr val="dk1"/>
                </a:solidFill>
                <a:latin typeface="Montserrat"/>
                <a:ea typeface="Montserrat"/>
                <a:cs typeface="Montserrat"/>
                <a:sym typeface="Montserrat"/>
              </a:rPr>
              <a:t>=&gt; Vì vậy nếu trường hợp phiếu </a:t>
            </a:r>
            <a:r>
              <a:rPr b="1" i="0" lang="en-GB" sz="1200" u="none" cap="none" strike="noStrike">
                <a:solidFill>
                  <a:schemeClr val="dk1"/>
                </a:solidFill>
                <a:latin typeface="Montserrat"/>
                <a:ea typeface="Montserrat"/>
                <a:cs typeface="Montserrat"/>
                <a:sym typeface="Montserrat"/>
              </a:rPr>
              <a:t>“Chưa hoàn tất trễ hạn"</a:t>
            </a:r>
            <a:r>
              <a:rPr b="0" i="0" lang="en-GB" sz="1200" u="none" cap="none" strike="noStrike">
                <a:solidFill>
                  <a:schemeClr val="dk1"/>
                </a:solidFill>
                <a:latin typeface="Montserrat"/>
                <a:ea typeface="Montserrat"/>
                <a:cs typeface="Montserrat"/>
                <a:sym typeface="Montserrat"/>
              </a:rPr>
              <a:t> muốn gia hạn thời gian phải gia hạn trước ngày chốt dữ liệu, và được gia hạn lại ở tháng sau.</a:t>
            </a:r>
            <a:endParaRPr b="0"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400"/>
              <a:buFont typeface="Arial"/>
              <a:buNone/>
            </a:pPr>
            <a:r>
              <a:rPr b="1" i="0" lang="en-GB" sz="1200" u="none" cap="none" strike="noStrike">
                <a:solidFill>
                  <a:srgbClr val="38761D"/>
                </a:solidFill>
                <a:latin typeface="Montserrat"/>
                <a:ea typeface="Montserrat"/>
                <a:cs typeface="Montserrat"/>
                <a:sym typeface="Montserrat"/>
              </a:rPr>
              <a:t>*** Quyền gia hạn thời gian này chỉ dành GĐV và 1 AM Admin giữ quyền gia hạn cho Vùng, mục đích Vùng tự cân nhắc lỗi gia hạn BC cung cấp lý do hợp lý không.</a:t>
            </a:r>
            <a:endParaRPr b="0" i="0" sz="1200" u="none" cap="none" strike="noStrike">
              <a:solidFill>
                <a:schemeClr val="dk1"/>
              </a:solidFill>
              <a:latin typeface="Montserrat"/>
              <a:ea typeface="Montserrat"/>
              <a:cs typeface="Montserrat"/>
              <a:sym typeface="Montserrat"/>
            </a:endParaRPr>
          </a:p>
        </p:txBody>
      </p:sp>
      <p:pic>
        <p:nvPicPr>
          <p:cNvPr id="492" name="Google Shape;492;p73" title="Screenshot_61.png"/>
          <p:cNvPicPr preferRelativeResize="0"/>
          <p:nvPr/>
        </p:nvPicPr>
        <p:blipFill rotWithShape="1">
          <a:blip r:embed="rId3">
            <a:alphaModFix/>
          </a:blip>
          <a:srcRect b="23994" l="0" r="0" t="1490"/>
          <a:stretch/>
        </p:blipFill>
        <p:spPr>
          <a:xfrm>
            <a:off x="6766775" y="1145300"/>
            <a:ext cx="2114400" cy="3540000"/>
          </a:xfrm>
          <a:prstGeom prst="roundRect">
            <a:avLst>
              <a:gd fmla="val 3489" name="adj"/>
            </a:avLst>
          </a:prstGeom>
          <a:noFill/>
          <a:ln cap="flat" cmpd="sng" w="9525">
            <a:solidFill>
              <a:srgbClr val="EC7C30"/>
            </a:solidFill>
            <a:prstDash val="solid"/>
            <a:round/>
            <a:headEnd len="sm" w="sm" type="none"/>
            <a:tailEnd len="sm" w="sm" type="none"/>
          </a:ln>
        </p:spPr>
      </p:pic>
      <p:sp>
        <p:nvSpPr>
          <p:cNvPr id="493" name="Google Shape;493;p73"/>
          <p:cNvSpPr txBox="1"/>
          <p:nvPr/>
        </p:nvSpPr>
        <p:spPr>
          <a:xfrm>
            <a:off x="6766774" y="823550"/>
            <a:ext cx="19725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GB" sz="800" u="none" cap="none" strike="noStrike">
                <a:solidFill>
                  <a:srgbClr val="FF0000"/>
                </a:solidFill>
                <a:latin typeface="Arial"/>
                <a:ea typeface="Arial"/>
                <a:cs typeface="Arial"/>
                <a:sym typeface="Arial"/>
              </a:rPr>
              <a:t>MINH HỌA TRẠNG THÁI PHIẾU LỖI</a:t>
            </a:r>
            <a:endParaRPr b="0" i="0" sz="800" u="none" cap="none" strike="noStrike">
              <a:solidFill>
                <a:srgbClr val="000000"/>
              </a:solidFill>
              <a:latin typeface="Arial"/>
              <a:ea typeface="Arial"/>
              <a:cs typeface="Arial"/>
              <a:sym typeface="Arial"/>
            </a:endParaRPr>
          </a:p>
        </p:txBody>
      </p:sp>
      <p:sp>
        <p:nvSpPr>
          <p:cNvPr id="494" name="Google Shape;494;p73"/>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GB" sz="2288">
                <a:solidFill>
                  <a:srgbClr val="00467F"/>
                </a:solidFill>
                <a:latin typeface="Montserrat"/>
                <a:ea typeface="Montserrat"/>
                <a:cs typeface="Montserrat"/>
                <a:sym typeface="Montserrat"/>
              </a:rPr>
              <a:t>D. CÁC LƯU Ý VỀ BÀI CHẤM VÀ HỆ THỐNG</a:t>
            </a:r>
            <a:endParaRPr b="1">
              <a:solidFill>
                <a:srgbClr val="F15E22"/>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4"/>
          <p:cNvSpPr txBox="1"/>
          <p:nvPr/>
        </p:nvSpPr>
        <p:spPr>
          <a:xfrm>
            <a:off x="303200" y="1048725"/>
            <a:ext cx="6741300" cy="17547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000000"/>
                </a:solidFill>
                <a:latin typeface="Montserrat"/>
                <a:ea typeface="Montserrat"/>
                <a:cs typeface="Montserrat"/>
                <a:sym typeface="Montserrat"/>
              </a:rPr>
              <a:t>Các tiêu chí đã được confirm loại trừ trường hợp nếu đã lỡ chấm </a:t>
            </a:r>
            <a:r>
              <a:rPr b="1" i="0" lang="en-GB" sz="1200" u="none" cap="none" strike="noStrike">
                <a:solidFill>
                  <a:srgbClr val="FF0000"/>
                </a:solidFill>
                <a:latin typeface="Montserrat"/>
                <a:ea typeface="Montserrat"/>
                <a:cs typeface="Montserrat"/>
                <a:sym typeface="Montserrat"/>
              </a:rPr>
              <a:t>[Không đạt]</a:t>
            </a:r>
            <a:r>
              <a:rPr b="0" i="0" lang="en-GB" sz="1200" u="none" cap="none" strike="noStrike">
                <a:solidFill>
                  <a:srgbClr val="000000"/>
                </a:solidFill>
                <a:latin typeface="Montserrat"/>
                <a:ea typeface="Montserrat"/>
                <a:cs typeface="Montserrat"/>
                <a:sym typeface="Montserrat"/>
              </a:rPr>
              <a:t>, </a:t>
            </a:r>
            <a:endParaRPr b="0" i="0" sz="1200" u="none" cap="none" strike="noStrike">
              <a:solidFill>
                <a:srgbClr val="000000"/>
              </a:solidFill>
              <a:latin typeface="Montserrat"/>
              <a:ea typeface="Montserrat"/>
              <a:cs typeface="Montserrat"/>
              <a:sym typeface="Montserrat"/>
            </a:endParaRPr>
          </a:p>
          <a:p>
            <a:pPr indent="0" lvl="0" marL="450000" marR="0" rtl="0" algn="l">
              <a:lnSpc>
                <a:spcPct val="150000"/>
              </a:lnSpc>
              <a:spcBef>
                <a:spcPts val="0"/>
              </a:spcBef>
              <a:spcAft>
                <a:spcPts val="0"/>
              </a:spcAft>
              <a:buClr>
                <a:srgbClr val="000000"/>
              </a:buClr>
              <a:buSzPts val="1400"/>
              <a:buFont typeface="Arial"/>
              <a:buNone/>
            </a:pPr>
            <a:r>
              <a:rPr b="0" i="1" lang="en-GB" sz="1200" u="none" cap="none" strike="noStrike">
                <a:solidFill>
                  <a:srgbClr val="000000"/>
                </a:solidFill>
                <a:latin typeface="Montserrat"/>
                <a:ea typeface="Montserrat"/>
                <a:cs typeface="Montserrat"/>
                <a:sym typeface="Montserrat"/>
              </a:rPr>
              <a:t>=&gt; thì có thể dùng </a:t>
            </a:r>
            <a:r>
              <a:rPr b="0" i="1" lang="en-GB" sz="1200" u="none" cap="none" strike="noStrike">
                <a:solidFill>
                  <a:schemeClr val="dk1"/>
                </a:solidFill>
                <a:latin typeface="Montserrat"/>
                <a:ea typeface="Montserrat"/>
                <a:cs typeface="Montserrat"/>
                <a:sym typeface="Montserrat"/>
              </a:rPr>
              <a:t>bằng chứng hiện có (dùng hình ảnh mail HRW + Link EF) để cập nhật </a:t>
            </a:r>
            <a:r>
              <a:rPr b="1" i="1" lang="en-GB" sz="1200" u="none" cap="none" strike="noStrike">
                <a:solidFill>
                  <a:srgbClr val="0000FF"/>
                </a:solidFill>
                <a:latin typeface="Montserrat"/>
                <a:ea typeface="Montserrat"/>
                <a:cs typeface="Montserrat"/>
                <a:sym typeface="Montserrat"/>
              </a:rPr>
              <a:t>khắc phục</a:t>
            </a:r>
            <a:r>
              <a:rPr b="0" i="1" lang="en-GB" sz="1200" u="none" cap="none" strike="noStrike">
                <a:solidFill>
                  <a:srgbClr val="000000"/>
                </a:solidFill>
                <a:latin typeface="Montserrat"/>
                <a:ea typeface="Montserrat"/>
                <a:cs typeface="Montserrat"/>
                <a:sym typeface="Montserrat"/>
              </a:rPr>
              <a:t>.</a:t>
            </a:r>
            <a:endParaRPr b="0" i="0" sz="1200" u="none" cap="none" strike="noStrike">
              <a:solidFill>
                <a:srgbClr val="000000"/>
              </a:solidFill>
              <a:latin typeface="Montserrat"/>
              <a:ea typeface="Montserrat"/>
              <a:cs typeface="Montserrat"/>
              <a:sym typeface="Montserrat"/>
            </a:endParaRPr>
          </a:p>
          <a:p>
            <a:pPr indent="-304800" lvl="0" marL="457200" marR="0" rtl="0" algn="l">
              <a:lnSpc>
                <a:spcPct val="150000"/>
              </a:lnSpc>
              <a:spcBef>
                <a:spcPts val="0"/>
              </a:spcBef>
              <a:spcAft>
                <a:spcPts val="0"/>
              </a:spcAft>
              <a:buClr>
                <a:schemeClr val="dk1"/>
              </a:buClr>
              <a:buSzPts val="1200"/>
              <a:buFont typeface="Arial"/>
              <a:buChar char="-"/>
            </a:pPr>
            <a:r>
              <a:rPr b="0" i="0" lang="en-GB" sz="1200" u="none" cap="none" strike="noStrike">
                <a:solidFill>
                  <a:schemeClr val="dk1"/>
                </a:solidFill>
                <a:latin typeface="Montserrat"/>
                <a:ea typeface="Montserrat"/>
                <a:cs typeface="Montserrat"/>
                <a:sym typeface="Montserrat"/>
              </a:rPr>
              <a:t>Các tiêu chí đã được confirm loại trừ hoàn toàn có thể chấm </a:t>
            </a:r>
            <a:r>
              <a:rPr b="1" i="0" lang="en-GB" sz="1200" u="none" cap="none" strike="noStrike">
                <a:solidFill>
                  <a:srgbClr val="38761D"/>
                </a:solidFill>
                <a:latin typeface="Montserrat"/>
                <a:ea typeface="Montserrat"/>
                <a:cs typeface="Montserrat"/>
                <a:sym typeface="Montserrat"/>
              </a:rPr>
              <a:t>[Đạt]</a:t>
            </a:r>
            <a:r>
              <a:rPr b="0" i="0" lang="en-GB" sz="1200" u="none" cap="none" strike="noStrike">
                <a:solidFill>
                  <a:schemeClr val="dk1"/>
                </a:solidFill>
                <a:latin typeface="Montserrat"/>
                <a:ea typeface="Montserrat"/>
                <a:cs typeface="Montserrat"/>
                <a:sym typeface="Montserrat"/>
              </a:rPr>
              <a:t>, </a:t>
            </a:r>
            <a:endParaRPr b="0" i="0" sz="1200" u="none" cap="none" strike="noStrike">
              <a:solidFill>
                <a:schemeClr val="dk1"/>
              </a:solidFill>
              <a:latin typeface="Montserrat"/>
              <a:ea typeface="Montserrat"/>
              <a:cs typeface="Montserrat"/>
              <a:sym typeface="Montserrat"/>
            </a:endParaRPr>
          </a:p>
          <a:p>
            <a:pPr indent="0" lvl="0" marL="450000" marR="0" rtl="0" algn="l">
              <a:lnSpc>
                <a:spcPct val="150000"/>
              </a:lnSpc>
              <a:spcBef>
                <a:spcPts val="0"/>
              </a:spcBef>
              <a:spcAft>
                <a:spcPts val="0"/>
              </a:spcAft>
              <a:buClr>
                <a:schemeClr val="dk1"/>
              </a:buClr>
              <a:buSzPts val="1100"/>
              <a:buFont typeface="Arial"/>
              <a:buNone/>
            </a:pPr>
            <a:r>
              <a:rPr b="0" i="1" lang="en-GB" sz="1200" u="none" cap="none" strike="noStrike">
                <a:solidFill>
                  <a:schemeClr val="dk1"/>
                </a:solidFill>
                <a:latin typeface="Montserrat"/>
                <a:ea typeface="Montserrat"/>
                <a:cs typeface="Montserrat"/>
                <a:sym typeface="Montserrat"/>
              </a:rPr>
              <a:t>=&gt; chỉ cần dùng bằng chứng hiện có (dùng hình ảnh mail HRW + Link EF) để cập nhật </a:t>
            </a:r>
            <a:r>
              <a:rPr b="1" i="1" lang="en-GB" sz="1200" u="none" cap="none" strike="noStrike">
                <a:solidFill>
                  <a:srgbClr val="0000FF"/>
                </a:solidFill>
                <a:latin typeface="Montserrat"/>
                <a:ea typeface="Montserrat"/>
                <a:cs typeface="Montserrat"/>
                <a:sym typeface="Montserrat"/>
              </a:rPr>
              <a:t>khi chấm</a:t>
            </a:r>
            <a:r>
              <a:rPr b="0" i="1" lang="en-GB" sz="1200" u="none" cap="none" strike="noStrike">
                <a:solidFill>
                  <a:schemeClr val="dk1"/>
                </a:solidFill>
                <a:latin typeface="Montserrat"/>
                <a:ea typeface="Montserrat"/>
                <a:cs typeface="Montserrat"/>
                <a:sym typeface="Montserrat"/>
              </a:rPr>
              <a:t>.</a:t>
            </a:r>
            <a:endParaRPr b="0" i="0" sz="1200" u="none" cap="none" strike="noStrike">
              <a:solidFill>
                <a:schemeClr val="dk1"/>
              </a:solidFill>
              <a:latin typeface="Montserrat"/>
              <a:ea typeface="Montserrat"/>
              <a:cs typeface="Montserrat"/>
              <a:sym typeface="Montserrat"/>
            </a:endParaRPr>
          </a:p>
        </p:txBody>
      </p:sp>
      <p:sp>
        <p:nvSpPr>
          <p:cNvPr id="500" name="Google Shape;500;p74"/>
          <p:cNvSpPr txBox="1"/>
          <p:nvPr/>
        </p:nvSpPr>
        <p:spPr>
          <a:xfrm>
            <a:off x="7007325" y="798875"/>
            <a:ext cx="19026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0000"/>
                </a:solidFill>
                <a:latin typeface="Arial"/>
                <a:ea typeface="Arial"/>
                <a:cs typeface="Arial"/>
                <a:sym typeface="Arial"/>
              </a:rPr>
              <a:t>MINH HOẠ GHI CHÚ PHIẾU LỖI</a:t>
            </a:r>
            <a:endParaRPr b="0" i="0" sz="900" u="none" cap="none" strike="noStrike">
              <a:solidFill>
                <a:srgbClr val="000000"/>
              </a:solidFill>
              <a:latin typeface="Arial"/>
              <a:ea typeface="Arial"/>
              <a:cs typeface="Arial"/>
              <a:sym typeface="Arial"/>
            </a:endParaRPr>
          </a:p>
        </p:txBody>
      </p:sp>
      <p:sp>
        <p:nvSpPr>
          <p:cNvPr id="501" name="Google Shape;501;p74"/>
          <p:cNvSpPr txBox="1"/>
          <p:nvPr/>
        </p:nvSpPr>
        <p:spPr>
          <a:xfrm>
            <a:off x="342426" y="690875"/>
            <a:ext cx="6162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GB" sz="1600" u="none" cap="none" strike="noStrike">
                <a:solidFill>
                  <a:srgbClr val="0056B3"/>
                </a:solidFill>
                <a:latin typeface="Montserrat"/>
                <a:ea typeface="Montserrat"/>
                <a:cs typeface="Montserrat"/>
                <a:sym typeface="Montserrat"/>
              </a:rPr>
              <a:t>5.   TIÊU CHÍ KHÔNG ĐẠT ĐÃ ĐƯỢC CONFIRM</a:t>
            </a:r>
            <a:endParaRPr b="0" i="0" sz="1600" u="none" cap="none" strike="noStrike">
              <a:solidFill>
                <a:srgbClr val="0056B3"/>
              </a:solidFill>
              <a:latin typeface="Montserrat"/>
              <a:ea typeface="Montserrat"/>
              <a:cs typeface="Montserrat"/>
              <a:sym typeface="Montserrat"/>
            </a:endParaRPr>
          </a:p>
        </p:txBody>
      </p:sp>
      <p:pic>
        <p:nvPicPr>
          <p:cNvPr id="502" name="Google Shape;502;p74" title="Screenshot_66.png"/>
          <p:cNvPicPr preferRelativeResize="0"/>
          <p:nvPr/>
        </p:nvPicPr>
        <p:blipFill rotWithShape="1">
          <a:blip r:embed="rId3">
            <a:alphaModFix/>
          </a:blip>
          <a:srcRect b="0" l="1267" r="1267" t="0"/>
          <a:stretch/>
        </p:blipFill>
        <p:spPr>
          <a:xfrm>
            <a:off x="7007253" y="1048732"/>
            <a:ext cx="1813200" cy="3716700"/>
          </a:xfrm>
          <a:prstGeom prst="roundRect">
            <a:avLst>
              <a:gd fmla="val 6062" name="adj"/>
            </a:avLst>
          </a:prstGeom>
          <a:noFill/>
          <a:ln cap="flat" cmpd="sng" w="19050">
            <a:solidFill>
              <a:schemeClr val="dk2"/>
            </a:solidFill>
            <a:prstDash val="solid"/>
            <a:round/>
            <a:headEnd len="sm" w="sm" type="none"/>
            <a:tailEnd len="sm" w="sm" type="none"/>
          </a:ln>
        </p:spPr>
      </p:pic>
      <p:sp>
        <p:nvSpPr>
          <p:cNvPr id="503" name="Google Shape;503;p74"/>
          <p:cNvSpPr txBox="1"/>
          <p:nvPr/>
        </p:nvSpPr>
        <p:spPr>
          <a:xfrm>
            <a:off x="458150" y="2710150"/>
            <a:ext cx="6404100" cy="2308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rgbClr val="FF0000"/>
                </a:solidFill>
                <a:latin typeface="Montserrat"/>
                <a:ea typeface="Montserrat"/>
                <a:cs typeface="Montserrat"/>
                <a:sym typeface="Montserrat"/>
              </a:rPr>
              <a:t>*** LƯU Ý:</a:t>
            </a:r>
            <a:endParaRPr b="1" i="0" sz="1200" u="none" cap="none" strike="noStrike">
              <a:solidFill>
                <a:srgbClr val="FF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rgbClr val="0000FF"/>
                </a:solidFill>
                <a:latin typeface="Montserrat"/>
                <a:ea typeface="Montserrat"/>
                <a:cs typeface="Montserrat"/>
                <a:sym typeface="Montserrat"/>
              </a:rPr>
              <a:t>Phạt phiếu không đạt chưa khắc phục xong sẽ cộng dồn qua các tháng, bắt đầu từ thời điểm 01/04.</a:t>
            </a:r>
            <a:endParaRPr b="1" i="0" sz="1200" u="none" cap="none" strike="noStrike">
              <a:solidFill>
                <a:srgbClr val="0000FF"/>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1" i="0" lang="en-GB" sz="1200" u="none" cap="none" strike="noStrike">
                <a:solidFill>
                  <a:srgbClr val="000000"/>
                </a:solidFill>
                <a:latin typeface="Montserrat"/>
                <a:ea typeface="Montserrat"/>
                <a:cs typeface="Montserrat"/>
                <a:sym typeface="Montserrat"/>
              </a:rPr>
              <a:t>VD: </a:t>
            </a:r>
            <a:endParaRPr b="1" i="0" sz="1200" u="none" cap="none" strike="noStrike">
              <a:solidFill>
                <a:srgbClr val="00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0" i="1" lang="en-GB" sz="1200" u="none" cap="none" strike="noStrike">
                <a:solidFill>
                  <a:srgbClr val="000000"/>
                </a:solidFill>
                <a:latin typeface="Montserrat"/>
                <a:ea typeface="Montserrat"/>
                <a:cs typeface="Montserrat"/>
                <a:sym typeface="Montserrat"/>
              </a:rPr>
              <a:t>T4: Còn 10 phiếu chưa khắc phục xong</a:t>
            </a:r>
            <a:endParaRPr b="0" i="1" sz="1200" u="none" cap="none" strike="noStrike">
              <a:solidFill>
                <a:srgbClr val="00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0" i="1" lang="en-GB" sz="1200" u="none" cap="none" strike="noStrike">
                <a:solidFill>
                  <a:srgbClr val="000000"/>
                </a:solidFill>
                <a:latin typeface="Montserrat"/>
                <a:ea typeface="Montserrat"/>
                <a:cs typeface="Montserrat"/>
                <a:sym typeface="Montserrat"/>
              </a:rPr>
              <a:t>Nếu không gia hạn tháng sau =&gt; sẽ chốt phạt 30/04</a:t>
            </a:r>
            <a:endParaRPr b="0" i="1" sz="1200" u="none" cap="none" strike="noStrike">
              <a:solidFill>
                <a:srgbClr val="00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200"/>
              <a:buFont typeface="Arial"/>
              <a:buNone/>
            </a:pPr>
            <a:r>
              <a:rPr b="0" i="1" lang="en-GB" sz="1200" u="none" cap="none" strike="noStrike">
                <a:solidFill>
                  <a:srgbClr val="000000"/>
                </a:solidFill>
                <a:latin typeface="Montserrat"/>
                <a:ea typeface="Montserrat"/>
                <a:cs typeface="Montserrat"/>
                <a:sym typeface="Montserrat"/>
              </a:rPr>
              <a:t>T5: Nếu các phiếu T4 vẫn chưa khắc phục xong</a:t>
            </a:r>
            <a:endParaRPr b="0" i="1" sz="1200" u="none" cap="none" strike="noStrike">
              <a:solidFill>
                <a:srgbClr val="000000"/>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rPr b="0" i="1" lang="en-GB" sz="1200" u="none" cap="none" strike="noStrike">
                <a:solidFill>
                  <a:schemeClr val="dk1"/>
                </a:solidFill>
                <a:latin typeface="Montserrat"/>
                <a:ea typeface="Montserrat"/>
                <a:cs typeface="Montserrat"/>
                <a:sym typeface="Montserrat"/>
              </a:rPr>
              <a:t>Nếu không gia hạn tháng sau =&gt; sẽ chốt phạt 31/05 </a:t>
            </a:r>
            <a:r>
              <a:rPr b="1" i="1" lang="en-GB" sz="1200" u="none" cap="none" strike="noStrike">
                <a:solidFill>
                  <a:srgbClr val="FF0000"/>
                </a:solidFill>
                <a:latin typeface="Montserrat"/>
                <a:ea typeface="Montserrat"/>
                <a:cs typeface="Montserrat"/>
                <a:sym typeface="Montserrat"/>
              </a:rPr>
              <a:t>cả phiếu T4 + T5</a:t>
            </a:r>
            <a:endParaRPr b="1" i="1" sz="1200" u="none" cap="none" strike="noStrike">
              <a:solidFill>
                <a:srgbClr val="FF0000"/>
              </a:solidFill>
              <a:latin typeface="Montserrat"/>
              <a:ea typeface="Montserrat"/>
              <a:cs typeface="Montserrat"/>
              <a:sym typeface="Montserrat"/>
            </a:endParaRPr>
          </a:p>
        </p:txBody>
      </p:sp>
      <p:sp>
        <p:nvSpPr>
          <p:cNvPr id="504" name="Google Shape;504;p74"/>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GB" sz="2288">
                <a:solidFill>
                  <a:srgbClr val="00467F"/>
                </a:solidFill>
                <a:latin typeface="Montserrat"/>
                <a:ea typeface="Montserrat"/>
                <a:cs typeface="Montserrat"/>
                <a:sym typeface="Montserrat"/>
              </a:rPr>
              <a:t>D. CÁC LƯU Ý VỀ BÀI CHẤM VÀ HỆ THỐNG</a:t>
            </a:r>
            <a:endParaRPr b="1">
              <a:solidFill>
                <a:srgbClr val="F15E2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5"/>
          <p:cNvSpPr txBox="1"/>
          <p:nvPr/>
        </p:nvSpPr>
        <p:spPr>
          <a:xfrm>
            <a:off x="142050" y="899675"/>
            <a:ext cx="8786700" cy="1200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00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Các tiêu chí đã chấm </a:t>
            </a:r>
            <a:r>
              <a:rPr b="1" i="0" lang="en-GB" sz="1100" u="none" cap="none" strike="noStrike">
                <a:solidFill>
                  <a:srgbClr val="FF0000"/>
                </a:solidFill>
                <a:latin typeface="Montserrat"/>
                <a:ea typeface="Montserrat"/>
                <a:cs typeface="Montserrat"/>
                <a:sym typeface="Montserrat"/>
              </a:rPr>
              <a:t>[Không đạt] </a:t>
            </a:r>
            <a:endParaRPr b="1" i="0" sz="1100" u="none" cap="none" strike="noStrike">
              <a:solidFill>
                <a:srgbClr val="FF0000"/>
              </a:solidFill>
              <a:latin typeface="Montserrat"/>
              <a:ea typeface="Montserrat"/>
              <a:cs typeface="Montserrat"/>
              <a:sym typeface="Montserrat"/>
            </a:endParaRPr>
          </a:p>
          <a:p>
            <a:pPr indent="0" lvl="0" marL="457200" marR="0" rtl="0" algn="l">
              <a:lnSpc>
                <a:spcPct val="100000"/>
              </a:lnSpc>
              <a:spcBef>
                <a:spcPts val="0"/>
              </a:spcBef>
              <a:spcAft>
                <a:spcPts val="0"/>
              </a:spcAft>
              <a:buClr>
                <a:srgbClr val="000000"/>
              </a:buClr>
              <a:buSzPts val="1400"/>
              <a:buFont typeface="Arial"/>
              <a:buNone/>
            </a:pPr>
            <a:r>
              <a:rPr b="0" i="0" lang="en-GB" sz="1100" u="none" cap="none" strike="noStrike">
                <a:solidFill>
                  <a:srgbClr val="000000"/>
                </a:solidFill>
                <a:latin typeface="Montserrat"/>
                <a:ea typeface="Montserrat"/>
                <a:cs typeface="Montserrat"/>
                <a:sym typeface="Montserrat"/>
              </a:rPr>
              <a:t>lần chấm tiếp theo sẽ chấm </a:t>
            </a:r>
            <a:r>
              <a:rPr b="1" i="0" lang="en-GB" sz="1100" u="none" cap="none" strike="noStrike">
                <a:solidFill>
                  <a:srgbClr val="38761D"/>
                </a:solidFill>
                <a:latin typeface="Montserrat"/>
                <a:ea typeface="Montserrat"/>
                <a:cs typeface="Montserrat"/>
                <a:sym typeface="Montserrat"/>
              </a:rPr>
              <a:t>[Đạt]</a:t>
            </a:r>
            <a:r>
              <a:rPr b="0" i="0" lang="en-GB" sz="1100" u="none" cap="none" strike="noStrike">
                <a:solidFill>
                  <a:srgbClr val="000000"/>
                </a:solidFill>
                <a:latin typeface="Montserrat"/>
                <a:ea typeface="Montserrat"/>
                <a:cs typeface="Montserrat"/>
                <a:sym typeface="Montserrat"/>
              </a:rPr>
              <a:t>, có thể chụp 1 bức ảnh toàn cảnh BC và </a:t>
            </a:r>
            <a:r>
              <a:rPr b="0" i="1" lang="en-GB" sz="1100" u="none" cap="none" strike="noStrike">
                <a:solidFill>
                  <a:srgbClr val="0000FF"/>
                </a:solidFill>
                <a:latin typeface="Montserrat"/>
                <a:ea typeface="Montserrat"/>
                <a:cs typeface="Montserrat"/>
                <a:sym typeface="Montserrat"/>
              </a:rPr>
              <a:t>note ghi chú ngày giờ</a:t>
            </a:r>
            <a:r>
              <a:rPr b="0" i="0" lang="en-GB" sz="1100" u="none" cap="none" strike="noStrike">
                <a:solidFill>
                  <a:srgbClr val="000000"/>
                </a:solidFill>
                <a:latin typeface="Montserrat"/>
                <a:ea typeface="Montserrat"/>
                <a:cs typeface="Montserrat"/>
                <a:sym typeface="Montserrat"/>
              </a:rPr>
              <a:t> đã chấm lần đầu, để QC nắm tình hình khi xem lại bài chấm.</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00000"/>
              </a:lnSpc>
              <a:spcBef>
                <a:spcPts val="0"/>
              </a:spcBef>
              <a:spcAft>
                <a:spcPts val="0"/>
              </a:spcAft>
              <a:buClr>
                <a:srgbClr val="000000"/>
              </a:buClr>
              <a:buSzPts val="1100"/>
              <a:buFont typeface="Montserrat"/>
              <a:buChar char="-"/>
            </a:pPr>
            <a:r>
              <a:rPr b="0" i="0" lang="en-GB" sz="1100" u="none" cap="none" strike="noStrike">
                <a:solidFill>
                  <a:schemeClr val="dk1"/>
                </a:solidFill>
                <a:latin typeface="Montserrat"/>
                <a:ea typeface="Montserrat"/>
                <a:cs typeface="Montserrat"/>
                <a:sym typeface="Montserrat"/>
              </a:rPr>
              <a:t>Tiêu chí đã chấm </a:t>
            </a:r>
            <a:r>
              <a:rPr b="1" i="0" lang="en-GB" sz="1100" u="none" cap="none" strike="noStrike">
                <a:solidFill>
                  <a:schemeClr val="dk1"/>
                </a:solidFill>
                <a:latin typeface="Montserrat"/>
                <a:ea typeface="Montserrat"/>
                <a:cs typeface="Montserrat"/>
                <a:sym typeface="Montserrat"/>
              </a:rPr>
              <a:t>[Không đạt] </a:t>
            </a:r>
            <a:endParaRPr b="1" i="0" sz="1100" u="none" cap="none" strike="noStrike">
              <a:solidFill>
                <a:schemeClr val="dk1"/>
              </a:solidFill>
              <a:latin typeface="Montserrat"/>
              <a:ea typeface="Montserrat"/>
              <a:cs typeface="Montserrat"/>
              <a:sym typeface="Montserrat"/>
            </a:endParaRPr>
          </a:p>
          <a:p>
            <a:pPr indent="0" lvl="0" marL="457200" marR="0" rtl="0" algn="l">
              <a:lnSpc>
                <a:spcPct val="100000"/>
              </a:lnSpc>
              <a:spcBef>
                <a:spcPts val="0"/>
              </a:spcBef>
              <a:spcAft>
                <a:spcPts val="0"/>
              </a:spcAft>
              <a:buClr>
                <a:srgbClr val="000000"/>
              </a:buClr>
              <a:buSzPts val="1400"/>
              <a:buFont typeface="Arial"/>
              <a:buNone/>
            </a:pPr>
            <a:r>
              <a:rPr b="0" i="0" lang="en-GB" sz="1100" u="none" cap="none" strike="noStrike">
                <a:solidFill>
                  <a:schemeClr val="dk1"/>
                </a:solidFill>
                <a:latin typeface="Montserrat"/>
                <a:ea typeface="Montserrat"/>
                <a:cs typeface="Montserrat"/>
                <a:sym typeface="Montserrat"/>
              </a:rPr>
              <a:t>có thể gia hạn thời gian phù hợp để chờ đến ngày đầy đủ các thông tin khắc phục thì cập nhật vào.</a:t>
            </a:r>
            <a:endParaRPr b="0" i="0" sz="1300" u="none" cap="none" strike="noStrike">
              <a:solidFill>
                <a:schemeClr val="dk1"/>
              </a:solidFill>
              <a:latin typeface="Montserrat"/>
              <a:ea typeface="Montserrat"/>
              <a:cs typeface="Montserrat"/>
              <a:sym typeface="Montserrat"/>
            </a:endParaRPr>
          </a:p>
        </p:txBody>
      </p:sp>
      <p:graphicFrame>
        <p:nvGraphicFramePr>
          <p:cNvPr id="510" name="Google Shape;510;p75"/>
          <p:cNvGraphicFramePr/>
          <p:nvPr/>
        </p:nvGraphicFramePr>
        <p:xfrm>
          <a:off x="713213" y="2153075"/>
          <a:ext cx="3000000" cy="3000000"/>
        </p:xfrm>
        <a:graphic>
          <a:graphicData uri="http://schemas.openxmlformats.org/drawingml/2006/table">
            <a:tbl>
              <a:tblPr>
                <a:noFill/>
                <a:tableStyleId>{FEAE7831-44E7-4453-A9C5-B0BCFF0F0B09}</a:tableStyleId>
              </a:tblPr>
              <a:tblGrid>
                <a:gridCol w="540175"/>
                <a:gridCol w="1165625"/>
                <a:gridCol w="1037675"/>
                <a:gridCol w="1037675"/>
                <a:gridCol w="1037675"/>
              </a:tblGrid>
              <a:tr h="254575">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VÍ DỤ</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Thứ 2</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Thứ 3</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Thứ 4</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Thứ 5</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r>
              <a:tr h="285100">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Chấm</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solidFill>
                            <a:srgbClr val="FF0000"/>
                          </a:solidFill>
                          <a:latin typeface="Montserrat"/>
                          <a:ea typeface="Montserrat"/>
                          <a:cs typeface="Montserrat"/>
                          <a:sym typeface="Montserrat"/>
                        </a:rPr>
                        <a:t>[Không đạt]</a:t>
                      </a:r>
                      <a:endParaRPr b="1" sz="1100" u="none" cap="none" strike="noStrike">
                        <a:solidFill>
                          <a:srgbClr val="FF0000"/>
                        </a:solidFill>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solidFill>
                            <a:srgbClr val="38761D"/>
                          </a:solidFill>
                          <a:latin typeface="Montserrat"/>
                          <a:ea typeface="Montserrat"/>
                          <a:cs typeface="Montserrat"/>
                          <a:sym typeface="Montserrat"/>
                        </a:rPr>
                        <a:t>[Đạt]</a:t>
                      </a:r>
                      <a:endParaRPr b="1" sz="1100" u="none" cap="none" strike="noStrike">
                        <a:solidFill>
                          <a:srgbClr val="38761D"/>
                        </a:solidFill>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solidFill>
                            <a:srgbClr val="38761D"/>
                          </a:solidFill>
                          <a:latin typeface="Montserrat"/>
                          <a:ea typeface="Montserrat"/>
                          <a:cs typeface="Montserrat"/>
                          <a:sym typeface="Montserrat"/>
                        </a:rPr>
                        <a:t>[Đạt]</a:t>
                      </a:r>
                      <a:endParaRPr b="1" sz="1100" u="none" cap="none" strike="noStrike">
                        <a:solidFill>
                          <a:srgbClr val="38761D"/>
                        </a:solidFill>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solidFill>
                            <a:srgbClr val="38761D"/>
                          </a:solidFill>
                          <a:latin typeface="Montserrat"/>
                          <a:ea typeface="Montserrat"/>
                          <a:cs typeface="Montserrat"/>
                          <a:sym typeface="Montserrat"/>
                        </a:rPr>
                        <a:t>[Đạt]</a:t>
                      </a:r>
                      <a:endParaRPr b="1" sz="1100" u="none" cap="none" strike="noStrike">
                        <a:solidFill>
                          <a:srgbClr val="38761D"/>
                        </a:solidFill>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66325">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Nội dung phiếu lỗi</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lang="en-GB" sz="1100" u="none" cap="none" strike="noStrike">
                          <a:latin typeface="Montserrat"/>
                          <a:ea typeface="Montserrat"/>
                          <a:cs typeface="Montserrat"/>
                          <a:sym typeface="Montserrat"/>
                        </a:rPr>
                        <a:t>Nội dung lỗi cần khắc phục</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GB" sz="1100" u="none" cap="none" strike="noStrike">
                          <a:latin typeface="Montserrat"/>
                          <a:ea typeface="Montserrat"/>
                          <a:cs typeface="Montserrat"/>
                          <a:sym typeface="Montserrat"/>
                        </a:rPr>
                        <a:t>Ngày giờ đã chấm lỗi hôm thứ 2</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lang="en-GB" sz="1100" u="none" cap="none" strike="noStrike">
                          <a:solidFill>
                            <a:schemeClr val="dk1"/>
                          </a:solidFill>
                          <a:latin typeface="Montserrat"/>
                          <a:ea typeface="Montserrat"/>
                          <a:cs typeface="Montserrat"/>
                          <a:sym typeface="Montserrat"/>
                        </a:rPr>
                        <a:t>Ngày giờ đã chấm lỗi hôm thứ 2</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lang="en-GB" sz="1100" u="none" cap="none" strike="noStrike">
                          <a:solidFill>
                            <a:schemeClr val="dk1"/>
                          </a:solidFill>
                          <a:latin typeface="Montserrat"/>
                          <a:ea typeface="Montserrat"/>
                          <a:cs typeface="Montserrat"/>
                          <a:sym typeface="Montserrat"/>
                        </a:rPr>
                        <a:t>Ngày giờ đã chấm lỗi hôm thứ 2</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56800">
                <a:tc>
                  <a:txBody>
                    <a:bodyPr/>
                    <a:lstStyle/>
                    <a:p>
                      <a:pPr indent="0" lvl="0" marL="0" marR="0" rtl="0" algn="ctr">
                        <a:lnSpc>
                          <a:spcPct val="115000"/>
                        </a:lnSpc>
                        <a:spcBef>
                          <a:spcPts val="0"/>
                        </a:spcBef>
                        <a:spcAft>
                          <a:spcPts val="0"/>
                        </a:spcAft>
                        <a:buClr>
                          <a:srgbClr val="000000"/>
                        </a:buClr>
                        <a:buSzPts val="1200"/>
                        <a:buFont typeface="Arial"/>
                        <a:buNone/>
                      </a:pPr>
                      <a:r>
                        <a:rPr b="1" lang="en-GB" sz="1100" u="none" cap="none" strike="noStrike">
                          <a:latin typeface="Montserrat"/>
                          <a:ea typeface="Montserrat"/>
                          <a:cs typeface="Montserrat"/>
                          <a:sym typeface="Montserrat"/>
                        </a:rPr>
                        <a:t>Mục đích</a:t>
                      </a:r>
                      <a:endParaRPr b="1"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CE4D6"/>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lang="en-GB" sz="1100" u="none" cap="none" strike="noStrike">
                          <a:latin typeface="Montserrat"/>
                          <a:ea typeface="Montserrat"/>
                          <a:cs typeface="Montserrat"/>
                          <a:sym typeface="Montserrat"/>
                        </a:rPr>
                        <a:t>Dùng tiêu chí này để chờ đến ngày khắc phục</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GB" sz="1100" u="none" cap="none" strike="noStrike">
                          <a:latin typeface="Montserrat"/>
                          <a:ea typeface="Montserrat"/>
                          <a:cs typeface="Montserrat"/>
                          <a:sym typeface="Montserrat"/>
                        </a:rPr>
                        <a:t>Không trùng ngày đầu đã chấm</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GB" sz="1100" u="none" cap="none" strike="noStrike">
                          <a:latin typeface="Montserrat"/>
                          <a:ea typeface="Montserrat"/>
                          <a:cs typeface="Montserrat"/>
                          <a:sym typeface="Montserrat"/>
                        </a:rPr>
                        <a:t>Không trùng ngày đầu đã chấm</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n-GB" sz="1100" u="none" cap="none" strike="noStrike">
                          <a:latin typeface="Montserrat"/>
                          <a:ea typeface="Montserrat"/>
                          <a:cs typeface="Montserrat"/>
                          <a:sym typeface="Montserrat"/>
                        </a:rPr>
                        <a:t>Không trùng ngày đầu đã chấm</a:t>
                      </a:r>
                      <a:endParaRPr sz="1100" u="none" cap="none" strike="noStrike">
                        <a:latin typeface="Montserrat"/>
                        <a:ea typeface="Montserrat"/>
                        <a:cs typeface="Montserrat"/>
                        <a:sym typeface="Montserrat"/>
                      </a:endParaRPr>
                    </a:p>
                  </a:txBody>
                  <a:tcPr marT="9525" marB="91425" marR="9525" marL="95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11" name="Google Shape;511;p75"/>
          <p:cNvSpPr txBox="1"/>
          <p:nvPr/>
        </p:nvSpPr>
        <p:spPr>
          <a:xfrm>
            <a:off x="258700" y="572688"/>
            <a:ext cx="7860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GB" sz="1600" u="none" cap="none" strike="noStrike">
                <a:solidFill>
                  <a:srgbClr val="0056B3"/>
                </a:solidFill>
                <a:latin typeface="Montserrat"/>
                <a:ea typeface="Montserrat"/>
                <a:cs typeface="Montserrat"/>
                <a:sym typeface="Montserrat"/>
              </a:rPr>
              <a:t>6.   KHÔNG CHẤM TRÙNG TIÊU CHÍ PHIẾU KHÔNG ĐẠT</a:t>
            </a:r>
            <a:endParaRPr b="0" i="0" sz="1600" u="none" cap="none" strike="noStrike">
              <a:solidFill>
                <a:srgbClr val="0056B3"/>
              </a:solidFill>
              <a:latin typeface="Montserrat"/>
              <a:ea typeface="Montserrat"/>
              <a:cs typeface="Montserrat"/>
              <a:sym typeface="Montserrat"/>
            </a:endParaRPr>
          </a:p>
        </p:txBody>
      </p:sp>
      <p:sp>
        <p:nvSpPr>
          <p:cNvPr id="512" name="Google Shape;512;p75"/>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GB" sz="2288">
                <a:solidFill>
                  <a:srgbClr val="00467F"/>
                </a:solidFill>
                <a:latin typeface="Montserrat"/>
                <a:ea typeface="Montserrat"/>
                <a:cs typeface="Montserrat"/>
                <a:sym typeface="Montserrat"/>
              </a:rPr>
              <a:t>D. CÁC LƯU Ý VỀ BÀI CHẤM VÀ HỆ THỐNG</a:t>
            </a:r>
            <a:endParaRPr b="1">
              <a:solidFill>
                <a:srgbClr val="F15E22"/>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6" name="Shape 516"/>
        <p:cNvGrpSpPr/>
        <p:nvPr/>
      </p:nvGrpSpPr>
      <p:grpSpPr>
        <a:xfrm>
          <a:off x="0" y="0"/>
          <a:ext cx="0" cy="0"/>
          <a:chOff x="0" y="0"/>
          <a:chExt cx="0" cy="0"/>
        </a:xfrm>
      </p:grpSpPr>
      <p:sp>
        <p:nvSpPr>
          <p:cNvPr id="517" name="Google Shape;517;p76"/>
          <p:cNvSpPr txBox="1"/>
          <p:nvPr>
            <p:ph idx="1" type="body"/>
          </p:nvPr>
        </p:nvSpPr>
        <p:spPr>
          <a:xfrm>
            <a:off x="3381275" y="1874550"/>
            <a:ext cx="55812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3500">
                <a:solidFill>
                  <a:schemeClr val="lt1"/>
                </a:solidFill>
                <a:latin typeface="Montserrat ExtraBold"/>
                <a:ea typeface="Montserrat ExtraBold"/>
                <a:cs typeface="Montserrat ExtraBold"/>
                <a:sym typeface="Montserrat ExtraBold"/>
              </a:rPr>
              <a:t>CHÍNH SÁCH CHẤM ĐIỂM BƯU CỤC</a:t>
            </a:r>
            <a:endParaRPr b="1" sz="3300">
              <a:solidFill>
                <a:schemeClr val="lt1"/>
              </a:solidFill>
              <a:latin typeface="Montserrat ExtraBold"/>
              <a:ea typeface="Montserrat ExtraBold"/>
              <a:cs typeface="Montserrat ExtraBold"/>
              <a:sym typeface="Montserrat ExtraBold"/>
            </a:endParaRPr>
          </a:p>
          <a:p>
            <a:pPr indent="0" lvl="0" marL="0" rtl="0" algn="l">
              <a:lnSpc>
                <a:spcPct val="115000"/>
              </a:lnSpc>
              <a:spcBef>
                <a:spcPts val="1200"/>
              </a:spcBef>
              <a:spcAft>
                <a:spcPts val="1200"/>
              </a:spcAft>
              <a:buClr>
                <a:schemeClr val="dk1"/>
              </a:buClr>
              <a:buSzPts val="1100"/>
              <a:buFont typeface="Arial"/>
              <a:buNone/>
            </a:pPr>
            <a:r>
              <a:t/>
            </a:r>
            <a:endParaRPr b="1" sz="3300">
              <a:solidFill>
                <a:schemeClr val="lt1"/>
              </a:solidFill>
              <a:latin typeface="Montserrat ExtraBold"/>
              <a:ea typeface="Montserrat ExtraBold"/>
              <a:cs typeface="Montserrat ExtraBold"/>
              <a:sym typeface="Montserrat ExtraBold"/>
            </a:endParaRPr>
          </a:p>
        </p:txBody>
      </p:sp>
      <p:sp>
        <p:nvSpPr>
          <p:cNvPr id="518" name="Google Shape;518;p76"/>
          <p:cNvSpPr txBox="1"/>
          <p:nvPr/>
        </p:nvSpPr>
        <p:spPr>
          <a:xfrm>
            <a:off x="2873075" y="3500625"/>
            <a:ext cx="5930400" cy="8772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MỨC PHẠT THIẾU BÀI CHẤM MỚI.</a:t>
            </a:r>
            <a:endParaRPr b="0" i="0" sz="1500" u="none" cap="none" strike="noStrike">
              <a:solidFill>
                <a:srgbClr val="00467F"/>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MỨC PHẠT PHIẾU LỖI KHÔNG KHẮC PHỤC.</a:t>
            </a:r>
            <a:endParaRPr b="0" i="0" sz="1500" u="none" cap="none" strike="noStrike">
              <a:solidFill>
                <a:srgbClr val="00467F"/>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CHÍNH SÁCH CHẤM ĐIỂM.</a:t>
            </a:r>
            <a:endParaRPr b="0" i="0" sz="150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7"/>
          <p:cNvSpPr txBox="1"/>
          <p:nvPr>
            <p:ph type="title"/>
          </p:nvPr>
        </p:nvSpPr>
        <p:spPr>
          <a:xfrm>
            <a:off x="43500" y="37788"/>
            <a:ext cx="670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8058"/>
              <a:buFont typeface="Arial"/>
              <a:buNone/>
            </a:pPr>
            <a:r>
              <a:rPr b="1" lang="en-GB" sz="2288">
                <a:solidFill>
                  <a:srgbClr val="00467F"/>
                </a:solidFill>
                <a:latin typeface="Montserrat"/>
                <a:ea typeface="Montserrat"/>
                <a:cs typeface="Montserrat"/>
                <a:sym typeface="Montserrat"/>
              </a:rPr>
              <a:t>A.  MỨC PHẠT THIẾU BÀI CHẤM</a:t>
            </a:r>
            <a:endParaRPr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
        <p:nvSpPr>
          <p:cNvPr id="524" name="Google Shape;524;p77"/>
          <p:cNvSpPr txBox="1"/>
          <p:nvPr/>
        </p:nvSpPr>
        <p:spPr>
          <a:xfrm>
            <a:off x="405875" y="2865475"/>
            <a:ext cx="7717500" cy="1954800"/>
          </a:xfrm>
          <a:prstGeom prst="rect">
            <a:avLst/>
          </a:prstGeom>
          <a:noFill/>
          <a:ln>
            <a:noFill/>
          </a:ln>
        </p:spPr>
        <p:txBody>
          <a:bodyPr anchorCtr="0" anchor="t" bIns="91425" lIns="91425" spcFirstLastPara="1" rIns="91425" wrap="square" tIns="91425">
            <a:spAutoFit/>
          </a:bodyPr>
          <a:lstStyle/>
          <a:p>
            <a:pPr indent="-292100" lvl="0" marL="450000" marR="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Đối tượng áp dụng: GĐV,AM, TBC, NVXL.</a:t>
            </a:r>
            <a:endParaRPr b="0" i="0" sz="1000" u="none" cap="none" strike="noStrike">
              <a:solidFill>
                <a:schemeClr val="dk1"/>
              </a:solidFill>
              <a:latin typeface="Montserrat"/>
              <a:ea typeface="Montserrat"/>
              <a:cs typeface="Montserrat"/>
              <a:sym typeface="Montserrat"/>
            </a:endParaRPr>
          </a:p>
          <a:p>
            <a:pPr indent="-292100" lvl="0" marL="450000" marR="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Mức phạt: 100,000 đồng/ lần thiếu bài chấm.</a:t>
            </a:r>
            <a:endParaRPr b="0" i="0" sz="1000" u="none" cap="none" strike="noStrike">
              <a:solidFill>
                <a:schemeClr val="dk1"/>
              </a:solidFill>
              <a:latin typeface="Montserrat"/>
              <a:ea typeface="Montserrat"/>
              <a:cs typeface="Montserrat"/>
              <a:sym typeface="Montserrat"/>
            </a:endParaRPr>
          </a:p>
          <a:p>
            <a:pPr indent="-292100" lvl="0" marL="450000" marR="91440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Đối với bài chấm </a:t>
            </a:r>
            <a:r>
              <a:rPr b="1" i="0" lang="en-GB" sz="1000" u="none" cap="none" strike="noStrike">
                <a:solidFill>
                  <a:schemeClr val="dk1"/>
                </a:solidFill>
                <a:latin typeface="Montserrat"/>
                <a:ea typeface="Montserrat"/>
                <a:cs typeface="Montserrat"/>
                <a:sym typeface="Montserrat"/>
              </a:rPr>
              <a:t>[HÀNG NGÀY] BÀI KIỂM TRA KIẾN THỨC</a:t>
            </a:r>
            <a:r>
              <a:rPr b="0" i="0" lang="en-GB" sz="1000" u="none" cap="none" strike="noStrike">
                <a:solidFill>
                  <a:schemeClr val="dk1"/>
                </a:solidFill>
                <a:latin typeface="Montserrat"/>
                <a:ea typeface="Montserrat"/>
                <a:cs typeface="Montserrat"/>
                <a:sym typeface="Montserrat"/>
              </a:rPr>
              <a:t>, mức phạt áp dụng tương đương mức phạt thiếu bài chấm định kỳ..</a:t>
            </a:r>
            <a:endParaRPr b="0" i="0" sz="1000" u="none" cap="none" strike="noStrike">
              <a:solidFill>
                <a:schemeClr val="dk1"/>
              </a:solidFill>
              <a:latin typeface="Montserrat"/>
              <a:ea typeface="Montserrat"/>
              <a:cs typeface="Montserrat"/>
              <a:sym typeface="Montserrat"/>
            </a:endParaRPr>
          </a:p>
          <a:p>
            <a:pPr indent="-292100" lvl="1" marL="719999" marR="91440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Bưu Cục không thực hiện bài chấm và bài kiểm tra.</a:t>
            </a:r>
            <a:endParaRPr b="0" i="0" sz="1000" u="none" cap="none" strike="noStrike">
              <a:solidFill>
                <a:schemeClr val="dk1"/>
              </a:solidFill>
              <a:latin typeface="Montserrat"/>
              <a:ea typeface="Montserrat"/>
              <a:cs typeface="Montserrat"/>
              <a:sym typeface="Montserrat"/>
            </a:endParaRPr>
          </a:p>
          <a:p>
            <a:pPr indent="-292100" lvl="1" marL="719999" marR="91440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Bưu Cục chỉ thực hiện bài chấm, nhưng không hoàn tất bài kiểm tra.</a:t>
            </a:r>
            <a:endParaRPr b="0" i="0" sz="1000" u="none" cap="none" strike="noStrike">
              <a:solidFill>
                <a:schemeClr val="dk1"/>
              </a:solidFill>
              <a:latin typeface="Montserrat"/>
              <a:ea typeface="Montserrat"/>
              <a:cs typeface="Montserrat"/>
              <a:sym typeface="Montserrat"/>
            </a:endParaRPr>
          </a:p>
          <a:p>
            <a:pPr indent="-292100" lvl="1" marL="719999" marR="91440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Bưu Cục có thực hiện bài kiểm tra nhưng không hoàn tất bài chấm.</a:t>
            </a:r>
            <a:endParaRPr b="0" i="0" sz="1000" u="none" cap="none" strike="noStrike">
              <a:solidFill>
                <a:schemeClr val="dk1"/>
              </a:solidFill>
              <a:latin typeface="Montserrat"/>
              <a:ea typeface="Montserrat"/>
              <a:cs typeface="Montserrat"/>
              <a:sym typeface="Montserrat"/>
            </a:endParaRPr>
          </a:p>
          <a:p>
            <a:pPr indent="-292100" lvl="1" marL="719999" marR="914400" rtl="0" algn="l">
              <a:lnSpc>
                <a:spcPct val="150000"/>
              </a:lnSpc>
              <a:spcBef>
                <a:spcPts val="0"/>
              </a:spcBef>
              <a:spcAft>
                <a:spcPts val="0"/>
              </a:spcAft>
              <a:buClr>
                <a:schemeClr val="dk1"/>
              </a:buClr>
              <a:buSzPts val="1000"/>
              <a:buFont typeface="Montserrat"/>
              <a:buChar char="○"/>
            </a:pPr>
            <a:r>
              <a:rPr b="0" i="0" lang="en-GB" sz="1000" u="none" cap="none" strike="noStrike">
                <a:solidFill>
                  <a:schemeClr val="dk1"/>
                </a:solidFill>
                <a:latin typeface="Montserrat"/>
                <a:ea typeface="Montserrat"/>
                <a:cs typeface="Montserrat"/>
                <a:sym typeface="Montserrat"/>
              </a:rPr>
              <a:t>Bưu Cục có kết quả không đạt bài kiểm tra, tương đương điểm số dưới 10.</a:t>
            </a:r>
            <a:endParaRPr b="0" i="0" sz="1000" u="none" cap="none" strike="noStrike">
              <a:solidFill>
                <a:schemeClr val="dk1"/>
              </a:solidFill>
              <a:latin typeface="Montserrat"/>
              <a:ea typeface="Montserrat"/>
              <a:cs typeface="Montserrat"/>
              <a:sym typeface="Montserrat"/>
            </a:endParaRPr>
          </a:p>
        </p:txBody>
      </p:sp>
      <p:graphicFrame>
        <p:nvGraphicFramePr>
          <p:cNvPr id="525" name="Google Shape;525;p77"/>
          <p:cNvGraphicFramePr/>
          <p:nvPr/>
        </p:nvGraphicFramePr>
        <p:xfrm>
          <a:off x="405875" y="675738"/>
          <a:ext cx="3000000" cy="3000000"/>
        </p:xfrm>
        <a:graphic>
          <a:graphicData uri="http://schemas.openxmlformats.org/drawingml/2006/table">
            <a:tbl>
              <a:tblPr>
                <a:solidFill>
                  <a:srgbClr val="FFFFFF"/>
                </a:solidFill>
                <a:tableStyleId>{FEAE7831-44E7-4453-A9C5-B0BCFF0F0B09}</a:tableStyleId>
              </a:tblPr>
              <a:tblGrid>
                <a:gridCol w="3079125"/>
                <a:gridCol w="2639350"/>
                <a:gridCol w="2431675"/>
              </a:tblGrid>
              <a:tr h="336675">
                <a:tc>
                  <a:txBody>
                    <a:bodyPr/>
                    <a:lstStyle/>
                    <a:p>
                      <a:pPr indent="0" lvl="0" marL="0" marR="0" rtl="0" algn="ctr">
                        <a:lnSpc>
                          <a:spcPct val="100000"/>
                        </a:lnSpc>
                        <a:spcBef>
                          <a:spcPts val="0"/>
                        </a:spcBef>
                        <a:spcAft>
                          <a:spcPts val="0"/>
                        </a:spcAft>
                        <a:buClr>
                          <a:srgbClr val="000000"/>
                        </a:buClr>
                        <a:buSzPts val="1100"/>
                        <a:buFont typeface="Arial"/>
                        <a:buNone/>
                      </a:pPr>
                      <a:r>
                        <a:rPr b="1" lang="en-GB" sz="1100" u="none" cap="none" strike="noStrike">
                          <a:solidFill>
                            <a:srgbClr val="FFFFFF"/>
                          </a:solidFill>
                          <a:latin typeface="Montserrat"/>
                          <a:ea typeface="Montserrat"/>
                          <a:cs typeface="Montserrat"/>
                          <a:sym typeface="Montserrat"/>
                        </a:rPr>
                        <a:t>MỤC</a:t>
                      </a:r>
                      <a:endParaRPr sz="1100" u="none" cap="none" strike="noStrike">
                        <a:solidFill>
                          <a:srgbClr val="212121"/>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sz="1100" u="none" cap="none" strike="noStrike">
                          <a:solidFill>
                            <a:srgbClr val="FFFFFF"/>
                          </a:solidFill>
                          <a:latin typeface="Montserrat"/>
                          <a:ea typeface="Montserrat"/>
                          <a:cs typeface="Montserrat"/>
                          <a:sym typeface="Montserrat"/>
                        </a:rPr>
                        <a:t>Chính Sách HRWS</a:t>
                      </a:r>
                      <a:endParaRPr b="1" sz="1100" u="none" cap="none" strike="noStrike">
                        <a:solidFill>
                          <a:srgbClr val="FFFFFF"/>
                        </a:solidFill>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solidFill>
                      <a:srgbClr val="0070C0"/>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sz="1100" u="none" cap="none" strike="noStrike">
                          <a:solidFill>
                            <a:srgbClr val="FFFFFF"/>
                          </a:solidFill>
                          <a:latin typeface="Montserrat"/>
                          <a:ea typeface="Montserrat"/>
                          <a:cs typeface="Montserrat"/>
                          <a:sym typeface="Montserrat"/>
                        </a:rPr>
                        <a:t>Lý Do</a:t>
                      </a:r>
                      <a:r>
                        <a:rPr lang="en-GB" sz="1100" u="none" cap="none" strike="noStrike">
                          <a:solidFill>
                            <a:schemeClr val="dk1"/>
                          </a:solidFill>
                          <a:highlight>
                            <a:srgbClr val="FFFFFF"/>
                          </a:highlight>
                          <a:latin typeface="Montserrat"/>
                          <a:ea typeface="Montserrat"/>
                          <a:cs typeface="Montserrat"/>
                          <a:sym typeface="Montserrat"/>
                        </a:rPr>
                        <a:t> </a:t>
                      </a:r>
                      <a:endParaRPr sz="1100" u="none" cap="none" strike="noStrike">
                        <a:solidFill>
                          <a:schemeClr val="dk1"/>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solidFill>
                      <a:srgbClr val="0070C0"/>
                    </a:solidFill>
                  </a:tcPr>
                </a:tc>
              </a:tr>
              <a:tr h="390075">
                <a:tc>
                  <a:txBody>
                    <a:bodyPr/>
                    <a:lstStyle/>
                    <a:p>
                      <a:pPr indent="0" lvl="0" marL="0" marR="0" rtl="0" algn="l">
                        <a:lnSpc>
                          <a:spcPct val="137500"/>
                        </a:lnSpc>
                        <a:spcBef>
                          <a:spcPts val="0"/>
                        </a:spcBef>
                        <a:spcAft>
                          <a:spcPts val="0"/>
                        </a:spcAft>
                        <a:buClr>
                          <a:srgbClr val="000000"/>
                        </a:buClr>
                        <a:buSzPts val="1050"/>
                        <a:buFont typeface="Arial"/>
                        <a:buNone/>
                      </a:pPr>
                      <a:r>
                        <a:rPr lang="en-GB" sz="1050" u="none" cap="none" strike="noStrike">
                          <a:solidFill>
                            <a:srgbClr val="021337"/>
                          </a:solidFill>
                          <a:highlight>
                            <a:srgbClr val="FFFFFF"/>
                          </a:highlight>
                          <a:latin typeface="Montserrat"/>
                          <a:ea typeface="Montserrat"/>
                          <a:cs typeface="Montserrat"/>
                          <a:sym typeface="Montserrat"/>
                        </a:rPr>
                        <a:t>[CẤP QUẢN LÝ V.2] - BẢNG ĐÁNH GIÁ BC GHN</a:t>
                      </a:r>
                      <a:endParaRPr sz="1000" u="none" cap="none" strike="noStrike">
                        <a:solidFill>
                          <a:srgbClr val="E74C3C"/>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solidFill>
                            <a:schemeClr val="dk1"/>
                          </a:solidFill>
                          <a:highlight>
                            <a:srgbClr val="FFFFFF"/>
                          </a:highlight>
                          <a:latin typeface="Montserrat"/>
                          <a:ea typeface="Montserrat"/>
                          <a:cs typeface="Montserrat"/>
                          <a:sym typeface="Montserrat"/>
                        </a:rPr>
                        <a:t>Phạt dựa trên số lượng bưu cục AM quản lý chưa chấm.</a:t>
                      </a:r>
                      <a:endParaRPr sz="1000" u="none" cap="none" strike="noStrike">
                        <a:solidFill>
                          <a:schemeClr val="dk1"/>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solidFill>
                            <a:schemeClr val="dk1"/>
                          </a:solidFill>
                          <a:highlight>
                            <a:schemeClr val="lt1"/>
                          </a:highlight>
                          <a:latin typeface="Montserrat"/>
                          <a:ea typeface="Montserrat"/>
                          <a:cs typeface="Montserrat"/>
                          <a:sym typeface="Montserrat"/>
                        </a:rPr>
                        <a:t>Không nhận chung bài chấm, nhận riêng lẻ từng kỳ.</a:t>
                      </a:r>
                      <a:endParaRPr sz="1000" u="none" cap="none" strike="noStrike">
                        <a:solidFill>
                          <a:schemeClr val="dk1"/>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r h="390075">
                <a:tc>
                  <a:txBody>
                    <a:bodyPr/>
                    <a:lstStyle/>
                    <a:p>
                      <a:pPr indent="0" lvl="0" marL="0" marR="0" rtl="0" algn="l">
                        <a:lnSpc>
                          <a:spcPct val="137500"/>
                        </a:lnSpc>
                        <a:spcBef>
                          <a:spcPts val="0"/>
                        </a:spcBef>
                        <a:spcAft>
                          <a:spcPts val="0"/>
                        </a:spcAft>
                        <a:buClr>
                          <a:srgbClr val="000000"/>
                        </a:buClr>
                        <a:buSzPts val="1050"/>
                        <a:buFont typeface="Arial"/>
                        <a:buNone/>
                      </a:pPr>
                      <a:r>
                        <a:rPr lang="en-GB" sz="1050" u="none" cap="none" strike="noStrike">
                          <a:solidFill>
                            <a:srgbClr val="021337"/>
                          </a:solidFill>
                          <a:highlight>
                            <a:srgbClr val="FFFFFF"/>
                          </a:highlight>
                          <a:latin typeface="Montserrat"/>
                          <a:ea typeface="Montserrat"/>
                          <a:cs typeface="Montserrat"/>
                          <a:sym typeface="Montserrat"/>
                        </a:rPr>
                        <a:t>[HÀNG NGÀY V.3] - BẢNG ĐÁNH GIÁ BC GHN</a:t>
                      </a:r>
                      <a:endParaRPr sz="1000" u="none" cap="none" strike="noStrike">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highlight>
                            <a:srgbClr val="FFFFFF"/>
                          </a:highlight>
                          <a:latin typeface="Montserrat"/>
                          <a:ea typeface="Montserrat"/>
                          <a:cs typeface="Montserrat"/>
                          <a:sym typeface="Montserrat"/>
                        </a:rPr>
                        <a:t>NVXL thiếu bài chấm, phạt liên đới TBC</a:t>
                      </a:r>
                      <a:endParaRPr sz="1000" u="none" cap="none" strike="noStrike">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highlight>
                            <a:srgbClr val="FFFFFF"/>
                          </a:highlight>
                          <a:latin typeface="Montserrat"/>
                          <a:ea typeface="Montserrat"/>
                          <a:cs typeface="Montserrat"/>
                          <a:sym typeface="Montserrat"/>
                        </a:rPr>
                        <a:t>Tất cả NV trong BC đều nhận 1 loại bài chấm cùng nhau</a:t>
                      </a:r>
                      <a:endParaRPr sz="1000" u="none" cap="none" strike="noStrike">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r h="390075">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solidFill>
                            <a:schemeClr val="dk1"/>
                          </a:solidFill>
                          <a:highlight>
                            <a:srgbClr val="FFFFFF"/>
                          </a:highlight>
                          <a:latin typeface="Montserrat"/>
                          <a:ea typeface="Montserrat"/>
                          <a:cs typeface="Montserrat"/>
                          <a:sym typeface="Montserrat"/>
                        </a:rPr>
                        <a:t>HÀNG NGÀY [KIỂM TRA KIẾN THỨC]</a:t>
                      </a:r>
                      <a:endParaRPr sz="1000" u="none" cap="none" strike="noStrike">
                        <a:solidFill>
                          <a:schemeClr val="dk1"/>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solidFill>
                            <a:schemeClr val="dk1"/>
                          </a:solidFill>
                          <a:highlight>
                            <a:srgbClr val="FFFFFF"/>
                          </a:highlight>
                          <a:latin typeface="Montserrat"/>
                          <a:ea typeface="Montserrat"/>
                          <a:cs typeface="Montserrat"/>
                          <a:sym typeface="Montserrat"/>
                        </a:rPr>
                        <a:t>Phạt dựa trên chức danh nhận bài (</a:t>
                      </a:r>
                      <a:r>
                        <a:rPr b="1" lang="en-GB" sz="1000" u="none" cap="none" strike="noStrike">
                          <a:solidFill>
                            <a:schemeClr val="dk1"/>
                          </a:solidFill>
                          <a:highlight>
                            <a:srgbClr val="FFFFFF"/>
                          </a:highlight>
                          <a:latin typeface="Montserrat"/>
                          <a:ea typeface="Montserrat"/>
                          <a:cs typeface="Montserrat"/>
                          <a:sym typeface="Montserrat"/>
                        </a:rPr>
                        <a:t>không phạt liên đới TBC</a:t>
                      </a:r>
                      <a:r>
                        <a:rPr lang="en-GB" sz="1000" u="none" cap="none" strike="noStrike">
                          <a:solidFill>
                            <a:schemeClr val="dk1"/>
                          </a:solidFill>
                          <a:highlight>
                            <a:srgbClr val="FFFFFF"/>
                          </a:highlight>
                          <a:latin typeface="Montserrat"/>
                          <a:ea typeface="Montserrat"/>
                          <a:cs typeface="Montserrat"/>
                          <a:sym typeface="Montserrat"/>
                        </a:rPr>
                        <a:t>)</a:t>
                      </a:r>
                      <a:endParaRPr sz="1000" u="none" cap="none" strike="noStrike">
                        <a:solidFill>
                          <a:schemeClr val="dk1"/>
                        </a:solidFill>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SzPts val="1000"/>
                        <a:buFont typeface="Arial"/>
                        <a:buNone/>
                      </a:pPr>
                      <a:r>
                        <a:rPr lang="en-GB" sz="1000" u="none" cap="none" strike="noStrike">
                          <a:highlight>
                            <a:srgbClr val="FFFFFF"/>
                          </a:highlight>
                          <a:latin typeface="Montserrat"/>
                          <a:ea typeface="Montserrat"/>
                          <a:cs typeface="Montserrat"/>
                          <a:sym typeface="Montserrat"/>
                        </a:rPr>
                        <a:t>Không nhận chung bài kiểm tra, nhận riêng lẻ từng ngày</a:t>
                      </a:r>
                      <a:endParaRPr sz="1000" u="none" cap="none" strike="noStrike">
                        <a:highlight>
                          <a:srgbClr val="FFFFFF"/>
                        </a:highlight>
                        <a:latin typeface="Montserrat"/>
                        <a:ea typeface="Montserrat"/>
                        <a:cs typeface="Montserrat"/>
                        <a:sym typeface="Montserrat"/>
                      </a:endParaRPr>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bl>
          </a:graphicData>
        </a:graphic>
      </p:graphicFrame>
      <p:sp>
        <p:nvSpPr>
          <p:cNvPr id="526" name="Google Shape;526;p77"/>
          <p:cNvSpPr txBox="1"/>
          <p:nvPr/>
        </p:nvSpPr>
        <p:spPr>
          <a:xfrm>
            <a:off x="334850" y="4712425"/>
            <a:ext cx="5259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sng" cap="none" strike="noStrike">
                <a:solidFill>
                  <a:schemeClr val="accent2"/>
                </a:solidFill>
                <a:highlight>
                  <a:srgbClr val="FFFFFF"/>
                </a:highlight>
                <a:latin typeface="Montserrat"/>
                <a:ea typeface="Montserrat"/>
                <a:cs typeface="Montserrat"/>
                <a:sym typeface="Montserrat"/>
              </a:rPr>
              <a:t>Lưu ý</a:t>
            </a:r>
            <a:r>
              <a:rPr b="1" i="0" lang="en-GB" sz="1000" u="none" cap="none" strike="noStrike">
                <a:solidFill>
                  <a:schemeClr val="accent2"/>
                </a:solidFill>
                <a:highlight>
                  <a:srgbClr val="FFFFFF"/>
                </a:highlight>
                <a:latin typeface="Montserrat"/>
                <a:ea typeface="Montserrat"/>
                <a:cs typeface="Montserrat"/>
                <a:sym typeface="Montserrat"/>
              </a:rPr>
              <a:t>: </a:t>
            </a:r>
            <a:r>
              <a:rPr b="0" i="1" lang="en-GB" sz="1000" u="none" cap="none" strike="noStrike">
                <a:solidFill>
                  <a:schemeClr val="accent2"/>
                </a:solidFill>
                <a:highlight>
                  <a:srgbClr val="FFFFFF"/>
                </a:highlight>
                <a:latin typeface="Montserrat"/>
                <a:ea typeface="Montserrat"/>
                <a:cs typeface="Montserrat"/>
                <a:sym typeface="Montserrat"/>
              </a:rPr>
              <a:t>Chính sách được áp dụng cho các dữ liệu chốt phạt từ </a:t>
            </a:r>
            <a:r>
              <a:rPr b="0" i="1" lang="en-GB" sz="1000" u="none" cap="none" strike="noStrike">
                <a:solidFill>
                  <a:schemeClr val="accent2"/>
                </a:solidFill>
                <a:highlight>
                  <a:schemeClr val="lt1"/>
                </a:highlight>
                <a:latin typeface="Montserrat"/>
                <a:ea typeface="Montserrat"/>
                <a:cs typeface="Montserrat"/>
                <a:sym typeface="Montserrat"/>
              </a:rPr>
              <a:t>01.05.2023</a:t>
            </a:r>
            <a:endParaRPr b="0" i="1" sz="1200" u="none" cap="none" strike="noStrike">
              <a:solidFill>
                <a:srgbClr val="000000"/>
              </a:solidFill>
              <a:highlight>
                <a:schemeClr val="lt1"/>
              </a:highlight>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8"/>
          <p:cNvSpPr txBox="1"/>
          <p:nvPr>
            <p:ph type="title"/>
          </p:nvPr>
        </p:nvSpPr>
        <p:spPr>
          <a:xfrm>
            <a:off x="32150" y="37650"/>
            <a:ext cx="700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0253"/>
              <a:buFont typeface="Arial"/>
              <a:buNone/>
            </a:pPr>
            <a:r>
              <a:rPr b="1" lang="en-GB" sz="2188">
                <a:solidFill>
                  <a:srgbClr val="00467F"/>
                </a:solidFill>
                <a:latin typeface="Montserrat"/>
                <a:ea typeface="Montserrat"/>
                <a:cs typeface="Montserrat"/>
                <a:sym typeface="Montserrat"/>
              </a:rPr>
              <a:t>B. MỨC PHẠT PHIẾU LỖI KHÔNG KHẮC PHỤC </a:t>
            </a:r>
            <a:endParaRPr sz="21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97222"/>
              <a:buNone/>
            </a:pPr>
            <a:r>
              <a:t/>
            </a:r>
            <a:endParaRPr b="1" sz="3200">
              <a:solidFill>
                <a:srgbClr val="F15E22"/>
              </a:solidFill>
              <a:latin typeface="Montserrat"/>
              <a:ea typeface="Montserrat"/>
              <a:cs typeface="Montserrat"/>
              <a:sym typeface="Montserrat"/>
            </a:endParaRPr>
          </a:p>
        </p:txBody>
      </p:sp>
      <p:graphicFrame>
        <p:nvGraphicFramePr>
          <p:cNvPr id="532" name="Google Shape;532;p78"/>
          <p:cNvGraphicFramePr/>
          <p:nvPr/>
        </p:nvGraphicFramePr>
        <p:xfrm>
          <a:off x="387050" y="1202735"/>
          <a:ext cx="3000000" cy="3000000"/>
        </p:xfrm>
        <a:graphic>
          <a:graphicData uri="http://schemas.openxmlformats.org/drawingml/2006/table">
            <a:tbl>
              <a:tblPr>
                <a:noFill/>
                <a:tableStyleId>{D85CD894-7ADE-400A-BBEF-B107B9F286FF}</a:tableStyleId>
              </a:tblPr>
              <a:tblGrid>
                <a:gridCol w="3348150"/>
                <a:gridCol w="4975850"/>
              </a:tblGrid>
              <a:tr h="545325">
                <a:tc>
                  <a:txBody>
                    <a:bodyPr/>
                    <a:lstStyle/>
                    <a:p>
                      <a:pPr indent="0" lvl="0" marL="0" marR="0" rtl="0" algn="ctr">
                        <a:lnSpc>
                          <a:spcPct val="100000"/>
                        </a:lnSpc>
                        <a:spcBef>
                          <a:spcPts val="0"/>
                        </a:spcBef>
                        <a:spcAft>
                          <a:spcPts val="0"/>
                        </a:spcAft>
                        <a:buClr>
                          <a:srgbClr val="000000"/>
                        </a:buClr>
                        <a:buSzPts val="1100"/>
                        <a:buFont typeface="Arial"/>
                        <a:buNone/>
                      </a:pPr>
                      <a:r>
                        <a:rPr b="1" lang="en-GB" sz="1100" u="none" cap="none" strike="noStrike">
                          <a:solidFill>
                            <a:srgbClr val="FFFFFF"/>
                          </a:solidFill>
                          <a:latin typeface="Montserrat"/>
                          <a:ea typeface="Montserrat"/>
                          <a:cs typeface="Montserrat"/>
                          <a:sym typeface="Montserrat"/>
                        </a:rPr>
                        <a:t>Chức danh</a:t>
                      </a:r>
                      <a:endParaRPr b="1"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6522"/>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sz="1100" u="none" cap="none" strike="noStrike">
                          <a:solidFill>
                            <a:srgbClr val="FFFFFF"/>
                          </a:solidFill>
                          <a:latin typeface="Montserrat"/>
                          <a:ea typeface="Montserrat"/>
                          <a:cs typeface="Montserrat"/>
                          <a:sym typeface="Montserrat"/>
                        </a:rPr>
                        <a:t>Mức phạt</a:t>
                      </a:r>
                      <a:endParaRPr b="1"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467F"/>
                    </a:solidFill>
                  </a:tcPr>
                </a:tc>
              </a:tr>
              <a:tr h="964875">
                <a:tc>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Nhân Viên Xử Lý</a:t>
                      </a:r>
                      <a:endParaRPr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6522"/>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100,000 đồng/ lỗi</a:t>
                      </a:r>
                      <a:endParaRPr sz="11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Mức phạt áp dụng toàn bộ Nhân viên Xử Lý của Bưu cục</a:t>
                      </a:r>
                      <a:endParaRPr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467F"/>
                    </a:solidFill>
                  </a:tcPr>
                </a:tc>
              </a:tr>
              <a:tr h="545325">
                <a:tc>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Trường Bưu Cục</a:t>
                      </a:r>
                      <a:endParaRPr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6522"/>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100,000 đồng/ lỗi</a:t>
                      </a:r>
                      <a:endParaRPr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467F"/>
                    </a:solidFill>
                  </a:tcPr>
                </a:tc>
              </a:tr>
              <a:tr h="545325">
                <a:tc>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Quản Lý Khu Vực/ Quản Lý Khu Vực Thử Vai</a:t>
                      </a:r>
                      <a:endParaRPr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6522"/>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100" u="none" cap="none" strike="noStrike">
                          <a:solidFill>
                            <a:srgbClr val="FFFFFF"/>
                          </a:solidFill>
                          <a:latin typeface="Montserrat"/>
                          <a:ea typeface="Montserrat"/>
                          <a:cs typeface="Montserrat"/>
                          <a:sym typeface="Montserrat"/>
                        </a:rPr>
                        <a:t>10% trên tổng mức phạt thuộc các Bưu Cục quản lý</a:t>
                      </a:r>
                      <a:endParaRPr sz="11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467F"/>
                    </a:solidFill>
                  </a:tcPr>
                </a:tc>
              </a:tr>
            </a:tbl>
          </a:graphicData>
        </a:graphic>
      </p:graphicFrame>
      <p:sp>
        <p:nvSpPr>
          <p:cNvPr id="533" name="Google Shape;533;p78"/>
          <p:cNvSpPr txBox="1"/>
          <p:nvPr/>
        </p:nvSpPr>
        <p:spPr>
          <a:xfrm>
            <a:off x="354450" y="3865925"/>
            <a:ext cx="8389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sng" cap="none" strike="noStrike">
                <a:solidFill>
                  <a:schemeClr val="accent2"/>
                </a:solidFill>
                <a:highlight>
                  <a:srgbClr val="FFFFFF"/>
                </a:highlight>
                <a:latin typeface="Montserrat"/>
                <a:ea typeface="Montserrat"/>
                <a:cs typeface="Montserrat"/>
                <a:sym typeface="Montserrat"/>
              </a:rPr>
              <a:t>Lưu ý</a:t>
            </a:r>
            <a:r>
              <a:rPr b="1" i="0" lang="en-GB" sz="1000" u="none" cap="none" strike="noStrike">
                <a:solidFill>
                  <a:schemeClr val="accent2"/>
                </a:solidFill>
                <a:highlight>
                  <a:srgbClr val="FFFFFF"/>
                </a:highlight>
                <a:latin typeface="Montserrat"/>
                <a:ea typeface="Montserrat"/>
                <a:cs typeface="Montserrat"/>
                <a:sym typeface="Montserrat"/>
              </a:rPr>
              <a:t>: </a:t>
            </a:r>
            <a:r>
              <a:rPr b="0" i="1" lang="en-GB" sz="1000" u="none" cap="none" strike="noStrike">
                <a:solidFill>
                  <a:schemeClr val="accent2"/>
                </a:solidFill>
                <a:highlight>
                  <a:srgbClr val="FFFFFF"/>
                </a:highlight>
                <a:latin typeface="Montserrat"/>
                <a:ea typeface="Montserrat"/>
                <a:cs typeface="Montserrat"/>
                <a:sym typeface="Montserrat"/>
              </a:rPr>
              <a:t>Tất cả phiếu lỗi không khắc phục sẽ được chốt phạt hàng tháng, đến khi bưu cục khắc phục hoàn tất mới dừng phạt</a:t>
            </a:r>
            <a:endParaRPr b="0" i="1" sz="1200" u="none" cap="none" strike="noStrike">
              <a:solidFill>
                <a:srgbClr val="000000"/>
              </a:solidFill>
              <a:highlight>
                <a:schemeClr val="lt1"/>
              </a:highlight>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9"/>
          <p:cNvSpPr txBox="1"/>
          <p:nvPr>
            <p:ph type="title"/>
          </p:nvPr>
        </p:nvSpPr>
        <p:spPr>
          <a:xfrm>
            <a:off x="210975" y="267275"/>
            <a:ext cx="6956100" cy="6738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8058"/>
              <a:buFont typeface="Arial"/>
              <a:buNone/>
            </a:pPr>
            <a:r>
              <a:rPr b="1" lang="en-GB" sz="2288">
                <a:solidFill>
                  <a:srgbClr val="00467F"/>
                </a:solidFill>
                <a:latin typeface="Montserrat"/>
                <a:ea typeface="Montserrat"/>
                <a:cs typeface="Montserrat"/>
                <a:sym typeface="Montserrat"/>
              </a:rPr>
              <a:t>C. CHÍNH SÁCH CHẤM ĐIỂM BƯU CỤC </a:t>
            </a:r>
            <a:endParaRPr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
        <p:nvSpPr>
          <p:cNvPr id="539" name="Google Shape;539;p79"/>
          <p:cNvSpPr txBox="1"/>
          <p:nvPr/>
        </p:nvSpPr>
        <p:spPr>
          <a:xfrm>
            <a:off x="270625" y="949650"/>
            <a:ext cx="5781000" cy="266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1200"/>
              </a:spcBef>
              <a:spcAft>
                <a:spcPts val="0"/>
              </a:spcAft>
              <a:buClr>
                <a:srgbClr val="000000"/>
              </a:buClr>
              <a:buSzPts val="900"/>
              <a:buFont typeface="Arial"/>
              <a:buNone/>
            </a:pPr>
            <a:r>
              <a:rPr b="1" i="0" lang="en-GB" sz="900" u="none" cap="none" strike="noStrike">
                <a:solidFill>
                  <a:srgbClr val="FF0000"/>
                </a:solidFill>
                <a:latin typeface="Montserrat"/>
                <a:ea typeface="Montserrat"/>
                <a:cs typeface="Montserrat"/>
                <a:sym typeface="Montserrat"/>
              </a:rPr>
              <a:t> Link </a:t>
            </a:r>
            <a:r>
              <a:rPr b="1" i="0" lang="en-GB" sz="900" u="sng" cap="none" strike="noStrike">
                <a:solidFill>
                  <a:schemeClr val="hlink"/>
                </a:solidFill>
                <a:latin typeface="Montserrat"/>
                <a:ea typeface="Montserrat"/>
                <a:cs typeface="Montserrat"/>
                <a:sym typeface="Montserrat"/>
                <a:hlinkClick r:id="rId3"/>
              </a:rPr>
              <a:t>Chính sách ban hành và áp dụng ngày 10/10/2022</a:t>
            </a:r>
            <a:endParaRPr b="1" i="0" sz="900" u="none" cap="none" strike="noStrike">
              <a:solidFill>
                <a:srgbClr val="3978DB"/>
              </a:solidFill>
              <a:latin typeface="Montserrat"/>
              <a:ea typeface="Montserrat"/>
              <a:cs typeface="Montserrat"/>
              <a:sym typeface="Montserrat"/>
            </a:endParaRPr>
          </a:p>
          <a:p>
            <a:pPr indent="0" lvl="0" marL="0" marR="0" rtl="0" algn="just">
              <a:lnSpc>
                <a:spcPct val="100000"/>
              </a:lnSpc>
              <a:spcBef>
                <a:spcPts val="1200"/>
              </a:spcBef>
              <a:spcAft>
                <a:spcPts val="0"/>
              </a:spcAft>
              <a:buClr>
                <a:srgbClr val="000000"/>
              </a:buClr>
              <a:buSzPts val="900"/>
              <a:buFont typeface="Arial"/>
              <a:buNone/>
            </a:pPr>
            <a:r>
              <a:t/>
            </a:r>
            <a:endParaRPr b="1" i="1" sz="900" u="none" cap="none" strike="noStrike">
              <a:solidFill>
                <a:srgbClr val="3978DB"/>
              </a:solidFill>
              <a:latin typeface="Montserrat"/>
              <a:ea typeface="Montserrat"/>
              <a:cs typeface="Montserrat"/>
              <a:sym typeface="Montserrat"/>
            </a:endParaRPr>
          </a:p>
        </p:txBody>
      </p:sp>
      <p:pic>
        <p:nvPicPr>
          <p:cNvPr id="540" name="Google Shape;540;p79"/>
          <p:cNvPicPr preferRelativeResize="0"/>
          <p:nvPr/>
        </p:nvPicPr>
        <p:blipFill rotWithShape="1">
          <a:blip r:embed="rId4">
            <a:alphaModFix/>
          </a:blip>
          <a:srcRect b="0" l="0" r="0" t="0"/>
          <a:stretch/>
        </p:blipFill>
        <p:spPr>
          <a:xfrm>
            <a:off x="270625" y="1330925"/>
            <a:ext cx="2003800" cy="3027025"/>
          </a:xfrm>
          <a:prstGeom prst="rect">
            <a:avLst/>
          </a:prstGeom>
          <a:noFill/>
          <a:ln cap="flat" cmpd="sng" w="9525">
            <a:solidFill>
              <a:schemeClr val="dk2"/>
            </a:solidFill>
            <a:prstDash val="solid"/>
            <a:round/>
            <a:headEnd len="sm" w="sm" type="none"/>
            <a:tailEnd len="sm" w="sm" type="none"/>
          </a:ln>
        </p:spPr>
      </p:pic>
      <p:pic>
        <p:nvPicPr>
          <p:cNvPr id="541" name="Google Shape;541;p79"/>
          <p:cNvPicPr preferRelativeResize="0"/>
          <p:nvPr/>
        </p:nvPicPr>
        <p:blipFill rotWithShape="1">
          <a:blip r:embed="rId5">
            <a:alphaModFix/>
          </a:blip>
          <a:srcRect b="0" l="0" r="0" t="0"/>
          <a:stretch/>
        </p:blipFill>
        <p:spPr>
          <a:xfrm>
            <a:off x="2495450" y="1330925"/>
            <a:ext cx="1980350" cy="3000849"/>
          </a:xfrm>
          <a:prstGeom prst="rect">
            <a:avLst/>
          </a:prstGeom>
          <a:noFill/>
          <a:ln cap="flat" cmpd="sng" w="9525">
            <a:solidFill>
              <a:schemeClr val="dk2"/>
            </a:solidFill>
            <a:prstDash val="solid"/>
            <a:round/>
            <a:headEnd len="sm" w="sm" type="none"/>
            <a:tailEnd len="sm" w="sm" type="none"/>
          </a:ln>
        </p:spPr>
      </p:pic>
      <p:pic>
        <p:nvPicPr>
          <p:cNvPr id="542" name="Google Shape;542;p79"/>
          <p:cNvPicPr preferRelativeResize="0"/>
          <p:nvPr/>
        </p:nvPicPr>
        <p:blipFill rotWithShape="1">
          <a:blip r:embed="rId6">
            <a:alphaModFix/>
          </a:blip>
          <a:srcRect b="0" l="0" r="0" t="0"/>
          <a:stretch/>
        </p:blipFill>
        <p:spPr>
          <a:xfrm>
            <a:off x="4696814" y="1346587"/>
            <a:ext cx="2065775" cy="2969526"/>
          </a:xfrm>
          <a:prstGeom prst="rect">
            <a:avLst/>
          </a:prstGeom>
          <a:noFill/>
          <a:ln cap="flat" cmpd="sng" w="9525">
            <a:solidFill>
              <a:schemeClr val="dk2"/>
            </a:solidFill>
            <a:prstDash val="solid"/>
            <a:round/>
            <a:headEnd len="sm" w="sm" type="none"/>
            <a:tailEnd len="sm" w="sm" type="none"/>
          </a:ln>
        </p:spPr>
      </p:pic>
      <p:pic>
        <p:nvPicPr>
          <p:cNvPr id="543" name="Google Shape;543;p79"/>
          <p:cNvPicPr preferRelativeResize="0"/>
          <p:nvPr/>
        </p:nvPicPr>
        <p:blipFill rotWithShape="1">
          <a:blip r:embed="rId7">
            <a:alphaModFix/>
          </a:blip>
          <a:srcRect b="0" l="0" r="0" t="0"/>
          <a:stretch/>
        </p:blipFill>
        <p:spPr>
          <a:xfrm>
            <a:off x="6983625" y="1343156"/>
            <a:ext cx="2003800" cy="3033868"/>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7" name="Shape 547"/>
        <p:cNvGrpSpPr/>
        <p:nvPr/>
      </p:nvGrpSpPr>
      <p:grpSpPr>
        <a:xfrm>
          <a:off x="0" y="0"/>
          <a:ext cx="0" cy="0"/>
          <a:chOff x="0" y="0"/>
          <a:chExt cx="0" cy="0"/>
        </a:xfrm>
      </p:grpSpPr>
      <p:sp>
        <p:nvSpPr>
          <p:cNvPr id="548" name="Google Shape;548;p80"/>
          <p:cNvSpPr txBox="1"/>
          <p:nvPr>
            <p:ph idx="1" type="body"/>
          </p:nvPr>
        </p:nvSpPr>
        <p:spPr>
          <a:xfrm>
            <a:off x="3046750" y="2041650"/>
            <a:ext cx="5178000" cy="119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GB" sz="3300">
                <a:solidFill>
                  <a:schemeClr val="lt1"/>
                </a:solidFill>
                <a:latin typeface="Montserrat ExtraBold"/>
                <a:ea typeface="Montserrat ExtraBold"/>
                <a:cs typeface="Montserrat ExtraBold"/>
                <a:sym typeface="Montserrat ExtraBold"/>
              </a:rPr>
              <a:t>CƠ CHẾ LOẠI TRỪ</a:t>
            </a:r>
            <a:endParaRPr b="1" sz="3500">
              <a:solidFill>
                <a:schemeClr val="lt1"/>
              </a:solidFill>
              <a:latin typeface="Montserrat ExtraBold"/>
              <a:ea typeface="Montserrat ExtraBold"/>
              <a:cs typeface="Montserrat ExtraBold"/>
              <a:sym typeface="Montserrat ExtraBold"/>
            </a:endParaRPr>
          </a:p>
        </p:txBody>
      </p:sp>
      <p:sp>
        <p:nvSpPr>
          <p:cNvPr id="549" name="Google Shape;549;p80"/>
          <p:cNvSpPr txBox="1"/>
          <p:nvPr/>
        </p:nvSpPr>
        <p:spPr>
          <a:xfrm>
            <a:off x="2530175" y="3459050"/>
            <a:ext cx="5590800" cy="6465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E-FORM TRONG THỜI HẠN.</a:t>
            </a:r>
            <a:endParaRPr b="0" i="0" sz="1500" u="none" cap="none" strike="noStrike">
              <a:solidFill>
                <a:srgbClr val="00467F"/>
              </a:solidFill>
              <a:latin typeface="Montserrat"/>
              <a:ea typeface="Montserrat"/>
              <a:cs typeface="Montserrat"/>
              <a:sym typeface="Montserrat"/>
            </a:endParaRPr>
          </a:p>
          <a:p>
            <a:pPr indent="-323850" lvl="0" marL="457200" marR="0" rtl="0" algn="l">
              <a:lnSpc>
                <a:spcPct val="100000"/>
              </a:lnSpc>
              <a:spcBef>
                <a:spcPts val="0"/>
              </a:spcBef>
              <a:spcAft>
                <a:spcPts val="0"/>
              </a:spcAft>
              <a:buClr>
                <a:srgbClr val="00467F"/>
              </a:buClr>
              <a:buSzPts val="1500"/>
              <a:buFont typeface="Montserrat"/>
              <a:buAutoNum type="alphaUcPeriod"/>
            </a:pPr>
            <a:r>
              <a:rPr b="0" i="0" lang="en-GB" sz="1500" u="none" cap="none" strike="noStrike">
                <a:solidFill>
                  <a:srgbClr val="00467F"/>
                </a:solidFill>
                <a:latin typeface="Montserrat"/>
                <a:ea typeface="Montserrat"/>
                <a:cs typeface="Montserrat"/>
                <a:sym typeface="Montserrat"/>
              </a:rPr>
              <a:t>CÁC TRƯỜNG HỢP XÁC NHẬN MIỄN PHẠT.</a:t>
            </a:r>
            <a:endParaRPr b="0" i="0" sz="150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81"/>
          <p:cNvSpPr txBox="1"/>
          <p:nvPr>
            <p:ph type="title"/>
          </p:nvPr>
        </p:nvSpPr>
        <p:spPr>
          <a:xfrm>
            <a:off x="135750" y="236100"/>
            <a:ext cx="6526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GB" sz="2050">
                <a:solidFill>
                  <a:srgbClr val="00467F"/>
                </a:solidFill>
                <a:latin typeface="Montserrat"/>
                <a:ea typeface="Montserrat"/>
                <a:cs typeface="Montserrat"/>
                <a:sym typeface="Montserrat"/>
              </a:rPr>
              <a:t>A. TỔNG HỢP THÔNG TIN GỬI E-FORM HRW</a:t>
            </a:r>
            <a:endParaRPr b="1" sz="2050">
              <a:solidFill>
                <a:srgbClr val="00467F"/>
              </a:solidFill>
              <a:latin typeface="Montserrat"/>
              <a:ea typeface="Montserrat"/>
              <a:cs typeface="Montserrat"/>
              <a:sym typeface="Montserrat"/>
            </a:endParaRPr>
          </a:p>
        </p:txBody>
      </p:sp>
      <p:sp>
        <p:nvSpPr>
          <p:cNvPr id="555" name="Google Shape;555;p81"/>
          <p:cNvSpPr txBox="1"/>
          <p:nvPr/>
        </p:nvSpPr>
        <p:spPr>
          <a:xfrm>
            <a:off x="23550" y="808800"/>
            <a:ext cx="9096900" cy="435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GB" sz="1100" u="none" cap="none" strike="noStrike">
                <a:solidFill>
                  <a:srgbClr val="000000"/>
                </a:solidFill>
                <a:latin typeface="Montserrat"/>
                <a:ea typeface="Montserrat"/>
                <a:cs typeface="Montserrat"/>
                <a:sym typeface="Montserrat"/>
              </a:rPr>
              <a:t>Các trường hợp phát sinh không thể thực hiện chấm bài hoặc khắc phục phiếu lỗi trên App Mobile, thì vẫn tổng hợp thông tin bằng chứng loại trừ và thông báo lên E-Form như hiện tại vẫn làm: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0" i="0" lang="en-GB" sz="1100" u="none" cap="none" strike="noStrike">
                <a:solidFill>
                  <a:srgbClr val="000000"/>
                </a:solidFill>
                <a:highlight>
                  <a:srgbClr val="FFFFFF"/>
                </a:highlight>
                <a:latin typeface="Montserrat"/>
                <a:ea typeface="Montserrat"/>
                <a:cs typeface="Montserrat"/>
                <a:sym typeface="Montserrat"/>
              </a:rPr>
              <a:t>Tạo yêu cầu giải trình tại link: </a:t>
            </a:r>
            <a:r>
              <a:rPr b="0" i="0" lang="en-GB" sz="1100" u="sng" cap="none" strike="noStrike">
                <a:solidFill>
                  <a:schemeClr val="hlink"/>
                </a:solidFill>
                <a:highlight>
                  <a:srgbClr val="FFFFFF"/>
                </a:highlight>
                <a:latin typeface="Montserrat"/>
                <a:ea typeface="Montserrat"/>
                <a:cs typeface="Montserrat"/>
                <a:sym typeface="Montserrat"/>
                <a:hlinkClick r:id="rId3"/>
              </a:rPr>
              <a:t>https://noibo.ghn.vn/eform/form/create?flowId=6526253de48483cfb86aed30</a:t>
            </a:r>
            <a:r>
              <a:rPr b="0" i="0" lang="en-GB" sz="1100" u="sng" cap="none" strike="noStrike">
                <a:solidFill>
                  <a:srgbClr val="0000FF"/>
                </a:solidFill>
                <a:highlight>
                  <a:srgbClr val="FFFFFF"/>
                </a:highlight>
                <a:latin typeface="Montserrat"/>
                <a:ea typeface="Montserrat"/>
                <a:cs typeface="Montserrat"/>
                <a:sym typeface="Montserrat"/>
              </a:rPr>
              <a:t>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1" i="0" lang="en-GB" sz="1100" u="sng" cap="none" strike="noStrike">
                <a:solidFill>
                  <a:srgbClr val="E74C3C"/>
                </a:solidFill>
                <a:latin typeface="Montserrat"/>
                <a:ea typeface="Montserrat"/>
                <a:cs typeface="Montserrat"/>
                <a:sym typeface="Montserrat"/>
              </a:rPr>
              <a:t>TRONG THÁNG:</a:t>
            </a:r>
            <a:r>
              <a:rPr b="1" i="0" lang="en-GB" sz="1100" u="none" cap="none" strike="noStrike">
                <a:solidFill>
                  <a:srgbClr val="E74C3C"/>
                </a:solidFill>
                <a:latin typeface="Montserrat"/>
                <a:ea typeface="Montserrat"/>
                <a:cs typeface="Montserrat"/>
                <a:sym typeface="Montserrat"/>
              </a:rPr>
              <a:t>  </a:t>
            </a:r>
            <a:r>
              <a:rPr b="1" i="0" lang="en-GB" sz="1100" u="none" cap="none" strike="noStrike">
                <a:solidFill>
                  <a:srgbClr val="2980B9"/>
                </a:solidFill>
                <a:latin typeface="Montserrat"/>
                <a:ea typeface="Montserrat"/>
                <a:cs typeface="Montserrat"/>
                <a:sym typeface="Montserrat"/>
              </a:rPr>
              <a:t>MIỄN TRỪ TẠI THỜI ĐIỂM PHÁT SINH.</a:t>
            </a:r>
            <a:endParaRPr b="1" i="0" sz="1100" u="none" cap="none" strike="noStrike">
              <a:solidFill>
                <a:srgbClr val="2980B9"/>
              </a:solidFill>
              <a:latin typeface="Montserrat"/>
              <a:ea typeface="Montserrat"/>
              <a:cs typeface="Montserrat"/>
              <a:sym typeface="Montserrat"/>
            </a:endParaRPr>
          </a:p>
          <a:p>
            <a:pPr indent="-298450" lvl="0" marL="457200" marR="0" rtl="0" algn="l">
              <a:lnSpc>
                <a:spcPct val="115000"/>
              </a:lnSpc>
              <a:spcBef>
                <a:spcPts val="1200"/>
              </a:spcBef>
              <a:spcAft>
                <a:spcPts val="0"/>
              </a:spcAft>
              <a:buClr>
                <a:srgbClr val="000000"/>
              </a:buClr>
              <a:buSzPts val="1100"/>
              <a:buFont typeface="Arial"/>
              <a:buChar char="●"/>
            </a:pPr>
            <a:r>
              <a:rPr b="1" i="0" lang="en-GB" sz="1100" u="none" cap="none" strike="noStrike">
                <a:solidFill>
                  <a:srgbClr val="000000"/>
                </a:solidFill>
                <a:latin typeface="Montserrat"/>
                <a:ea typeface="Montserrat"/>
                <a:cs typeface="Montserrat"/>
                <a:sym typeface="Montserrat"/>
              </a:rPr>
              <a:t>VÍ DỤ CÁCH LÀM ĐÚNG:</a:t>
            </a:r>
            <a:r>
              <a:rPr b="0" i="0" lang="en-GB" sz="1100" u="none" cap="none" strike="noStrike">
                <a:solidFill>
                  <a:srgbClr val="000000"/>
                </a:solidFill>
                <a:latin typeface="Montserrat"/>
                <a:ea typeface="Montserrat"/>
                <a:cs typeface="Montserrat"/>
                <a:sym typeface="Montserrat"/>
              </a:rPr>
              <a:t> Bưu cục quá tải vận hành: AM</a:t>
            </a:r>
            <a:r>
              <a:rPr b="0" i="1" lang="en-GB" sz="1100" u="none" cap="none" strike="noStrike">
                <a:solidFill>
                  <a:srgbClr val="000000"/>
                </a:solidFill>
                <a:latin typeface="Montserrat"/>
                <a:ea typeface="Montserrat"/>
                <a:cs typeface="Montserrat"/>
                <a:sym typeface="Montserrat"/>
              </a:rPr>
              <a:t> đề xuất loại trừ từ ngày .... đến ngày ....=&gt; GĐV duyệt =&gt; Ok</a:t>
            </a:r>
            <a:endParaRPr b="0" i="1"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Dành cho các trường hợp phát sinh hàng ngày trong vận hành cần báo loại trừ đến GĐV.</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Arial"/>
              <a:buChar char="●"/>
            </a:pPr>
            <a:r>
              <a:rPr b="1" i="0" lang="en-GB" sz="1100" u="sng" cap="none" strike="noStrike">
                <a:solidFill>
                  <a:srgbClr val="3300FF"/>
                </a:solidFill>
                <a:latin typeface="Montserrat"/>
                <a:ea typeface="Montserrat"/>
                <a:cs typeface="Montserrat"/>
                <a:sym typeface="Montserrat"/>
              </a:rPr>
              <a:t>Lưu ý:</a:t>
            </a:r>
            <a:r>
              <a:rPr b="0" i="0" lang="en-GB" sz="1100" u="none" cap="none" strike="noStrike">
                <a:solidFill>
                  <a:srgbClr val="000000"/>
                </a:solidFill>
                <a:latin typeface="Montserrat"/>
                <a:ea typeface="Montserrat"/>
                <a:cs typeface="Montserrat"/>
                <a:sym typeface="Montserrat"/>
              </a:rPr>
              <a:t> Các lý do hợp lý sẽ luôn được xem xét và loại trừ, Không duyệt loại trừ cho bất kỳ lý do nào gửi trễ hơn cuối tháng hoặc ngay khi các team chức năng tính chính sách. Nếu trễ qua tận tháng sau Team CH có quyền từ chối bất kì Mail/ E-Form nào mà không cần phản hồi.</a:t>
            </a:r>
            <a:endParaRPr b="1" i="0" sz="1100" u="sng" cap="none" strike="noStrike">
              <a:solidFill>
                <a:srgbClr val="E74C3C"/>
              </a:solidFill>
              <a:highlight>
                <a:srgbClr val="FFFFFF"/>
              </a:highlight>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100"/>
              <a:buFont typeface="Arial"/>
              <a:buNone/>
            </a:pPr>
            <a:r>
              <a:rPr b="1" i="0" lang="en-GB" sz="1100" u="sng" cap="none" strike="noStrike">
                <a:solidFill>
                  <a:srgbClr val="E74C3C"/>
                </a:solidFill>
                <a:highlight>
                  <a:srgbClr val="FFFFFF"/>
                </a:highlight>
                <a:latin typeface="Montserrat"/>
                <a:ea typeface="Montserrat"/>
                <a:cs typeface="Montserrat"/>
                <a:sym typeface="Montserrat"/>
              </a:rPr>
              <a:t>CUỐI THÁNG</a:t>
            </a:r>
            <a:r>
              <a:rPr b="1" i="0" lang="en-GB" sz="1100" u="none" cap="none" strike="noStrike">
                <a:solidFill>
                  <a:srgbClr val="E74C3C"/>
                </a:solidFill>
                <a:highlight>
                  <a:srgbClr val="FFFFFF"/>
                </a:highlight>
                <a:latin typeface="Montserrat"/>
                <a:ea typeface="Montserrat"/>
                <a:cs typeface="Montserrat"/>
                <a:sym typeface="Montserrat"/>
              </a:rPr>
              <a:t>: </a:t>
            </a:r>
            <a:r>
              <a:rPr b="1" i="0" lang="en-GB" sz="1100" u="none" cap="none" strike="noStrike">
                <a:solidFill>
                  <a:srgbClr val="0B5394"/>
                </a:solidFill>
                <a:highlight>
                  <a:srgbClr val="FFFFFF"/>
                </a:highlight>
                <a:latin typeface="Montserrat"/>
                <a:ea typeface="Montserrat"/>
                <a:cs typeface="Montserrat"/>
                <a:sym typeface="Montserrat"/>
              </a:rPr>
              <a:t>GIẢI TRÌNH GIẢM PHẠT CUỐI THÁNG.</a:t>
            </a:r>
            <a:endParaRPr b="1" i="0" sz="1100" u="none" cap="none" strike="noStrike">
              <a:solidFill>
                <a:srgbClr val="0B5394"/>
              </a:solidFill>
              <a:highlight>
                <a:srgbClr val="FFFFFF"/>
              </a:highlight>
              <a:latin typeface="Montserrat"/>
              <a:ea typeface="Montserrat"/>
              <a:cs typeface="Montserrat"/>
              <a:sym typeface="Montserrat"/>
            </a:endParaRPr>
          </a:p>
          <a:p>
            <a:pPr indent="-298450" lvl="0" marL="457200" marR="0" rtl="0" algn="l">
              <a:lnSpc>
                <a:spcPct val="115000"/>
              </a:lnSpc>
              <a:spcBef>
                <a:spcPts val="800"/>
              </a:spcBef>
              <a:spcAft>
                <a:spcPts val="0"/>
              </a:spcAft>
              <a:buClr>
                <a:srgbClr val="212121"/>
              </a:buClr>
              <a:buSzPts val="1100"/>
              <a:buFont typeface="Montserrat"/>
              <a:buChar char="●"/>
            </a:pPr>
            <a:r>
              <a:rPr b="0" i="0" lang="en-GB" sz="1100" u="none" cap="none" strike="noStrike">
                <a:solidFill>
                  <a:srgbClr val="212121"/>
                </a:solidFill>
                <a:highlight>
                  <a:srgbClr val="FFFFFF"/>
                </a:highlight>
                <a:latin typeface="Montserrat"/>
                <a:ea typeface="Montserrat"/>
                <a:cs typeface="Montserrat"/>
                <a:sym typeface="Montserrat"/>
              </a:rPr>
              <a:t>Dành cho toàn Vùng tổng hợp vào 1 file duy nhất các trường hợp cần giải trình loại trừ.</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15000"/>
              </a:lnSpc>
              <a:spcBef>
                <a:spcPts val="0"/>
              </a:spcBef>
              <a:spcAft>
                <a:spcPts val="0"/>
              </a:spcAft>
              <a:buClr>
                <a:srgbClr val="212121"/>
              </a:buClr>
              <a:buSzPts val="1100"/>
              <a:buFont typeface="Montserrat"/>
              <a:buChar char="●"/>
            </a:pPr>
            <a:r>
              <a:rPr b="0" i="0" lang="en-GB" sz="1100" u="none" cap="none" strike="noStrike">
                <a:solidFill>
                  <a:srgbClr val="212121"/>
                </a:solidFill>
                <a:highlight>
                  <a:srgbClr val="FFFFFF"/>
                </a:highlight>
                <a:latin typeface="Montserrat"/>
                <a:ea typeface="Montserrat"/>
                <a:cs typeface="Montserrat"/>
                <a:sym typeface="Montserrat"/>
              </a:rPr>
              <a:t>Vùng cần có 1 người AM Admin do GĐV yêu cầu, tổng hợp tất cả thông tin phạt từ Dashboard, giải trình bằng các Link E-form miễn trừ phát sinh trước đó đã tạo trong tháng vào file tổng hợp.</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15000"/>
              </a:lnSpc>
              <a:spcBef>
                <a:spcPts val="0"/>
              </a:spcBef>
              <a:spcAft>
                <a:spcPts val="0"/>
              </a:spcAft>
              <a:buClr>
                <a:srgbClr val="212121"/>
              </a:buClr>
              <a:buSzPts val="1100"/>
              <a:buFont typeface="Montserrat"/>
              <a:buChar char="●"/>
            </a:pPr>
            <a:r>
              <a:rPr b="0" i="0" lang="en-GB" sz="1100" u="none" cap="none" strike="noStrike">
                <a:solidFill>
                  <a:srgbClr val="212121"/>
                </a:solidFill>
                <a:highlight>
                  <a:srgbClr val="FFFFFF"/>
                </a:highlight>
                <a:latin typeface="Montserrat"/>
                <a:ea typeface="Montserrat"/>
                <a:cs typeface="Montserrat"/>
                <a:sym typeface="Montserrat"/>
              </a:rPr>
              <a:t>E-form cần được GĐV duyệt trước 24h ngày 7 tháng N + 1 (để xác nhận miễn phạt cho tháng N), sau thời gian này CnB từ chối E-Form</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15000"/>
              </a:lnSpc>
              <a:spcBef>
                <a:spcPts val="0"/>
              </a:spcBef>
              <a:spcAft>
                <a:spcPts val="0"/>
              </a:spcAft>
              <a:buClr>
                <a:srgbClr val="212121"/>
              </a:buClr>
              <a:buSzPts val="1100"/>
              <a:buFont typeface="Montserrat"/>
              <a:buChar char="●"/>
            </a:pPr>
            <a:r>
              <a:rPr b="0" i="0" lang="en-GB" sz="1100" u="none" cap="none" strike="noStrike">
                <a:solidFill>
                  <a:srgbClr val="212121"/>
                </a:solidFill>
                <a:highlight>
                  <a:srgbClr val="FFFFFF"/>
                </a:highlight>
                <a:latin typeface="Montserrat"/>
                <a:ea typeface="Montserrat"/>
                <a:cs typeface="Montserrat"/>
                <a:sym typeface="Montserrat"/>
              </a:rPr>
              <a:t>LINK MẪU FILE:</a:t>
            </a:r>
            <a:r>
              <a:rPr b="0" i="0" lang="en-GB" sz="1100" u="none" cap="none" strike="noStrike">
                <a:solidFill>
                  <a:srgbClr val="E74C3C"/>
                </a:solidFill>
                <a:highlight>
                  <a:srgbClr val="FFFFFF"/>
                </a:highlight>
                <a:latin typeface="Montserrat"/>
                <a:ea typeface="Montserrat"/>
                <a:cs typeface="Montserrat"/>
                <a:sym typeface="Montserrat"/>
              </a:rPr>
              <a:t> </a:t>
            </a:r>
            <a:r>
              <a:rPr b="0" i="0" lang="en-GB" sz="1100" u="sng" cap="none" strike="noStrike">
                <a:solidFill>
                  <a:schemeClr val="hlink"/>
                </a:solidFill>
                <a:highlight>
                  <a:srgbClr val="FFFFFF"/>
                </a:highlight>
                <a:latin typeface="Montserrat"/>
                <a:ea typeface="Montserrat"/>
                <a:cs typeface="Montserrat"/>
                <a:sym typeface="Montserrat"/>
                <a:hlinkClick r:id="rId4"/>
              </a:rPr>
              <a:t>Tải tại đây!</a:t>
            </a:r>
            <a:endParaRPr b="0" i="0" sz="1100" u="none" cap="none" strike="noStrike">
              <a:solidFill>
                <a:srgbClr val="0000FF"/>
              </a:solidFill>
              <a:latin typeface="Montserrat"/>
              <a:ea typeface="Montserrat"/>
              <a:cs typeface="Montserrat"/>
              <a:sym typeface="Montserrat"/>
            </a:endParaRPr>
          </a:p>
          <a:p>
            <a:pPr indent="0" lvl="0" marL="0" marR="0" rtl="0" algn="l">
              <a:lnSpc>
                <a:spcPct val="115000"/>
              </a:lnSpc>
              <a:spcBef>
                <a:spcPts val="160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FF"/>
              </a:solidFill>
              <a:highlight>
                <a:srgbClr val="FFFFFF"/>
              </a:highlight>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highlight>
                <a:srgbClr val="FFFFFF"/>
              </a:highlight>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ctr">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82"/>
          <p:cNvSpPr txBox="1"/>
          <p:nvPr>
            <p:ph type="title"/>
          </p:nvPr>
        </p:nvSpPr>
        <p:spPr>
          <a:xfrm>
            <a:off x="0" y="288225"/>
            <a:ext cx="6501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GB" sz="2050">
                <a:solidFill>
                  <a:srgbClr val="00467F"/>
                </a:solidFill>
                <a:latin typeface="Montserrat"/>
                <a:ea typeface="Montserrat"/>
                <a:cs typeface="Montserrat"/>
                <a:sym typeface="Montserrat"/>
              </a:rPr>
              <a:t>B. CÁC TRƯỜNG HỢP XÁC NHẬN MIỄN PHẠT</a:t>
            </a:r>
            <a:endParaRPr b="1" sz="2050">
              <a:solidFill>
                <a:srgbClr val="00467F"/>
              </a:solidFill>
              <a:latin typeface="Montserrat"/>
              <a:ea typeface="Montserrat"/>
              <a:cs typeface="Montserrat"/>
              <a:sym typeface="Montserrat"/>
            </a:endParaRPr>
          </a:p>
        </p:txBody>
      </p:sp>
      <p:sp>
        <p:nvSpPr>
          <p:cNvPr id="561" name="Google Shape;561;p82"/>
          <p:cNvSpPr txBox="1"/>
          <p:nvPr/>
        </p:nvSpPr>
        <p:spPr>
          <a:xfrm>
            <a:off x="0" y="900600"/>
            <a:ext cx="9144000" cy="46395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50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BC mới mở dưới 1 tháng không loại trừ thiếu số lượng bài chấm, chỉ loại trừ các phiếu không đạt (phiếu lỗi)</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50000"/>
              </a:lnSpc>
              <a:spcBef>
                <a:spcPts val="0"/>
              </a:spcBef>
              <a:spcAft>
                <a:spcPts val="0"/>
              </a:spcAft>
              <a:buClr>
                <a:srgbClr val="000000"/>
              </a:buClr>
              <a:buSzPts val="1400"/>
              <a:buFont typeface="Arial"/>
              <a:buNone/>
            </a:pPr>
            <a:r>
              <a:rPr b="1" i="0" lang="en-GB" sz="1100" u="none" cap="none" strike="noStrike">
                <a:solidFill>
                  <a:srgbClr val="000000"/>
                </a:solidFill>
                <a:latin typeface="Montserrat"/>
                <a:ea typeface="Montserrat"/>
                <a:cs typeface="Montserrat"/>
                <a:sym typeface="Montserrat"/>
              </a:rPr>
              <a:t>VD:</a:t>
            </a:r>
            <a:r>
              <a:rPr b="0" i="0" lang="en-GB" sz="1100" u="none" cap="none" strike="noStrike">
                <a:solidFill>
                  <a:srgbClr val="000000"/>
                </a:solidFill>
                <a:latin typeface="Montserrat"/>
                <a:ea typeface="Montserrat"/>
                <a:cs typeface="Montserrat"/>
                <a:sym typeface="Montserrat"/>
              </a:rPr>
              <a:t> BC bắt đầu vận hành từ ngày 10/2/2025 thì loại trừ các phiếu không đạt (phiếu lỗi) đến ngày 10/3/2025.</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400"/>
              <a:buFont typeface="Arial"/>
              <a:buNone/>
            </a:pPr>
            <a:r>
              <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Các trường hợp phát sinh cần lưu lại bằng chứng hoặc báo lên các group để TM xác định và ghi nhận lại tình trạng tại thời điểm đó, tốt nhất vẫn nên xác nhận các vấn đề phát sinh qua E-form.</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Các trường hợp có vấn đề vận hành hoặc nhân sự đều cần xác nhận bới GĐV/ HRBP.</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AM chủ động cập nhật tình hình Bưu cục vào E-form thông báo GĐV xác nhận loại trừ, để cuối tháng người giữ vai trò AM admin của Vùng tổng hợp.</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Admin Vùng viết E-form tổng hợp miễn phạt phải kèm link E-form của từng BC có xác nhận loại trừ.</a:t>
            </a:r>
            <a:endParaRPr b="1" i="0" sz="1100" u="none" cap="none" strike="noStrike">
              <a:solidFill>
                <a:srgbClr val="38761D"/>
              </a:solidFill>
              <a:latin typeface="Montserrat"/>
              <a:ea typeface="Montserrat"/>
              <a:cs typeface="Montserrat"/>
              <a:sym typeface="Montserrat"/>
            </a:endParaRPr>
          </a:p>
          <a:p>
            <a:pPr indent="0" lvl="0" marL="457200" marR="0" rtl="0" algn="l">
              <a:lnSpc>
                <a:spcPct val="150000"/>
              </a:lnSpc>
              <a:spcBef>
                <a:spcPts val="0"/>
              </a:spcBef>
              <a:spcAft>
                <a:spcPts val="0"/>
              </a:spcAft>
              <a:buClr>
                <a:srgbClr val="000000"/>
              </a:buClr>
              <a:buSzPts val="12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50000"/>
              </a:lnSpc>
              <a:spcBef>
                <a:spcPts val="0"/>
              </a:spcBef>
              <a:spcAft>
                <a:spcPts val="0"/>
              </a:spcAft>
              <a:buClr>
                <a:srgbClr val="000000"/>
              </a:buClr>
              <a:buSzPts val="1400"/>
              <a:buFont typeface="Arial"/>
              <a:buNone/>
            </a:pPr>
            <a:r>
              <a:rPr b="1" i="0" lang="en-GB" sz="1100" u="none" cap="none" strike="noStrike">
                <a:solidFill>
                  <a:srgbClr val="0000FF"/>
                </a:solidFill>
                <a:latin typeface="Montserrat"/>
                <a:ea typeface="Montserrat"/>
                <a:cs typeface="Montserrat"/>
                <a:sym typeface="Montserrat"/>
              </a:rPr>
              <a:t>*** Lưu ý:</a:t>
            </a:r>
            <a:endParaRPr b="0" i="0" sz="1100" u="none" cap="none" strike="noStrike">
              <a:solidFill>
                <a:srgbClr val="0000FF"/>
              </a:solidFill>
              <a:latin typeface="Montserrat"/>
              <a:ea typeface="Montserrat"/>
              <a:cs typeface="Montserrat"/>
              <a:sym typeface="Montserrat"/>
            </a:endParaRPr>
          </a:p>
          <a:p>
            <a:pPr indent="0" lvl="0" marL="457200" marR="0" rtl="0" algn="l">
              <a:lnSpc>
                <a:spcPct val="150000"/>
              </a:lnSpc>
              <a:spcBef>
                <a:spcPts val="0"/>
              </a:spcBef>
              <a:spcAft>
                <a:spcPts val="0"/>
              </a:spcAft>
              <a:buClr>
                <a:srgbClr val="000000"/>
              </a:buClr>
              <a:buSzPts val="1400"/>
              <a:buFont typeface="Arial"/>
              <a:buNone/>
            </a:pPr>
            <a:r>
              <a:rPr b="0" i="0" lang="en-GB" sz="1100" u="none" cap="none" strike="noStrike">
                <a:solidFill>
                  <a:srgbClr val="000000"/>
                </a:solidFill>
                <a:latin typeface="Montserrat"/>
                <a:ea typeface="Montserrat"/>
                <a:cs typeface="Montserrat"/>
                <a:sym typeface="Montserrat"/>
              </a:rPr>
              <a:t>Khi có </a:t>
            </a:r>
            <a:r>
              <a:rPr b="1" i="0" lang="en-GB" sz="1100" u="none" cap="none" strike="noStrike">
                <a:solidFill>
                  <a:srgbClr val="000000"/>
                </a:solidFill>
                <a:latin typeface="Montserrat"/>
                <a:ea typeface="Montserrat"/>
                <a:cs typeface="Montserrat"/>
                <a:sym typeface="Montserrat"/>
              </a:rPr>
              <a:t>BƯU CỤC ĐÓNG CỬA</a:t>
            </a:r>
            <a:r>
              <a:rPr b="0" i="0" lang="en-GB" sz="1100" u="none" cap="none" strike="noStrike">
                <a:solidFill>
                  <a:srgbClr val="000000"/>
                </a:solidFill>
                <a:latin typeface="Montserrat"/>
                <a:ea typeface="Montserrat"/>
                <a:cs typeface="Montserrat"/>
                <a:sym typeface="Montserrat"/>
              </a:rPr>
              <a:t> (chưa xoá khỏi hệ thống HRW), AM </a:t>
            </a:r>
            <a:r>
              <a:rPr b="1" i="0" lang="en-GB" sz="1100" u="none" cap="none" strike="noStrike">
                <a:solidFill>
                  <a:srgbClr val="000000"/>
                </a:solidFill>
                <a:latin typeface="Montserrat"/>
                <a:ea typeface="Montserrat"/>
                <a:cs typeface="Montserrat"/>
                <a:sym typeface="Montserrat"/>
              </a:rPr>
              <a:t>tạo EF (E-form) - QUY TRÌNH ĐÓNG MÃ BƯU CỤC/KHO</a:t>
            </a:r>
            <a:r>
              <a:rPr b="0" i="0" lang="en-GB" sz="1100" u="none" cap="none" strike="noStrike">
                <a:solidFill>
                  <a:srgbClr val="000000"/>
                </a:solidFill>
                <a:latin typeface="Montserrat"/>
                <a:ea typeface="Montserrat"/>
                <a:cs typeface="Montserrat"/>
                <a:sym typeface="Montserrat"/>
              </a:rPr>
              <a:t> để tắt hoàn toàn Bưu cục trên hệ thống HRW, nếu không thì hệ thống vẫn xuất bài chấm hàng ngày, và AM vẫn phải chịu target chấm chủ động từng kỳ trên dashboard.</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1" i="0" sz="1100" u="none" cap="none" strike="noStrike">
              <a:solidFill>
                <a:srgbClr val="FF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1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5" name="Shape 565"/>
        <p:cNvGrpSpPr/>
        <p:nvPr/>
      </p:nvGrpSpPr>
      <p:grpSpPr>
        <a:xfrm>
          <a:off x="0" y="0"/>
          <a:ext cx="0" cy="0"/>
          <a:chOff x="0" y="0"/>
          <a:chExt cx="0" cy="0"/>
        </a:xfrm>
      </p:grpSpPr>
      <p:sp>
        <p:nvSpPr>
          <p:cNvPr id="566" name="Google Shape;566;p83"/>
          <p:cNvSpPr txBox="1"/>
          <p:nvPr/>
        </p:nvSpPr>
        <p:spPr>
          <a:xfrm>
            <a:off x="3693625" y="2745875"/>
            <a:ext cx="5167200" cy="1504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4500"/>
              <a:buFont typeface="Arial"/>
              <a:buNone/>
            </a:pPr>
            <a:r>
              <a:rPr b="1" i="0" lang="en-GB" sz="4500" u="none" cap="none" strike="noStrike">
                <a:solidFill>
                  <a:srgbClr val="F15E22"/>
                </a:solidFill>
                <a:latin typeface="Montserrat"/>
                <a:ea typeface="Montserrat"/>
                <a:cs typeface="Montserrat"/>
                <a:sym typeface="Montserrat"/>
              </a:rPr>
              <a:t>THANK YOU</a:t>
            </a:r>
            <a:endParaRPr b="1" i="0" sz="4500" u="none" cap="none" strike="noStrike">
              <a:solidFill>
                <a:srgbClr val="F15E22"/>
              </a:solidFill>
              <a:latin typeface="Montserrat"/>
              <a:ea typeface="Montserrat"/>
              <a:cs typeface="Montserrat"/>
              <a:sym typeface="Montserrat"/>
            </a:endParaRPr>
          </a:p>
        </p:txBody>
      </p:sp>
      <p:pic>
        <p:nvPicPr>
          <p:cNvPr id="567" name="Google Shape;567;p83"/>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568" name="Google Shape;568;p83"/>
          <p:cNvSpPr txBox="1"/>
          <p:nvPr/>
        </p:nvSpPr>
        <p:spPr>
          <a:xfrm>
            <a:off x="2390425" y="3535225"/>
            <a:ext cx="6470400" cy="57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1" lang="en-GB" sz="1200" u="none" cap="none" strike="noStrike">
                <a:solidFill>
                  <a:srgbClr val="1A3A97"/>
                </a:solidFill>
                <a:latin typeface="Montserrat"/>
                <a:ea typeface="Montserrat"/>
                <a:cs typeface="Montserrat"/>
                <a:sym typeface="Montserrat"/>
              </a:rPr>
              <a:t>Presented by CH Department</a:t>
            </a:r>
            <a:endParaRPr b="1" i="1" sz="1200" u="none" cap="none" strike="noStrike">
              <a:solidFill>
                <a:srgbClr val="1A3A97"/>
              </a:solidFill>
              <a:latin typeface="Montserrat"/>
              <a:ea typeface="Montserrat"/>
              <a:cs typeface="Montserrat"/>
              <a:sym typeface="Montserrat"/>
            </a:endParaRPr>
          </a:p>
          <a:p>
            <a:pPr indent="0" lvl="0" marL="0" marR="0" rtl="0" algn="r">
              <a:lnSpc>
                <a:spcPct val="100000"/>
              </a:lnSpc>
              <a:spcBef>
                <a:spcPts val="0"/>
              </a:spcBef>
              <a:spcAft>
                <a:spcPts val="0"/>
              </a:spcAft>
              <a:buClr>
                <a:srgbClr val="000000"/>
              </a:buClr>
              <a:buSzPts val="1200"/>
              <a:buFont typeface="Arial"/>
              <a:buNone/>
            </a:pPr>
            <a:r>
              <a:rPr b="0" i="1" lang="en-GB" sz="1200" u="none" cap="none" strike="noStrike">
                <a:solidFill>
                  <a:srgbClr val="1A3A97"/>
                </a:solidFill>
                <a:latin typeface="Montserrat"/>
                <a:ea typeface="Montserrat"/>
                <a:cs typeface="Montserrat"/>
                <a:sym typeface="Montserrat"/>
              </a:rPr>
              <a:t>08/08/2023</a:t>
            </a:r>
            <a:endParaRPr b="0" i="1" sz="1200" u="none" cap="none" strike="noStrike">
              <a:solidFill>
                <a:srgbClr val="1A3A97"/>
              </a:solidFill>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2" name="Shape 572"/>
        <p:cNvGrpSpPr/>
        <p:nvPr/>
      </p:nvGrpSpPr>
      <p:grpSpPr>
        <a:xfrm>
          <a:off x="0" y="0"/>
          <a:ext cx="0" cy="0"/>
          <a:chOff x="0" y="0"/>
          <a:chExt cx="0" cy="0"/>
        </a:xfrm>
      </p:grpSpPr>
      <p:sp>
        <p:nvSpPr>
          <p:cNvPr id="573" name="Google Shape;573;p84"/>
          <p:cNvSpPr txBox="1"/>
          <p:nvPr/>
        </p:nvSpPr>
        <p:spPr>
          <a:xfrm>
            <a:off x="70138" y="4597200"/>
            <a:ext cx="4022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3"/>
              </a:rPr>
              <a:t>hướng dẫn chi tiết thao tác chấm</a:t>
            </a:r>
            <a:r>
              <a:rPr b="1" i="0" lang="en-GB" sz="1000" u="none" cap="none" strike="noStrike">
                <a:solidFill>
                  <a:srgbClr val="FF0000"/>
                </a:solidFill>
                <a:highlight>
                  <a:srgbClr val="FFFF00"/>
                </a:highlight>
                <a:latin typeface="Montserrat"/>
                <a:ea typeface="Montserrat"/>
                <a:cs typeface="Montserrat"/>
                <a:sym typeface="Montserrat"/>
              </a:rPr>
              <a:t> </a:t>
            </a:r>
            <a:endParaRPr b="1" i="0" sz="1000" u="none" cap="none" strike="noStrike">
              <a:solidFill>
                <a:srgbClr val="FF0000"/>
              </a:solidFill>
              <a:highlight>
                <a:srgbClr val="FFFF00"/>
              </a:highlight>
              <a:latin typeface="Montserrat"/>
              <a:ea typeface="Montserrat"/>
              <a:cs typeface="Montserrat"/>
              <a:sym typeface="Montserrat"/>
            </a:endParaRPr>
          </a:p>
        </p:txBody>
      </p:sp>
      <p:pic>
        <p:nvPicPr>
          <p:cNvPr id="574" name="Google Shape;574;p84"/>
          <p:cNvPicPr preferRelativeResize="0"/>
          <p:nvPr/>
        </p:nvPicPr>
        <p:blipFill rotWithShape="1">
          <a:blip r:embed="rId4">
            <a:alphaModFix/>
          </a:blip>
          <a:srcRect b="0" l="0" r="0" t="0"/>
          <a:stretch/>
        </p:blipFill>
        <p:spPr>
          <a:xfrm>
            <a:off x="1964263" y="822600"/>
            <a:ext cx="1698600" cy="3774600"/>
          </a:xfrm>
          <a:prstGeom prst="roundRect">
            <a:avLst>
              <a:gd fmla="val 7550" name="adj"/>
            </a:avLst>
          </a:prstGeom>
          <a:noFill/>
          <a:ln cap="flat" cmpd="sng" w="9525">
            <a:solidFill>
              <a:srgbClr val="1A3A97"/>
            </a:solidFill>
            <a:prstDash val="solid"/>
            <a:round/>
            <a:headEnd len="sm" w="sm" type="none"/>
            <a:tailEnd len="sm" w="sm" type="none"/>
          </a:ln>
        </p:spPr>
      </p:pic>
      <p:pic>
        <p:nvPicPr>
          <p:cNvPr id="575" name="Google Shape;575;p84"/>
          <p:cNvPicPr preferRelativeResize="0"/>
          <p:nvPr/>
        </p:nvPicPr>
        <p:blipFill rotWithShape="1">
          <a:blip r:embed="rId5">
            <a:alphaModFix/>
          </a:blip>
          <a:srcRect b="0" l="0" r="0" t="0"/>
          <a:stretch/>
        </p:blipFill>
        <p:spPr>
          <a:xfrm>
            <a:off x="201638" y="822600"/>
            <a:ext cx="1698600" cy="3746400"/>
          </a:xfrm>
          <a:prstGeom prst="roundRect">
            <a:avLst>
              <a:gd fmla="val 8000" name="adj"/>
            </a:avLst>
          </a:prstGeom>
          <a:noFill/>
          <a:ln cap="flat" cmpd="sng" w="9525">
            <a:solidFill>
              <a:srgbClr val="1A3A97"/>
            </a:solidFill>
            <a:prstDash val="solid"/>
            <a:round/>
            <a:headEnd len="sm" w="sm" type="none"/>
            <a:tailEnd len="sm" w="sm" type="none"/>
          </a:ln>
        </p:spPr>
      </p:pic>
      <p:cxnSp>
        <p:nvCxnSpPr>
          <p:cNvPr id="576" name="Google Shape;576;p84"/>
          <p:cNvCxnSpPr/>
          <p:nvPr/>
        </p:nvCxnSpPr>
        <p:spPr>
          <a:xfrm flipH="1">
            <a:off x="1380938" y="2975425"/>
            <a:ext cx="370800" cy="1163400"/>
          </a:xfrm>
          <a:prstGeom prst="straightConnector1">
            <a:avLst/>
          </a:prstGeom>
          <a:noFill/>
          <a:ln cap="flat" cmpd="sng" w="28575">
            <a:solidFill>
              <a:srgbClr val="FF0000"/>
            </a:solidFill>
            <a:prstDash val="solid"/>
            <a:round/>
            <a:headEnd len="sm" w="sm" type="none"/>
            <a:tailEnd len="med" w="med" type="triangle"/>
          </a:ln>
        </p:spPr>
      </p:cxnSp>
      <p:sp>
        <p:nvSpPr>
          <p:cNvPr id="577" name="Google Shape;577;p84"/>
          <p:cNvSpPr/>
          <p:nvPr/>
        </p:nvSpPr>
        <p:spPr>
          <a:xfrm>
            <a:off x="1214563" y="4164675"/>
            <a:ext cx="315000" cy="2274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84"/>
          <p:cNvSpPr/>
          <p:nvPr/>
        </p:nvSpPr>
        <p:spPr>
          <a:xfrm>
            <a:off x="2325938" y="1378150"/>
            <a:ext cx="1317600" cy="597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84"/>
          <p:cNvSpPr/>
          <p:nvPr/>
        </p:nvSpPr>
        <p:spPr>
          <a:xfrm>
            <a:off x="219138" y="862075"/>
            <a:ext cx="553800" cy="2709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B1</a:t>
            </a:r>
            <a:endParaRPr b="0" i="0" sz="1300" u="none" cap="none" strike="noStrike">
              <a:solidFill>
                <a:srgbClr val="FFFFFF"/>
              </a:solidFill>
              <a:latin typeface="Arial"/>
              <a:ea typeface="Arial"/>
              <a:cs typeface="Arial"/>
              <a:sym typeface="Arial"/>
            </a:endParaRPr>
          </a:p>
        </p:txBody>
      </p:sp>
      <p:sp>
        <p:nvSpPr>
          <p:cNvPr id="580" name="Google Shape;580;p84"/>
          <p:cNvSpPr/>
          <p:nvPr/>
        </p:nvSpPr>
        <p:spPr>
          <a:xfrm>
            <a:off x="1994863" y="862075"/>
            <a:ext cx="553800" cy="2709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FFFFFF"/>
                </a:solidFill>
                <a:latin typeface="Arial"/>
                <a:ea typeface="Arial"/>
                <a:cs typeface="Arial"/>
                <a:sym typeface="Arial"/>
              </a:rPr>
              <a:t>B2</a:t>
            </a:r>
            <a:endParaRPr b="0" i="0" sz="1200" u="none" cap="none" strike="noStrike">
              <a:solidFill>
                <a:srgbClr val="FFFFFF"/>
              </a:solidFill>
              <a:latin typeface="Arial"/>
              <a:ea typeface="Arial"/>
              <a:cs typeface="Arial"/>
              <a:sym typeface="Arial"/>
            </a:endParaRPr>
          </a:p>
        </p:txBody>
      </p:sp>
      <p:pic>
        <p:nvPicPr>
          <p:cNvPr id="581" name="Google Shape;581;p84"/>
          <p:cNvPicPr preferRelativeResize="0"/>
          <p:nvPr/>
        </p:nvPicPr>
        <p:blipFill rotWithShape="1">
          <a:blip r:embed="rId6">
            <a:alphaModFix/>
          </a:blip>
          <a:srcRect b="0" l="0" r="0" t="0"/>
          <a:stretch/>
        </p:blipFill>
        <p:spPr>
          <a:xfrm>
            <a:off x="7317087" y="841750"/>
            <a:ext cx="1698600" cy="3774600"/>
          </a:xfrm>
          <a:prstGeom prst="roundRect">
            <a:avLst>
              <a:gd fmla="val 7236" name="adj"/>
            </a:avLst>
          </a:prstGeom>
          <a:noFill/>
          <a:ln cap="flat" cmpd="sng" w="9525">
            <a:solidFill>
              <a:srgbClr val="1A3A97"/>
            </a:solidFill>
            <a:prstDash val="solid"/>
            <a:round/>
            <a:headEnd len="sm" w="sm" type="none"/>
            <a:tailEnd len="sm" w="sm" type="none"/>
          </a:ln>
        </p:spPr>
      </p:pic>
      <p:pic>
        <p:nvPicPr>
          <p:cNvPr id="582" name="Google Shape;582;p84"/>
          <p:cNvPicPr preferRelativeResize="0"/>
          <p:nvPr/>
        </p:nvPicPr>
        <p:blipFill rotWithShape="1">
          <a:blip r:embed="rId7">
            <a:alphaModFix/>
          </a:blip>
          <a:srcRect b="0" l="0" r="0" t="0"/>
          <a:stretch/>
        </p:blipFill>
        <p:spPr>
          <a:xfrm>
            <a:off x="5543838" y="841900"/>
            <a:ext cx="1698600" cy="3774300"/>
          </a:xfrm>
          <a:prstGeom prst="roundRect">
            <a:avLst>
              <a:gd fmla="val 8752" name="adj"/>
            </a:avLst>
          </a:prstGeom>
          <a:noFill/>
          <a:ln cap="flat" cmpd="sng" w="9525">
            <a:solidFill>
              <a:srgbClr val="1A3A97"/>
            </a:solidFill>
            <a:prstDash val="solid"/>
            <a:round/>
            <a:headEnd len="sm" w="sm" type="none"/>
            <a:tailEnd len="sm" w="sm" type="none"/>
          </a:ln>
        </p:spPr>
      </p:pic>
      <p:sp>
        <p:nvSpPr>
          <p:cNvPr id="583" name="Google Shape;583;p84"/>
          <p:cNvSpPr/>
          <p:nvPr/>
        </p:nvSpPr>
        <p:spPr>
          <a:xfrm>
            <a:off x="5602817" y="2268205"/>
            <a:ext cx="644700" cy="1227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84"/>
          <p:cNvSpPr/>
          <p:nvPr/>
        </p:nvSpPr>
        <p:spPr>
          <a:xfrm>
            <a:off x="7339568" y="1327554"/>
            <a:ext cx="1090800" cy="1701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84"/>
          <p:cNvSpPr/>
          <p:nvPr/>
        </p:nvSpPr>
        <p:spPr>
          <a:xfrm>
            <a:off x="5576912" y="889750"/>
            <a:ext cx="598500" cy="289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B4</a:t>
            </a:r>
            <a:endParaRPr b="0" i="0" sz="1300" u="none" cap="none" strike="noStrike">
              <a:solidFill>
                <a:srgbClr val="FFFFFF"/>
              </a:solidFill>
              <a:latin typeface="Arial"/>
              <a:ea typeface="Arial"/>
              <a:cs typeface="Arial"/>
              <a:sym typeface="Arial"/>
            </a:endParaRPr>
          </a:p>
        </p:txBody>
      </p:sp>
      <p:cxnSp>
        <p:nvCxnSpPr>
          <p:cNvPr id="586" name="Google Shape;586;p84"/>
          <p:cNvCxnSpPr/>
          <p:nvPr/>
        </p:nvCxnSpPr>
        <p:spPr>
          <a:xfrm rot="10800000">
            <a:off x="6038597" y="2433841"/>
            <a:ext cx="635400" cy="590400"/>
          </a:xfrm>
          <a:prstGeom prst="straightConnector1">
            <a:avLst/>
          </a:prstGeom>
          <a:noFill/>
          <a:ln cap="flat" cmpd="sng" w="28575">
            <a:solidFill>
              <a:srgbClr val="FF0000"/>
            </a:solidFill>
            <a:prstDash val="solid"/>
            <a:round/>
            <a:headEnd len="sm" w="sm" type="none"/>
            <a:tailEnd len="med" w="med" type="triangle"/>
          </a:ln>
        </p:spPr>
      </p:cxnSp>
      <p:cxnSp>
        <p:nvCxnSpPr>
          <p:cNvPr id="587" name="Google Shape;587;p84"/>
          <p:cNvCxnSpPr/>
          <p:nvPr/>
        </p:nvCxnSpPr>
        <p:spPr>
          <a:xfrm rot="10800000">
            <a:off x="8157430" y="1541422"/>
            <a:ext cx="635400" cy="590400"/>
          </a:xfrm>
          <a:prstGeom prst="straightConnector1">
            <a:avLst/>
          </a:prstGeom>
          <a:noFill/>
          <a:ln cap="flat" cmpd="sng" w="28575">
            <a:solidFill>
              <a:srgbClr val="FF0000"/>
            </a:solidFill>
            <a:prstDash val="solid"/>
            <a:round/>
            <a:headEnd len="sm" w="sm" type="none"/>
            <a:tailEnd len="med" w="med" type="triangle"/>
          </a:ln>
        </p:spPr>
      </p:cxnSp>
      <p:sp>
        <p:nvSpPr>
          <p:cNvPr id="588" name="Google Shape;588;p84"/>
          <p:cNvSpPr/>
          <p:nvPr/>
        </p:nvSpPr>
        <p:spPr>
          <a:xfrm>
            <a:off x="7339562" y="889750"/>
            <a:ext cx="635400" cy="289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B5</a:t>
            </a:r>
            <a:endParaRPr b="0" i="0" sz="1300" u="none" cap="none" strike="noStrike">
              <a:solidFill>
                <a:srgbClr val="FFFFFF"/>
              </a:solidFill>
              <a:latin typeface="Arial"/>
              <a:ea typeface="Arial"/>
              <a:cs typeface="Arial"/>
              <a:sym typeface="Arial"/>
            </a:endParaRPr>
          </a:p>
        </p:txBody>
      </p:sp>
      <p:pic>
        <p:nvPicPr>
          <p:cNvPr id="589" name="Google Shape;589;p84"/>
          <p:cNvPicPr preferRelativeResize="0"/>
          <p:nvPr/>
        </p:nvPicPr>
        <p:blipFill rotWithShape="1">
          <a:blip r:embed="rId8">
            <a:alphaModFix/>
          </a:blip>
          <a:srcRect b="0" l="0" r="0" t="0"/>
          <a:stretch/>
        </p:blipFill>
        <p:spPr>
          <a:xfrm>
            <a:off x="3770600" y="838525"/>
            <a:ext cx="1698600" cy="3774600"/>
          </a:xfrm>
          <a:prstGeom prst="roundRect">
            <a:avLst>
              <a:gd fmla="val 7618" name="adj"/>
            </a:avLst>
          </a:prstGeom>
          <a:noFill/>
          <a:ln cap="flat" cmpd="sng" w="9525">
            <a:solidFill>
              <a:srgbClr val="1A3A97"/>
            </a:solidFill>
            <a:prstDash val="solid"/>
            <a:round/>
            <a:headEnd len="sm" w="sm" type="none"/>
            <a:tailEnd len="sm" w="sm" type="none"/>
          </a:ln>
        </p:spPr>
      </p:pic>
      <p:sp>
        <p:nvSpPr>
          <p:cNvPr id="590" name="Google Shape;590;p84"/>
          <p:cNvSpPr/>
          <p:nvPr/>
        </p:nvSpPr>
        <p:spPr>
          <a:xfrm>
            <a:off x="4126791" y="2365018"/>
            <a:ext cx="953100" cy="2292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91" name="Google Shape;591;p84"/>
          <p:cNvCxnSpPr/>
          <p:nvPr/>
        </p:nvCxnSpPr>
        <p:spPr>
          <a:xfrm rot="10800000">
            <a:off x="4654142" y="2626567"/>
            <a:ext cx="635400" cy="590400"/>
          </a:xfrm>
          <a:prstGeom prst="straightConnector1">
            <a:avLst/>
          </a:prstGeom>
          <a:noFill/>
          <a:ln cap="flat" cmpd="sng" w="28575">
            <a:solidFill>
              <a:srgbClr val="FF0000"/>
            </a:solidFill>
            <a:prstDash val="solid"/>
            <a:round/>
            <a:headEnd len="sm" w="sm" type="none"/>
            <a:tailEnd len="med" w="med" type="triangle"/>
          </a:ln>
        </p:spPr>
      </p:cxnSp>
      <p:sp>
        <p:nvSpPr>
          <p:cNvPr id="592" name="Google Shape;592;p84"/>
          <p:cNvSpPr/>
          <p:nvPr/>
        </p:nvSpPr>
        <p:spPr>
          <a:xfrm>
            <a:off x="3763549" y="889750"/>
            <a:ext cx="598500" cy="289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B3</a:t>
            </a:r>
            <a:endParaRPr b="0" i="0" sz="1300" u="none" cap="none" strike="noStrike">
              <a:solidFill>
                <a:srgbClr val="FFFFFF"/>
              </a:solidFill>
              <a:latin typeface="Arial"/>
              <a:ea typeface="Arial"/>
              <a:cs typeface="Arial"/>
              <a:sym typeface="Arial"/>
            </a:endParaRPr>
          </a:p>
        </p:txBody>
      </p:sp>
      <p:sp>
        <p:nvSpPr>
          <p:cNvPr id="593" name="Google Shape;593;p84"/>
          <p:cNvSpPr txBox="1"/>
          <p:nvPr/>
        </p:nvSpPr>
        <p:spPr>
          <a:xfrm>
            <a:off x="201625" y="520450"/>
            <a:ext cx="5393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HƯỚNG DẪN THAO TÁC CHẤM BÀI KIỂM TRA</a:t>
            </a:r>
            <a:endParaRPr b="1" i="0" sz="1200" u="none" cap="none" strike="noStrike">
              <a:solidFill>
                <a:srgbClr val="2980B9"/>
              </a:solidFill>
              <a:latin typeface="Montserrat"/>
              <a:ea typeface="Montserrat"/>
              <a:cs typeface="Montserrat"/>
              <a:sym typeface="Montserrat"/>
            </a:endParaRPr>
          </a:p>
        </p:txBody>
      </p:sp>
      <p:sp>
        <p:nvSpPr>
          <p:cNvPr id="594" name="Google Shape;594;p84"/>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A. CÁCH THỨC CHẤM ĐIỂM TRÊN HRWS</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8" name="Shape 598"/>
        <p:cNvGrpSpPr/>
        <p:nvPr/>
      </p:nvGrpSpPr>
      <p:grpSpPr>
        <a:xfrm>
          <a:off x="0" y="0"/>
          <a:ext cx="0" cy="0"/>
          <a:chOff x="0" y="0"/>
          <a:chExt cx="0" cy="0"/>
        </a:xfrm>
      </p:grpSpPr>
      <p:pic>
        <p:nvPicPr>
          <p:cNvPr id="599" name="Google Shape;599;p85"/>
          <p:cNvPicPr preferRelativeResize="0"/>
          <p:nvPr/>
        </p:nvPicPr>
        <p:blipFill rotWithShape="1">
          <a:blip r:embed="rId3">
            <a:alphaModFix/>
          </a:blip>
          <a:srcRect b="0" l="0" r="0" t="0"/>
          <a:stretch/>
        </p:blipFill>
        <p:spPr>
          <a:xfrm>
            <a:off x="2047747" y="963725"/>
            <a:ext cx="1710000" cy="3582000"/>
          </a:xfrm>
          <a:prstGeom prst="roundRect">
            <a:avLst>
              <a:gd fmla="val 7126" name="adj"/>
            </a:avLst>
          </a:prstGeom>
          <a:noFill/>
          <a:ln cap="flat" cmpd="sng" w="9525">
            <a:solidFill>
              <a:srgbClr val="1A3A97"/>
            </a:solidFill>
            <a:prstDash val="solid"/>
            <a:round/>
            <a:headEnd len="sm" w="sm" type="none"/>
            <a:tailEnd len="sm" w="sm" type="none"/>
          </a:ln>
        </p:spPr>
      </p:pic>
      <p:pic>
        <p:nvPicPr>
          <p:cNvPr id="600" name="Google Shape;600;p85"/>
          <p:cNvPicPr preferRelativeResize="0"/>
          <p:nvPr/>
        </p:nvPicPr>
        <p:blipFill rotWithShape="1">
          <a:blip r:embed="rId4">
            <a:alphaModFix/>
          </a:blip>
          <a:srcRect b="0" l="-895" r="-895" t="0"/>
          <a:stretch/>
        </p:blipFill>
        <p:spPr>
          <a:xfrm>
            <a:off x="241131" y="963725"/>
            <a:ext cx="1709700" cy="3582300"/>
          </a:xfrm>
          <a:prstGeom prst="roundRect">
            <a:avLst>
              <a:gd fmla="val 8042" name="adj"/>
            </a:avLst>
          </a:prstGeom>
          <a:noFill/>
          <a:ln cap="flat" cmpd="sng" w="19050">
            <a:solidFill>
              <a:srgbClr val="2980B9"/>
            </a:solidFill>
            <a:prstDash val="solid"/>
            <a:round/>
            <a:headEnd len="sm" w="sm" type="none"/>
            <a:tailEnd len="sm" w="sm" type="none"/>
          </a:ln>
        </p:spPr>
      </p:pic>
      <p:sp>
        <p:nvSpPr>
          <p:cNvPr id="601" name="Google Shape;601;p85"/>
          <p:cNvSpPr/>
          <p:nvPr/>
        </p:nvSpPr>
        <p:spPr>
          <a:xfrm>
            <a:off x="308876" y="1525346"/>
            <a:ext cx="1600200" cy="9606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5"/>
          <p:cNvSpPr/>
          <p:nvPr/>
        </p:nvSpPr>
        <p:spPr>
          <a:xfrm>
            <a:off x="241124" y="963725"/>
            <a:ext cx="576000" cy="271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B6</a:t>
            </a:r>
            <a:endParaRPr b="0" i="0" sz="1300" u="none" cap="none" strike="noStrike">
              <a:solidFill>
                <a:srgbClr val="FFFFFF"/>
              </a:solidFill>
              <a:latin typeface="Arial"/>
              <a:ea typeface="Arial"/>
              <a:cs typeface="Arial"/>
              <a:sym typeface="Arial"/>
            </a:endParaRPr>
          </a:p>
        </p:txBody>
      </p:sp>
      <p:cxnSp>
        <p:nvCxnSpPr>
          <p:cNvPr id="603" name="Google Shape;603;p85"/>
          <p:cNvCxnSpPr/>
          <p:nvPr/>
        </p:nvCxnSpPr>
        <p:spPr>
          <a:xfrm rot="10800000">
            <a:off x="1247167" y="2491428"/>
            <a:ext cx="600300" cy="556200"/>
          </a:xfrm>
          <a:prstGeom prst="straightConnector1">
            <a:avLst/>
          </a:prstGeom>
          <a:noFill/>
          <a:ln cap="flat" cmpd="sng" w="28575">
            <a:solidFill>
              <a:srgbClr val="FF0000"/>
            </a:solidFill>
            <a:prstDash val="solid"/>
            <a:round/>
            <a:headEnd len="sm" w="sm" type="none"/>
            <a:tailEnd len="med" w="med" type="triangle"/>
          </a:ln>
        </p:spPr>
      </p:cxnSp>
      <p:cxnSp>
        <p:nvCxnSpPr>
          <p:cNvPr id="604" name="Google Shape;604;p85"/>
          <p:cNvCxnSpPr/>
          <p:nvPr/>
        </p:nvCxnSpPr>
        <p:spPr>
          <a:xfrm flipH="1">
            <a:off x="3160866" y="3516981"/>
            <a:ext cx="387000" cy="657900"/>
          </a:xfrm>
          <a:prstGeom prst="straightConnector1">
            <a:avLst/>
          </a:prstGeom>
          <a:noFill/>
          <a:ln cap="flat" cmpd="sng" w="28575">
            <a:solidFill>
              <a:srgbClr val="FF0000"/>
            </a:solidFill>
            <a:prstDash val="solid"/>
            <a:round/>
            <a:headEnd len="sm" w="sm" type="none"/>
            <a:tailEnd len="med" w="med" type="triangle"/>
          </a:ln>
        </p:spPr>
      </p:cxnSp>
      <p:pic>
        <p:nvPicPr>
          <p:cNvPr id="605" name="Google Shape;605;p85"/>
          <p:cNvPicPr preferRelativeResize="0"/>
          <p:nvPr/>
        </p:nvPicPr>
        <p:blipFill rotWithShape="1">
          <a:blip r:embed="rId5">
            <a:alphaModFix/>
          </a:blip>
          <a:srcRect b="0" l="0" r="0" t="0"/>
          <a:stretch/>
        </p:blipFill>
        <p:spPr>
          <a:xfrm>
            <a:off x="3772297" y="978152"/>
            <a:ext cx="1710000" cy="3582000"/>
          </a:xfrm>
          <a:prstGeom prst="roundRect">
            <a:avLst>
              <a:gd fmla="val 7664" name="adj"/>
            </a:avLst>
          </a:prstGeom>
          <a:noFill/>
          <a:ln cap="flat" cmpd="sng" w="9525">
            <a:solidFill>
              <a:srgbClr val="1A3A97"/>
            </a:solidFill>
            <a:prstDash val="solid"/>
            <a:round/>
            <a:headEnd len="sm" w="sm" type="none"/>
            <a:tailEnd len="sm" w="sm" type="none"/>
          </a:ln>
        </p:spPr>
      </p:pic>
      <p:cxnSp>
        <p:nvCxnSpPr>
          <p:cNvPr id="606" name="Google Shape;606;p85"/>
          <p:cNvCxnSpPr/>
          <p:nvPr/>
        </p:nvCxnSpPr>
        <p:spPr>
          <a:xfrm>
            <a:off x="4900478" y="3387709"/>
            <a:ext cx="160800" cy="653100"/>
          </a:xfrm>
          <a:prstGeom prst="straightConnector1">
            <a:avLst/>
          </a:prstGeom>
          <a:noFill/>
          <a:ln cap="flat" cmpd="sng" w="28575">
            <a:solidFill>
              <a:srgbClr val="FF0000"/>
            </a:solidFill>
            <a:prstDash val="solid"/>
            <a:round/>
            <a:headEnd len="sm" w="sm" type="none"/>
            <a:tailEnd len="med" w="med" type="triangle"/>
          </a:ln>
        </p:spPr>
      </p:cxnSp>
      <p:pic>
        <p:nvPicPr>
          <p:cNvPr id="607" name="Google Shape;607;p85"/>
          <p:cNvPicPr preferRelativeResize="0"/>
          <p:nvPr/>
        </p:nvPicPr>
        <p:blipFill rotWithShape="1">
          <a:blip r:embed="rId6">
            <a:alphaModFix/>
          </a:blip>
          <a:srcRect b="0" l="0" r="0" t="0"/>
          <a:stretch/>
        </p:blipFill>
        <p:spPr>
          <a:xfrm>
            <a:off x="5558911" y="978288"/>
            <a:ext cx="1710000" cy="3581700"/>
          </a:xfrm>
          <a:prstGeom prst="roundRect">
            <a:avLst>
              <a:gd fmla="val 8376" name="adj"/>
            </a:avLst>
          </a:prstGeom>
          <a:noFill/>
          <a:ln cap="flat" cmpd="sng" w="9525">
            <a:solidFill>
              <a:srgbClr val="1A3A97"/>
            </a:solidFill>
            <a:prstDash val="solid"/>
            <a:round/>
            <a:headEnd len="sm" w="sm" type="none"/>
            <a:tailEnd len="sm" w="sm" type="none"/>
          </a:ln>
        </p:spPr>
      </p:pic>
      <p:sp>
        <p:nvSpPr>
          <p:cNvPr id="608" name="Google Shape;608;p85"/>
          <p:cNvSpPr/>
          <p:nvPr/>
        </p:nvSpPr>
        <p:spPr>
          <a:xfrm>
            <a:off x="6648759" y="2972489"/>
            <a:ext cx="547500" cy="2133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9" name="Google Shape;609;p85"/>
          <p:cNvPicPr preferRelativeResize="0"/>
          <p:nvPr/>
        </p:nvPicPr>
        <p:blipFill rotWithShape="1">
          <a:blip r:embed="rId7">
            <a:alphaModFix/>
          </a:blip>
          <a:srcRect b="0" l="0" r="0" t="0"/>
          <a:stretch/>
        </p:blipFill>
        <p:spPr>
          <a:xfrm>
            <a:off x="7345513" y="979323"/>
            <a:ext cx="1710000" cy="3582000"/>
          </a:xfrm>
          <a:prstGeom prst="roundRect">
            <a:avLst>
              <a:gd fmla="val 7130" name="adj"/>
            </a:avLst>
          </a:prstGeom>
          <a:noFill/>
          <a:ln cap="flat" cmpd="sng" w="9525">
            <a:solidFill>
              <a:srgbClr val="1A3A97"/>
            </a:solidFill>
            <a:prstDash val="solid"/>
            <a:round/>
            <a:headEnd len="sm" w="sm" type="none"/>
            <a:tailEnd len="sm" w="sm" type="none"/>
          </a:ln>
        </p:spPr>
      </p:pic>
      <p:sp>
        <p:nvSpPr>
          <p:cNvPr id="610" name="Google Shape;610;p85"/>
          <p:cNvSpPr/>
          <p:nvPr/>
        </p:nvSpPr>
        <p:spPr>
          <a:xfrm>
            <a:off x="8294970" y="2496051"/>
            <a:ext cx="556800" cy="2733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11" name="Google Shape;611;p85"/>
          <p:cNvCxnSpPr/>
          <p:nvPr/>
        </p:nvCxnSpPr>
        <p:spPr>
          <a:xfrm>
            <a:off x="7707525" y="3518610"/>
            <a:ext cx="434700" cy="497100"/>
          </a:xfrm>
          <a:prstGeom prst="straightConnector1">
            <a:avLst/>
          </a:prstGeom>
          <a:noFill/>
          <a:ln cap="flat" cmpd="sng" w="28575">
            <a:solidFill>
              <a:srgbClr val="FF0000"/>
            </a:solidFill>
            <a:prstDash val="solid"/>
            <a:round/>
            <a:headEnd len="sm" w="sm" type="none"/>
            <a:tailEnd len="med" w="med" type="triangle"/>
          </a:ln>
        </p:spPr>
      </p:cxnSp>
      <p:sp>
        <p:nvSpPr>
          <p:cNvPr id="612" name="Google Shape;612;p85"/>
          <p:cNvSpPr/>
          <p:nvPr/>
        </p:nvSpPr>
        <p:spPr>
          <a:xfrm>
            <a:off x="2040587" y="963725"/>
            <a:ext cx="576000" cy="271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B7</a:t>
            </a:r>
            <a:endParaRPr b="0" i="0" sz="1300" u="none" cap="none" strike="noStrike">
              <a:solidFill>
                <a:srgbClr val="FFFFFF"/>
              </a:solidFill>
              <a:latin typeface="Arial"/>
              <a:ea typeface="Arial"/>
              <a:cs typeface="Arial"/>
              <a:sym typeface="Arial"/>
            </a:endParaRPr>
          </a:p>
        </p:txBody>
      </p:sp>
      <p:sp>
        <p:nvSpPr>
          <p:cNvPr id="613" name="Google Shape;613;p85"/>
          <p:cNvSpPr/>
          <p:nvPr/>
        </p:nvSpPr>
        <p:spPr>
          <a:xfrm>
            <a:off x="3772274" y="979325"/>
            <a:ext cx="576000" cy="271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B8</a:t>
            </a:r>
            <a:endParaRPr b="0" i="0" sz="1300" u="none" cap="none" strike="noStrike">
              <a:solidFill>
                <a:srgbClr val="FFFFFF"/>
              </a:solidFill>
              <a:latin typeface="Arial"/>
              <a:ea typeface="Arial"/>
              <a:cs typeface="Arial"/>
              <a:sym typeface="Arial"/>
            </a:endParaRPr>
          </a:p>
        </p:txBody>
      </p:sp>
      <p:sp>
        <p:nvSpPr>
          <p:cNvPr id="614" name="Google Shape;614;p85"/>
          <p:cNvSpPr/>
          <p:nvPr/>
        </p:nvSpPr>
        <p:spPr>
          <a:xfrm>
            <a:off x="5558899" y="979325"/>
            <a:ext cx="576000" cy="271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Arial"/>
                <a:ea typeface="Arial"/>
                <a:cs typeface="Arial"/>
                <a:sym typeface="Arial"/>
              </a:rPr>
              <a:t>B9</a:t>
            </a:r>
            <a:endParaRPr b="0" i="0" sz="1300" u="none" cap="none" strike="noStrike">
              <a:solidFill>
                <a:srgbClr val="FFFFFF"/>
              </a:solidFill>
              <a:latin typeface="Arial"/>
              <a:ea typeface="Arial"/>
              <a:cs typeface="Arial"/>
              <a:sym typeface="Arial"/>
            </a:endParaRPr>
          </a:p>
        </p:txBody>
      </p:sp>
      <p:sp>
        <p:nvSpPr>
          <p:cNvPr id="615" name="Google Shape;615;p85"/>
          <p:cNvSpPr/>
          <p:nvPr/>
        </p:nvSpPr>
        <p:spPr>
          <a:xfrm>
            <a:off x="7345500" y="979325"/>
            <a:ext cx="829500" cy="271800"/>
          </a:xfrm>
          <a:prstGeom prst="ellipse">
            <a:avLst/>
          </a:prstGeom>
          <a:solidFill>
            <a:srgbClr val="FF0000"/>
          </a:solidFill>
          <a:ln cap="flat" cmpd="sng" w="9525">
            <a:solidFill>
              <a:srgbClr val="0046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FFFFFF"/>
                </a:solidFill>
                <a:latin typeface="Montserrat"/>
                <a:ea typeface="Montserrat"/>
                <a:cs typeface="Montserrat"/>
                <a:sym typeface="Montserrat"/>
              </a:rPr>
              <a:t>B10</a:t>
            </a:r>
            <a:endParaRPr b="0" i="0" sz="1300" u="none" cap="none" strike="noStrike">
              <a:solidFill>
                <a:srgbClr val="FFFFFF"/>
              </a:solidFill>
              <a:latin typeface="Montserrat"/>
              <a:ea typeface="Montserrat"/>
              <a:cs typeface="Montserrat"/>
              <a:sym typeface="Montserrat"/>
            </a:endParaRPr>
          </a:p>
        </p:txBody>
      </p:sp>
      <p:sp>
        <p:nvSpPr>
          <p:cNvPr id="616" name="Google Shape;616;p85"/>
          <p:cNvSpPr txBox="1"/>
          <p:nvPr/>
        </p:nvSpPr>
        <p:spPr>
          <a:xfrm>
            <a:off x="70138" y="4547954"/>
            <a:ext cx="3972900" cy="33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8"/>
              </a:rPr>
              <a:t>hướng dẫn chi tiết thao tác chấm</a:t>
            </a:r>
            <a:r>
              <a:rPr b="1" i="0" lang="en-GB" sz="1000" u="none" cap="none" strike="noStrike">
                <a:solidFill>
                  <a:srgbClr val="FF0000"/>
                </a:solidFill>
                <a:highlight>
                  <a:srgbClr val="FFFF00"/>
                </a:highlight>
                <a:latin typeface="Montserrat"/>
                <a:ea typeface="Montserrat"/>
                <a:cs typeface="Montserrat"/>
                <a:sym typeface="Montserrat"/>
              </a:rPr>
              <a:t> </a:t>
            </a:r>
            <a:endParaRPr b="1" i="0" sz="1000" u="none" cap="none" strike="noStrike">
              <a:solidFill>
                <a:srgbClr val="FF0000"/>
              </a:solidFill>
              <a:highlight>
                <a:srgbClr val="FFFF00"/>
              </a:highlight>
              <a:latin typeface="Montserrat"/>
              <a:ea typeface="Montserrat"/>
              <a:cs typeface="Montserrat"/>
              <a:sym typeface="Montserrat"/>
            </a:endParaRPr>
          </a:p>
        </p:txBody>
      </p:sp>
      <p:sp>
        <p:nvSpPr>
          <p:cNvPr id="617" name="Google Shape;617;p85"/>
          <p:cNvSpPr txBox="1"/>
          <p:nvPr/>
        </p:nvSpPr>
        <p:spPr>
          <a:xfrm>
            <a:off x="330300" y="535750"/>
            <a:ext cx="5393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HƯỚNG DẪN THAO TÁC CHẤM BÀI KIỂM TRA</a:t>
            </a:r>
            <a:endParaRPr b="1" i="0" sz="1200" u="none" cap="none" strike="noStrike">
              <a:solidFill>
                <a:srgbClr val="2980B9"/>
              </a:solidFill>
              <a:latin typeface="Montserrat"/>
              <a:ea typeface="Montserrat"/>
              <a:cs typeface="Montserrat"/>
              <a:sym typeface="Montserrat"/>
            </a:endParaRPr>
          </a:p>
        </p:txBody>
      </p:sp>
      <p:sp>
        <p:nvSpPr>
          <p:cNvPr id="618" name="Google Shape;618;p85"/>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A. CÁCH THỨC CHẤM ĐIỂM TRÊN HRWS</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2" name="Shape 622"/>
        <p:cNvGrpSpPr/>
        <p:nvPr/>
      </p:nvGrpSpPr>
      <p:grpSpPr>
        <a:xfrm>
          <a:off x="0" y="0"/>
          <a:ext cx="0" cy="0"/>
          <a:chOff x="0" y="0"/>
          <a:chExt cx="0" cy="0"/>
        </a:xfrm>
      </p:grpSpPr>
      <p:sp>
        <p:nvSpPr>
          <p:cNvPr id="623" name="Google Shape;623;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24" name="Google Shape;624;p8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25" name="Google Shape;625;p8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26" name="Google Shape;626;p86"/>
          <p:cNvSpPr txBox="1"/>
          <p:nvPr>
            <p:ph idx="1" type="body"/>
          </p:nvPr>
        </p:nvSpPr>
        <p:spPr>
          <a:xfrm>
            <a:off x="1833900" y="2367200"/>
            <a:ext cx="70572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GB" sz="2500">
                <a:solidFill>
                  <a:schemeClr val="lt1"/>
                </a:solidFill>
                <a:latin typeface="Montserrat ExtraBold"/>
                <a:ea typeface="Montserrat ExtraBold"/>
                <a:cs typeface="Montserrat ExtraBold"/>
                <a:sym typeface="Montserrat ExtraBold"/>
              </a:rPr>
              <a:t>BÀI CHẤM TRƯỚC EVENT</a:t>
            </a:r>
            <a:endParaRPr b="1" sz="25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0" name="Shape 630"/>
        <p:cNvGrpSpPr/>
        <p:nvPr/>
      </p:nvGrpSpPr>
      <p:grpSpPr>
        <a:xfrm>
          <a:off x="0" y="0"/>
          <a:ext cx="0" cy="0"/>
          <a:chOff x="0" y="0"/>
          <a:chExt cx="0" cy="0"/>
        </a:xfrm>
      </p:grpSpPr>
      <p:sp>
        <p:nvSpPr>
          <p:cNvPr id="631" name="Google Shape;631;p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2" name="Google Shape;632;p8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33" name="Google Shape;633;p8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34" name="Google Shape;634;p87"/>
          <p:cNvSpPr txBox="1"/>
          <p:nvPr>
            <p:ph idx="1" type="body"/>
          </p:nvPr>
        </p:nvSpPr>
        <p:spPr>
          <a:xfrm>
            <a:off x="1833900" y="2367200"/>
            <a:ext cx="70572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GB" sz="2500">
                <a:solidFill>
                  <a:schemeClr val="lt1"/>
                </a:solidFill>
                <a:latin typeface="Montserrat ExtraBold"/>
                <a:ea typeface="Montserrat ExtraBold"/>
                <a:cs typeface="Montserrat ExtraBold"/>
                <a:sym typeface="Montserrat ExtraBold"/>
              </a:rPr>
              <a:t>BÀI CHẤM HÀNG TUẦN</a:t>
            </a:r>
            <a:endParaRPr b="1" sz="25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8" name="Shape 638"/>
        <p:cNvGrpSpPr/>
        <p:nvPr/>
      </p:nvGrpSpPr>
      <p:grpSpPr>
        <a:xfrm>
          <a:off x="0" y="0"/>
          <a:ext cx="0" cy="0"/>
          <a:chOff x="0" y="0"/>
          <a:chExt cx="0" cy="0"/>
        </a:xfrm>
      </p:grpSpPr>
      <p:sp>
        <p:nvSpPr>
          <p:cNvPr id="639" name="Google Shape;639;p88"/>
          <p:cNvSpPr txBox="1"/>
          <p:nvPr/>
        </p:nvSpPr>
        <p:spPr>
          <a:xfrm>
            <a:off x="572100" y="1014350"/>
            <a:ext cx="7999800" cy="321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1" i="0" lang="en-GB" sz="1100" u="none" cap="none" strike="noStrike">
                <a:solidFill>
                  <a:srgbClr val="E74C3C"/>
                </a:solidFill>
                <a:highlight>
                  <a:schemeClr val="lt1"/>
                </a:highlight>
                <a:latin typeface="Montserrat"/>
                <a:ea typeface="Montserrat"/>
                <a:cs typeface="Montserrat"/>
                <a:sym typeface="Montserrat"/>
              </a:rPr>
              <a:t>Cách làm:</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50000"/>
              </a:lnSpc>
              <a:spcBef>
                <a:spcPts val="800"/>
              </a:spcBef>
              <a:spcAft>
                <a:spcPts val="0"/>
              </a:spcAft>
              <a:buClr>
                <a:srgbClr val="212121"/>
              </a:buClr>
              <a:buSzPts val="1100"/>
              <a:buFont typeface="Montserrat"/>
              <a:buChar char="-"/>
            </a:pPr>
            <a:r>
              <a:rPr b="0" i="0" lang="en-GB" sz="1100" u="sng" cap="none" strike="noStrike">
                <a:solidFill>
                  <a:srgbClr val="212121"/>
                </a:solidFill>
                <a:highlight>
                  <a:srgbClr val="FFFFFF"/>
                </a:highlight>
                <a:latin typeface="Montserrat"/>
                <a:ea typeface="Montserrat"/>
                <a:cs typeface="Montserrat"/>
                <a:sym typeface="Montserrat"/>
              </a:rPr>
              <a:t>Bước 1</a:t>
            </a:r>
            <a:r>
              <a:rPr b="0" i="0" lang="en-GB" sz="1100" u="none" cap="none" strike="noStrike">
                <a:solidFill>
                  <a:srgbClr val="212121"/>
                </a:solidFill>
                <a:highlight>
                  <a:srgbClr val="FFFFFF"/>
                </a:highlight>
                <a:latin typeface="Montserrat"/>
                <a:ea typeface="Montserrat"/>
                <a:cs typeface="Montserrat"/>
                <a:sym typeface="Montserrat"/>
              </a:rPr>
              <a:t>: Vào mục XEM HƯỚNG DẪN để lấy link và thực hiện bài kiểm tra. </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50000"/>
              </a:lnSpc>
              <a:spcBef>
                <a:spcPts val="0"/>
              </a:spcBef>
              <a:spcAft>
                <a:spcPts val="0"/>
              </a:spcAft>
              <a:buClr>
                <a:schemeClr val="dk1"/>
              </a:buClr>
              <a:buSzPts val="1100"/>
              <a:buFont typeface="Montserrat"/>
              <a:buChar char="+"/>
            </a:pPr>
            <a:r>
              <a:rPr b="0" i="0" lang="en-GB" sz="1100" u="none" cap="none" strike="noStrike">
                <a:solidFill>
                  <a:schemeClr val="accent2"/>
                </a:solidFill>
                <a:highlight>
                  <a:schemeClr val="lt1"/>
                </a:highlight>
                <a:latin typeface="Montserrat"/>
                <a:ea typeface="Montserrat"/>
                <a:cs typeface="Montserrat"/>
                <a:sym typeface="Montserrat"/>
              </a:rPr>
              <a:t>Đăng nhập link bằng tài khoản app HRW.</a:t>
            </a:r>
            <a:endParaRPr b="0" i="0" sz="1100" u="none" cap="none" strike="noStrike">
              <a:solidFill>
                <a:schemeClr val="accent2"/>
              </a:solidFill>
              <a:highlight>
                <a:schemeClr val="lt1"/>
              </a:highlight>
              <a:latin typeface="Montserrat"/>
              <a:ea typeface="Montserrat"/>
              <a:cs typeface="Montserrat"/>
              <a:sym typeface="Montserrat"/>
            </a:endParaRPr>
          </a:p>
          <a:p>
            <a:pPr indent="-298450" lvl="0" marL="457200" marR="0" rtl="0" algn="l">
              <a:lnSpc>
                <a:spcPct val="150000"/>
              </a:lnSpc>
              <a:spcBef>
                <a:spcPts val="0"/>
              </a:spcBef>
              <a:spcAft>
                <a:spcPts val="0"/>
              </a:spcAft>
              <a:buClr>
                <a:schemeClr val="accent2"/>
              </a:buClr>
              <a:buSzPts val="1100"/>
              <a:buFont typeface="Montserrat"/>
              <a:buChar char="+"/>
            </a:pPr>
            <a:r>
              <a:rPr b="0" i="0" lang="en-GB" sz="1100" u="none" cap="none" strike="noStrike">
                <a:solidFill>
                  <a:schemeClr val="accent2"/>
                </a:solidFill>
                <a:highlight>
                  <a:schemeClr val="lt1"/>
                </a:highlight>
                <a:latin typeface="Montserrat"/>
                <a:ea typeface="Montserrat"/>
                <a:cs typeface="Montserrat"/>
                <a:sym typeface="Montserrat"/>
              </a:rPr>
              <a:t>BC xem phần tài liệu ôn tập kiến thức cũ và cập nhật kiến thức. </a:t>
            </a:r>
            <a:endParaRPr b="0" i="0" sz="1100" u="none" cap="none" strike="noStrike">
              <a:solidFill>
                <a:schemeClr val="accent2"/>
              </a:solidFill>
              <a:highlight>
                <a:schemeClr val="lt1"/>
              </a:highlight>
              <a:latin typeface="Montserrat"/>
              <a:ea typeface="Montserrat"/>
              <a:cs typeface="Montserrat"/>
              <a:sym typeface="Montserrat"/>
            </a:endParaRPr>
          </a:p>
          <a:p>
            <a:pPr indent="-298450" lvl="0" marL="457200" marR="0" rtl="0" algn="l">
              <a:lnSpc>
                <a:spcPct val="150000"/>
              </a:lnSpc>
              <a:spcBef>
                <a:spcPts val="0"/>
              </a:spcBef>
              <a:spcAft>
                <a:spcPts val="0"/>
              </a:spcAft>
              <a:buClr>
                <a:schemeClr val="dk1"/>
              </a:buClr>
              <a:buSzPts val="1100"/>
              <a:buFont typeface="Montserrat"/>
              <a:buChar char="+"/>
            </a:pPr>
            <a:r>
              <a:rPr b="0" i="0" lang="en-GB" sz="1100" u="none" cap="none" strike="noStrike">
                <a:solidFill>
                  <a:schemeClr val="dk1"/>
                </a:solidFill>
                <a:highlight>
                  <a:schemeClr val="lt1"/>
                </a:highlight>
                <a:latin typeface="Montserrat"/>
                <a:ea typeface="Montserrat"/>
                <a:cs typeface="Montserrat"/>
                <a:sym typeface="Montserrat"/>
              </a:rPr>
              <a:t>BC trả lời một số câu hỏi liên quan tài liệu ôn tập.</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50000"/>
              </a:lnSpc>
              <a:spcBef>
                <a:spcPts val="0"/>
              </a:spcBef>
              <a:spcAft>
                <a:spcPts val="0"/>
              </a:spcAft>
              <a:buClr>
                <a:srgbClr val="212121"/>
              </a:buClr>
              <a:buSzPts val="1100"/>
              <a:buFont typeface="Montserrat"/>
              <a:buChar char="-"/>
            </a:pPr>
            <a:r>
              <a:rPr b="0" i="0" lang="en-GB" sz="1100" u="sng" cap="none" strike="noStrike">
                <a:solidFill>
                  <a:srgbClr val="212121"/>
                </a:solidFill>
                <a:highlight>
                  <a:srgbClr val="FFFFFF"/>
                </a:highlight>
                <a:latin typeface="Montserrat"/>
                <a:ea typeface="Montserrat"/>
                <a:cs typeface="Montserrat"/>
                <a:sym typeface="Montserrat"/>
              </a:rPr>
              <a:t>Bước 2</a:t>
            </a:r>
            <a:r>
              <a:rPr b="0" i="0" lang="en-GB" sz="1100" u="none" cap="none" strike="noStrike">
                <a:solidFill>
                  <a:srgbClr val="212121"/>
                </a:solidFill>
                <a:highlight>
                  <a:srgbClr val="FFFFFF"/>
                </a:highlight>
                <a:latin typeface="Montserrat"/>
                <a:ea typeface="Montserrat"/>
                <a:cs typeface="Montserrat"/>
                <a:sym typeface="Montserrat"/>
              </a:rPr>
              <a:t>: Sau khi thực hiện bài kiểm tra, bấm HOÀN TẤT bài chấm HRW.</a:t>
            </a:r>
            <a:endParaRPr b="0" i="0" sz="1100" u="none" cap="none" strike="noStrike">
              <a:solidFill>
                <a:srgbClr val="212121"/>
              </a:solidFill>
              <a:highlight>
                <a:srgbClr val="FFFFFF"/>
              </a:highlight>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212121"/>
              </a:solidFill>
              <a:highlight>
                <a:srgbClr val="FFFFFF"/>
              </a:highlight>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rPr b="1" i="0" lang="en-GB" sz="1100" u="none" cap="none" strike="noStrike">
                <a:solidFill>
                  <a:srgbClr val="E74C3C"/>
                </a:solidFill>
                <a:highlight>
                  <a:srgbClr val="FFFFFF"/>
                </a:highlight>
                <a:latin typeface="Montserrat"/>
                <a:ea typeface="Montserrat"/>
                <a:cs typeface="Montserrat"/>
                <a:sym typeface="Montserrat"/>
              </a:rPr>
              <a:t>Lưu ý:</a:t>
            </a:r>
            <a:endParaRPr b="1" i="0" sz="1100" u="none" cap="none" strike="noStrike">
              <a:solidFill>
                <a:srgbClr val="E74C3C"/>
              </a:solidFill>
              <a:highlight>
                <a:srgbClr val="FFFFFF"/>
              </a:highlight>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1" i="0" sz="1100" u="none" cap="none" strike="noStrike">
              <a:solidFill>
                <a:srgbClr val="E74C3C"/>
              </a:solidFill>
              <a:highlight>
                <a:srgbClr val="FFFFFF"/>
              </a:highlight>
              <a:latin typeface="Montserrat"/>
              <a:ea typeface="Montserrat"/>
              <a:cs typeface="Montserrat"/>
              <a:sym typeface="Montserrat"/>
            </a:endParaRPr>
          </a:p>
          <a:p>
            <a:pPr indent="-298450" lvl="0" marL="457200" marR="0" rtl="0" algn="l">
              <a:lnSpc>
                <a:spcPct val="150000"/>
              </a:lnSpc>
              <a:spcBef>
                <a:spcPts val="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Sau khi trả lời BCH bài kiểm tra BC cần hoàn tất để xem kết quả bài kiểm tra. </a:t>
            </a:r>
            <a:r>
              <a:rPr b="0" i="0" lang="en-GB" sz="1100" u="none" cap="none" strike="noStrike">
                <a:solidFill>
                  <a:srgbClr val="212121"/>
                </a:solidFill>
                <a:highlight>
                  <a:srgbClr val="FFFFFF"/>
                </a:highlight>
                <a:latin typeface="Montserrat"/>
                <a:ea typeface="Montserrat"/>
                <a:cs typeface="Montserrat"/>
                <a:sym typeface="Montserrat"/>
              </a:rPr>
              <a:t>Hệ thống sẽ ghi nhận 0 điểm nếu không hoàn tất lưu bài kiểm tra.</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50000"/>
              </a:lnSpc>
              <a:spcBef>
                <a:spcPts val="0"/>
              </a:spcBef>
              <a:spcAft>
                <a:spcPts val="0"/>
              </a:spcAft>
              <a:buClr>
                <a:srgbClr val="212121"/>
              </a:buClr>
              <a:buSzPts val="1100"/>
              <a:buFont typeface="Montserrat"/>
              <a:buChar char="-"/>
            </a:pPr>
            <a:r>
              <a:rPr b="0" i="0" lang="en-GB" sz="1100" u="none" cap="none" strike="noStrike">
                <a:solidFill>
                  <a:srgbClr val="212121"/>
                </a:solidFill>
                <a:highlight>
                  <a:srgbClr val="FFFFFF"/>
                </a:highlight>
                <a:latin typeface="Montserrat"/>
                <a:ea typeface="Montserrat"/>
                <a:cs typeface="Montserrat"/>
                <a:sym typeface="Montserrat"/>
              </a:rPr>
              <a:t>Lịch bắn bài: Thứ Hai/Tư/Sáu - NVXL, Thứ Ba/Năm/Bảy - TBC</a:t>
            </a:r>
            <a:endParaRPr b="0"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50000"/>
              </a:lnSpc>
              <a:spcBef>
                <a:spcPts val="0"/>
              </a:spcBef>
              <a:spcAft>
                <a:spcPts val="0"/>
              </a:spcAft>
              <a:buClr>
                <a:srgbClr val="000000"/>
              </a:buClr>
              <a:buSzPts val="1100"/>
              <a:buFont typeface="Arial"/>
              <a:buChar char="-"/>
            </a:pPr>
            <a:r>
              <a:rPr b="0" i="0" lang="en-GB" sz="1100" u="none" cap="none" strike="noStrike">
                <a:solidFill>
                  <a:srgbClr val="000000"/>
                </a:solidFill>
                <a:latin typeface="Montserrat"/>
                <a:ea typeface="Montserrat"/>
                <a:cs typeface="Montserrat"/>
                <a:sym typeface="Montserrat"/>
              </a:rPr>
              <a:t>BC cần h</a:t>
            </a:r>
            <a:r>
              <a:rPr b="0" i="0" lang="en-GB" sz="1100" u="none" cap="none" strike="noStrike">
                <a:solidFill>
                  <a:srgbClr val="212121"/>
                </a:solidFill>
                <a:highlight>
                  <a:srgbClr val="FFFFFF"/>
                </a:highlight>
                <a:latin typeface="Montserrat"/>
                <a:ea typeface="Montserrat"/>
                <a:cs typeface="Montserrat"/>
                <a:sym typeface="Montserrat"/>
              </a:rPr>
              <a:t>oàn thành bài kiểm tra</a:t>
            </a:r>
            <a:r>
              <a:rPr b="1" i="0" lang="en-GB" sz="1100" u="none" cap="none" strike="noStrike">
                <a:solidFill>
                  <a:srgbClr val="212121"/>
                </a:solidFill>
                <a:highlight>
                  <a:srgbClr val="FFFFFF"/>
                </a:highlight>
                <a:latin typeface="Montserrat"/>
                <a:ea typeface="Montserrat"/>
                <a:cs typeface="Montserrat"/>
                <a:sym typeface="Montserrat"/>
              </a:rPr>
              <a:t> </a:t>
            </a:r>
            <a:r>
              <a:rPr b="0" i="0" lang="en-GB" sz="1100" u="none" cap="none" strike="noStrike">
                <a:solidFill>
                  <a:srgbClr val="212121"/>
                </a:solidFill>
                <a:highlight>
                  <a:srgbClr val="FFFFFF"/>
                </a:highlight>
                <a:latin typeface="Montserrat"/>
                <a:ea typeface="Montserrat"/>
                <a:cs typeface="Montserrat"/>
                <a:sym typeface="Montserrat"/>
              </a:rPr>
              <a:t>đúng</a:t>
            </a:r>
            <a:r>
              <a:rPr b="1" i="0" lang="en-GB" sz="1100" u="none" cap="none" strike="noStrike">
                <a:solidFill>
                  <a:srgbClr val="212121"/>
                </a:solidFill>
                <a:highlight>
                  <a:srgbClr val="FFFFFF"/>
                </a:highlight>
                <a:latin typeface="Montserrat"/>
                <a:ea typeface="Montserrat"/>
                <a:cs typeface="Montserrat"/>
                <a:sym typeface="Montserrat"/>
              </a:rPr>
              <a:t> 10/10 </a:t>
            </a:r>
            <a:r>
              <a:rPr b="0" i="0" lang="en-GB" sz="1100" u="none" cap="none" strike="noStrike">
                <a:solidFill>
                  <a:srgbClr val="212121"/>
                </a:solidFill>
                <a:highlight>
                  <a:srgbClr val="FFFFFF"/>
                </a:highlight>
                <a:latin typeface="Montserrat"/>
                <a:ea typeface="Montserrat"/>
                <a:cs typeface="Montserrat"/>
                <a:sym typeface="Montserrat"/>
              </a:rPr>
              <a:t>câu</a:t>
            </a:r>
            <a:r>
              <a:rPr b="1" i="0" lang="en-GB" sz="1100" u="none" cap="none" strike="noStrike">
                <a:solidFill>
                  <a:srgbClr val="212121"/>
                </a:solidFill>
                <a:highlight>
                  <a:srgbClr val="FFFFFF"/>
                </a:highlight>
                <a:latin typeface="Montserrat"/>
                <a:ea typeface="Montserrat"/>
                <a:cs typeface="Montserrat"/>
                <a:sym typeface="Montserrat"/>
              </a:rPr>
              <a:t>.</a:t>
            </a:r>
            <a:endParaRPr b="1" i="0" sz="1100" u="none" cap="none" strike="noStrike">
              <a:solidFill>
                <a:srgbClr val="212121"/>
              </a:solidFill>
              <a:highlight>
                <a:srgbClr val="FFFFFF"/>
              </a:highlight>
              <a:latin typeface="Montserrat"/>
              <a:ea typeface="Montserrat"/>
              <a:cs typeface="Montserrat"/>
              <a:sym typeface="Montserrat"/>
            </a:endParaRPr>
          </a:p>
          <a:p>
            <a:pPr indent="-298450" lvl="0" marL="457200" marR="0" rtl="0" algn="l">
              <a:lnSpc>
                <a:spcPct val="150000"/>
              </a:lnSpc>
              <a:spcBef>
                <a:spcPts val="0"/>
              </a:spcBef>
              <a:spcAft>
                <a:spcPts val="0"/>
              </a:spcAft>
              <a:buClr>
                <a:srgbClr val="212121"/>
              </a:buClr>
              <a:buSzPts val="1100"/>
              <a:buFont typeface="Montserrat"/>
              <a:buChar char="-"/>
            </a:pPr>
            <a:r>
              <a:rPr b="0" i="0" lang="en-GB" sz="1100" u="none" cap="none" strike="noStrike">
                <a:solidFill>
                  <a:srgbClr val="212121"/>
                </a:solidFill>
                <a:highlight>
                  <a:srgbClr val="FFFFFF"/>
                </a:highlight>
                <a:latin typeface="Montserrat"/>
                <a:ea typeface="Montserrat"/>
                <a:cs typeface="Montserrat"/>
                <a:sym typeface="Montserrat"/>
              </a:rPr>
              <a:t>BC có thể làm nhiều lần để đạt bài kiểm tra từ 10 điểm</a:t>
            </a:r>
            <a:endParaRPr b="1" i="0" sz="1100" u="none" cap="none" strike="noStrike">
              <a:solidFill>
                <a:srgbClr val="212121"/>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595959"/>
              </a:solidFill>
              <a:latin typeface="Montserrat"/>
              <a:ea typeface="Montserrat"/>
              <a:cs typeface="Montserrat"/>
              <a:sym typeface="Montserrat"/>
            </a:endParaRPr>
          </a:p>
        </p:txBody>
      </p:sp>
      <p:sp>
        <p:nvSpPr>
          <p:cNvPr id="640" name="Google Shape;640;p88"/>
          <p:cNvSpPr txBox="1"/>
          <p:nvPr/>
        </p:nvSpPr>
        <p:spPr>
          <a:xfrm>
            <a:off x="330300" y="186050"/>
            <a:ext cx="6546900" cy="45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 A. BÀI KIỂM TRA KIẾN THỨC</a:t>
            </a:r>
            <a:endParaRPr b="1" i="0" sz="2050" u="none" cap="none" strike="noStrike">
              <a:solidFill>
                <a:srgbClr val="00467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50"/>
              <a:buFont typeface="Arial"/>
              <a:buNone/>
            </a:pPr>
            <a:r>
              <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4" name="Shape 644"/>
        <p:cNvGrpSpPr/>
        <p:nvPr/>
      </p:nvGrpSpPr>
      <p:grpSpPr>
        <a:xfrm>
          <a:off x="0" y="0"/>
          <a:ext cx="0" cy="0"/>
          <a:chOff x="0" y="0"/>
          <a:chExt cx="0" cy="0"/>
        </a:xfrm>
      </p:grpSpPr>
      <p:sp>
        <p:nvSpPr>
          <p:cNvPr id="645" name="Google Shape;645;p89"/>
          <p:cNvSpPr txBox="1"/>
          <p:nvPr>
            <p:ph type="title"/>
          </p:nvPr>
        </p:nvSpPr>
        <p:spPr>
          <a:xfrm>
            <a:off x="357275" y="182000"/>
            <a:ext cx="6094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GB" sz="2050">
                <a:solidFill>
                  <a:srgbClr val="00467F"/>
                </a:solidFill>
                <a:latin typeface="Montserrat"/>
                <a:ea typeface="Montserrat"/>
                <a:cs typeface="Montserrat"/>
                <a:sym typeface="Montserrat"/>
              </a:rPr>
              <a:t>B. E-FORM GỬI TRONG THỜI HẠN</a:t>
            </a:r>
            <a:endParaRPr b="1" sz="2050">
              <a:solidFill>
                <a:srgbClr val="00467F"/>
              </a:solidFill>
              <a:latin typeface="Montserrat"/>
              <a:ea typeface="Montserrat"/>
              <a:cs typeface="Montserrat"/>
              <a:sym typeface="Montserrat"/>
            </a:endParaRPr>
          </a:p>
        </p:txBody>
      </p:sp>
      <p:pic>
        <p:nvPicPr>
          <p:cNvPr id="646" name="Google Shape;646;p89" title="Screenshot_43.png"/>
          <p:cNvPicPr preferRelativeResize="0"/>
          <p:nvPr/>
        </p:nvPicPr>
        <p:blipFill rotWithShape="1">
          <a:blip r:embed="rId3">
            <a:alphaModFix/>
          </a:blip>
          <a:srcRect b="5722" l="0" r="0" t="0"/>
          <a:stretch/>
        </p:blipFill>
        <p:spPr>
          <a:xfrm>
            <a:off x="546150" y="1546450"/>
            <a:ext cx="6481350" cy="3383425"/>
          </a:xfrm>
          <a:prstGeom prst="rect">
            <a:avLst/>
          </a:prstGeom>
          <a:noFill/>
          <a:ln cap="flat" cmpd="sng" w="9525">
            <a:solidFill>
              <a:srgbClr val="0000FF"/>
            </a:solidFill>
            <a:prstDash val="solid"/>
            <a:round/>
            <a:headEnd len="sm" w="sm" type="none"/>
            <a:tailEnd len="sm" w="sm" type="none"/>
          </a:ln>
        </p:spPr>
      </p:pic>
      <p:sp>
        <p:nvSpPr>
          <p:cNvPr id="647" name="Google Shape;647;p89"/>
          <p:cNvSpPr txBox="1"/>
          <p:nvPr/>
        </p:nvSpPr>
        <p:spPr>
          <a:xfrm>
            <a:off x="0" y="803050"/>
            <a:ext cx="9172500" cy="7434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000000"/>
              </a:buClr>
              <a:buSzPts val="1100"/>
              <a:buFont typeface="Montserrat"/>
              <a:buChar char="-"/>
            </a:pPr>
            <a:r>
              <a:rPr b="0" i="0" lang="en-GB" sz="1100" u="none" cap="none" strike="noStrike">
                <a:solidFill>
                  <a:srgbClr val="000000"/>
                </a:solidFill>
                <a:latin typeface="Montserrat"/>
                <a:ea typeface="Montserrat"/>
                <a:cs typeface="Montserrat"/>
                <a:sym typeface="Montserrat"/>
              </a:rPr>
              <a:t>Chỉ chấp nhận các trường hợp loại trừ được thực hiện bằng E-Form.</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rgbClr val="000000"/>
              </a:buClr>
              <a:buSzPts val="1100"/>
              <a:buFont typeface="Arial"/>
              <a:buChar char="-"/>
            </a:pPr>
            <a:r>
              <a:rPr b="0" i="0" lang="en-GB" sz="1100" u="none" cap="none" strike="noStrike">
                <a:solidFill>
                  <a:srgbClr val="000000"/>
                </a:solidFill>
                <a:latin typeface="Montserrat"/>
                <a:ea typeface="Montserrat"/>
                <a:cs typeface="Montserrat"/>
                <a:sym typeface="Montserrat"/>
              </a:rPr>
              <a:t> Các lý do hợp lý sẽ được xem xét và loại trừ, tuy nhiên chỉ chấp nhận các trường hợp </a:t>
            </a:r>
            <a:r>
              <a:rPr b="1" i="0" lang="en-GB" sz="1100" u="none" cap="none" strike="noStrike">
                <a:solidFill>
                  <a:srgbClr val="000000"/>
                </a:solidFill>
                <a:latin typeface="Montserrat"/>
                <a:ea typeface="Montserrat"/>
                <a:cs typeface="Montserrat"/>
                <a:sym typeface="Montserrat"/>
              </a:rPr>
              <a:t>gửi loại trừ ngay tại thời điểm phát sinh, hoặc chậm nhất sau 7 ngày làm việc. </a:t>
            </a:r>
            <a:r>
              <a:rPr b="0" i="1" lang="en-GB" sz="1100" u="none" cap="none" strike="noStrike">
                <a:solidFill>
                  <a:srgbClr val="000000"/>
                </a:solidFill>
                <a:latin typeface="Montserrat"/>
                <a:ea typeface="Montserrat"/>
                <a:cs typeface="Montserrat"/>
                <a:sym typeface="Montserrat"/>
              </a:rPr>
              <a:t>(Hình ảnh minh họa)</a:t>
            </a:r>
            <a:endParaRPr b="0" i="1" sz="11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1" name="Shape 651"/>
        <p:cNvGrpSpPr/>
        <p:nvPr/>
      </p:nvGrpSpPr>
      <p:grpSpPr>
        <a:xfrm>
          <a:off x="0" y="0"/>
          <a:ext cx="0" cy="0"/>
          <a:chOff x="0" y="0"/>
          <a:chExt cx="0" cy="0"/>
        </a:xfrm>
      </p:grpSpPr>
      <p:pic>
        <p:nvPicPr>
          <p:cNvPr id="652" name="Google Shape;652;p90"/>
          <p:cNvPicPr preferRelativeResize="0"/>
          <p:nvPr/>
        </p:nvPicPr>
        <p:blipFill rotWithShape="1">
          <a:blip r:embed="rId3">
            <a:alphaModFix/>
          </a:blip>
          <a:srcRect b="0" l="0" r="0" t="0"/>
          <a:stretch/>
        </p:blipFill>
        <p:spPr>
          <a:xfrm>
            <a:off x="5445600" y="1053200"/>
            <a:ext cx="1718425" cy="3359949"/>
          </a:xfrm>
          <a:prstGeom prst="rect">
            <a:avLst/>
          </a:prstGeom>
          <a:noFill/>
          <a:ln cap="flat" cmpd="sng" w="19050">
            <a:solidFill>
              <a:srgbClr val="00467F"/>
            </a:solidFill>
            <a:prstDash val="solid"/>
            <a:round/>
            <a:headEnd len="sm" w="sm" type="none"/>
            <a:tailEnd len="sm" w="sm" type="none"/>
          </a:ln>
        </p:spPr>
      </p:pic>
      <p:sp>
        <p:nvSpPr>
          <p:cNvPr id="653" name="Google Shape;653;p90"/>
          <p:cNvSpPr txBox="1"/>
          <p:nvPr/>
        </p:nvSpPr>
        <p:spPr>
          <a:xfrm>
            <a:off x="359988" y="112500"/>
            <a:ext cx="8144400" cy="41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400" u="none" cap="none" strike="noStrike">
                <a:solidFill>
                  <a:srgbClr val="00467F"/>
                </a:solidFill>
                <a:latin typeface="Montserrat"/>
                <a:ea typeface="Montserrat"/>
                <a:cs typeface="Montserrat"/>
                <a:sym typeface="Montserrat"/>
              </a:rPr>
              <a:t>C. BÀI CHẤM TRƯỚC EVENT</a:t>
            </a:r>
            <a:endParaRPr b="1" i="0" sz="2800" u="none" cap="none" strike="noStrike">
              <a:solidFill>
                <a:srgbClr val="00467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50"/>
              <a:buFont typeface="Arial"/>
              <a:buNone/>
            </a:pPr>
            <a:r>
              <a:t/>
            </a:r>
            <a:endParaRPr b="1" i="0" sz="2050" u="none" cap="none" strike="noStrike">
              <a:solidFill>
                <a:srgbClr val="00467F"/>
              </a:solidFill>
              <a:highlight>
                <a:srgbClr val="FFFFFF"/>
              </a:highlight>
              <a:latin typeface="Montserrat"/>
              <a:ea typeface="Montserrat"/>
              <a:cs typeface="Montserrat"/>
              <a:sym typeface="Montserrat"/>
            </a:endParaRPr>
          </a:p>
        </p:txBody>
      </p:sp>
      <p:sp>
        <p:nvSpPr>
          <p:cNvPr id="654" name="Google Shape;654;p90"/>
          <p:cNvSpPr txBox="1"/>
          <p:nvPr/>
        </p:nvSpPr>
        <p:spPr>
          <a:xfrm>
            <a:off x="87000" y="595400"/>
            <a:ext cx="5358600" cy="426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 KHU VỰC LƯU ĐƠN HÀNG LẤY CHỜ BẮN KIỂM</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KV này được định vị gồm 1 biển: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FF0000"/>
                </a:solidFill>
                <a:latin typeface="Montserrat"/>
                <a:ea typeface="Montserrat"/>
                <a:cs typeface="Montserrat"/>
                <a:sym typeface="Montserrat"/>
              </a:rPr>
              <a:t>+ KHU VỰC LƯU ĐƠN HÀNG LẤY CHỜ BẮN KIỂM (in trắng đen bằng giấy A4) =&gt; </a:t>
            </a:r>
            <a:r>
              <a:rPr b="0" i="0" lang="en-GB" sz="1100" u="sng" cap="none" strike="noStrike">
                <a:solidFill>
                  <a:schemeClr val="hlink"/>
                </a:solidFill>
                <a:latin typeface="Montserrat"/>
                <a:ea typeface="Montserrat"/>
                <a:cs typeface="Montserrat"/>
                <a:sym typeface="Montserrat"/>
                <a:hlinkClick r:id="rId4"/>
              </a:rPr>
              <a:t>Mẫu tải in tại đây</a:t>
            </a:r>
            <a:r>
              <a:rPr b="0" i="0" lang="en-GB" sz="1100" u="none" cap="none" strike="noStrike">
                <a:solidFill>
                  <a:srgbClr val="FF0000"/>
                </a:solidFill>
                <a:latin typeface="Montserrat"/>
                <a:ea typeface="Montserrat"/>
                <a:cs typeface="Montserrat"/>
                <a:sym typeface="Montserrat"/>
              </a:rPr>
              <a:t>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Các biển định vị sử dụng trong kì Event được in trắng đen bằng giấy A4 này có thể dán 1 lần sử dụng đến hết năm (hoặc đến khi có thông báo mới).</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Dán biển định vị sử dụng trong kì Event được in trắng đen bằng giấy A4</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bộ KV là không gian trống, thông thoáng, sắp xếp gọn gàng, sạch sẽ không rác, không đồ ăn thức uống, không vật dụng cá nhân và vật dụng thừa (khoảng cách trung bình 2 mét), nếu hình chụp gần không thấy được bao quát thì phải chụp nhiều hình đính kèm vào tiêu chí.</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Không có biển định vị khu vực.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Dán băng keo trong (màu) đè lên trên biển định vị, dán không ngay ngắn, dán cao không đều nhau, mép dưới biển định vị cách mặt đất thấp/ cao hơn 1m8.</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không thấy toàn bộ khu vực hoặc khu vực không gọn gàng, vệ sinh</a:t>
            </a:r>
            <a:endParaRPr b="0" i="0" sz="1100" u="none" cap="none" strike="noStrike">
              <a:solidFill>
                <a:srgbClr val="000000"/>
              </a:solidFill>
              <a:latin typeface="Montserrat"/>
              <a:ea typeface="Montserrat"/>
              <a:cs typeface="Montserrat"/>
              <a:sym typeface="Montserrat"/>
            </a:endParaRPr>
          </a:p>
        </p:txBody>
      </p:sp>
      <p:sp>
        <p:nvSpPr>
          <p:cNvPr id="655" name="Google Shape;655;p90"/>
          <p:cNvSpPr/>
          <p:nvPr/>
        </p:nvSpPr>
        <p:spPr>
          <a:xfrm>
            <a:off x="5457900" y="4055725"/>
            <a:ext cx="398700" cy="3498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pic>
        <p:nvPicPr>
          <p:cNvPr id="656" name="Google Shape;656;p90"/>
          <p:cNvPicPr preferRelativeResize="0"/>
          <p:nvPr/>
        </p:nvPicPr>
        <p:blipFill rotWithShape="1">
          <a:blip r:embed="rId5">
            <a:alphaModFix/>
          </a:blip>
          <a:srcRect b="0" l="0" r="0" t="0"/>
          <a:stretch/>
        </p:blipFill>
        <p:spPr>
          <a:xfrm>
            <a:off x="7231350" y="1053200"/>
            <a:ext cx="1869826" cy="3332700"/>
          </a:xfrm>
          <a:prstGeom prst="rect">
            <a:avLst/>
          </a:prstGeom>
          <a:noFill/>
          <a:ln cap="flat" cmpd="sng" w="19050">
            <a:solidFill>
              <a:srgbClr val="F26522"/>
            </a:solidFill>
            <a:prstDash val="solid"/>
            <a:round/>
            <a:headEnd len="sm" w="sm" type="none"/>
            <a:tailEnd len="sm" w="sm" type="none"/>
          </a:ln>
        </p:spPr>
      </p:pic>
      <p:sp>
        <p:nvSpPr>
          <p:cNvPr id="657" name="Google Shape;657;p90"/>
          <p:cNvSpPr/>
          <p:nvPr/>
        </p:nvSpPr>
        <p:spPr>
          <a:xfrm>
            <a:off x="7231350" y="4055725"/>
            <a:ext cx="398700" cy="349800"/>
          </a:xfrm>
          <a:prstGeom prst="hexagon">
            <a:avLst>
              <a:gd fmla="val 25000" name="adj"/>
              <a:gd fmla="val 115470" name="vf"/>
            </a:avLst>
          </a:prstGeom>
          <a:solidFill>
            <a:srgbClr val="F265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658" name="Google Shape;658;p90"/>
          <p:cNvSpPr txBox="1"/>
          <p:nvPr/>
        </p:nvSpPr>
        <p:spPr>
          <a:xfrm>
            <a:off x="87000" y="4663225"/>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6"/>
              </a:rPr>
              <a:t>hình ảnh minh hoạ</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2" name="Shape 662"/>
        <p:cNvGrpSpPr/>
        <p:nvPr/>
      </p:nvGrpSpPr>
      <p:grpSpPr>
        <a:xfrm>
          <a:off x="0" y="0"/>
          <a:ext cx="0" cy="0"/>
          <a:chOff x="0" y="0"/>
          <a:chExt cx="0" cy="0"/>
        </a:xfrm>
      </p:grpSpPr>
      <p:sp>
        <p:nvSpPr>
          <p:cNvPr id="663" name="Google Shape;663;p91"/>
          <p:cNvSpPr txBox="1"/>
          <p:nvPr>
            <p:ph type="title"/>
          </p:nvPr>
        </p:nvSpPr>
        <p:spPr>
          <a:xfrm>
            <a:off x="351325" y="193975"/>
            <a:ext cx="6094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GB" sz="2050">
                <a:solidFill>
                  <a:srgbClr val="00467F"/>
                </a:solidFill>
                <a:latin typeface="Montserrat"/>
                <a:ea typeface="Montserrat"/>
                <a:cs typeface="Montserrat"/>
                <a:sym typeface="Montserrat"/>
              </a:rPr>
              <a:t>C. E-FORM GỬI</a:t>
            </a:r>
            <a:r>
              <a:rPr b="1" lang="en-GB" sz="2050">
                <a:solidFill>
                  <a:srgbClr val="0056B3"/>
                </a:solidFill>
                <a:latin typeface="Montserrat"/>
                <a:ea typeface="Montserrat"/>
                <a:cs typeface="Montserrat"/>
                <a:sym typeface="Montserrat"/>
              </a:rPr>
              <a:t> </a:t>
            </a:r>
            <a:r>
              <a:rPr b="1" lang="en-GB" sz="2050">
                <a:solidFill>
                  <a:srgbClr val="FF0000"/>
                </a:solidFill>
                <a:latin typeface="Montserrat"/>
                <a:ea typeface="Montserrat"/>
                <a:cs typeface="Montserrat"/>
                <a:sym typeface="Montserrat"/>
              </a:rPr>
              <a:t>NGOÀI THỜI HẠN</a:t>
            </a:r>
            <a:endParaRPr b="1" sz="2050">
              <a:solidFill>
                <a:srgbClr val="FF0000"/>
              </a:solidFill>
              <a:latin typeface="Montserrat"/>
              <a:ea typeface="Montserrat"/>
              <a:cs typeface="Montserrat"/>
              <a:sym typeface="Montserrat"/>
            </a:endParaRPr>
          </a:p>
          <a:p>
            <a:pPr indent="0" lvl="0" marL="0" rtl="0" algn="l">
              <a:lnSpc>
                <a:spcPct val="100000"/>
              </a:lnSpc>
              <a:spcBef>
                <a:spcPts val="0"/>
              </a:spcBef>
              <a:spcAft>
                <a:spcPts val="0"/>
              </a:spcAft>
              <a:buSzPts val="1800"/>
              <a:buNone/>
            </a:pPr>
            <a:r>
              <a:t/>
            </a:r>
            <a:endParaRPr b="1" sz="2050">
              <a:solidFill>
                <a:srgbClr val="F15E22"/>
              </a:solidFill>
              <a:latin typeface="Montserrat"/>
              <a:ea typeface="Montserrat"/>
              <a:cs typeface="Montserrat"/>
              <a:sym typeface="Montserrat"/>
            </a:endParaRPr>
          </a:p>
        </p:txBody>
      </p:sp>
      <p:pic>
        <p:nvPicPr>
          <p:cNvPr id="664" name="Google Shape;664;p91" title="Screenshot_47.png"/>
          <p:cNvPicPr preferRelativeResize="0"/>
          <p:nvPr/>
        </p:nvPicPr>
        <p:blipFill rotWithShape="1">
          <a:blip r:embed="rId3">
            <a:alphaModFix/>
          </a:blip>
          <a:srcRect b="1428" l="0" r="0" t="1428"/>
          <a:stretch/>
        </p:blipFill>
        <p:spPr>
          <a:xfrm>
            <a:off x="866875" y="1263325"/>
            <a:ext cx="6628569" cy="3557976"/>
          </a:xfrm>
          <a:prstGeom prst="rect">
            <a:avLst/>
          </a:prstGeom>
          <a:noFill/>
          <a:ln cap="flat" cmpd="sng" w="19050">
            <a:solidFill>
              <a:srgbClr val="FF0000"/>
            </a:solidFill>
            <a:prstDash val="solid"/>
            <a:round/>
            <a:headEnd len="sm" w="sm" type="none"/>
            <a:tailEnd len="sm" w="sm" type="none"/>
          </a:ln>
        </p:spPr>
      </p:pic>
      <p:sp>
        <p:nvSpPr>
          <p:cNvPr id="665" name="Google Shape;665;p91"/>
          <p:cNvSpPr txBox="1"/>
          <p:nvPr/>
        </p:nvSpPr>
        <p:spPr>
          <a:xfrm>
            <a:off x="265200" y="790813"/>
            <a:ext cx="8878800" cy="54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Các trường hợp </a:t>
            </a:r>
            <a:r>
              <a:rPr b="1" i="0" lang="en-GB" sz="1100" u="none" cap="none" strike="noStrike">
                <a:solidFill>
                  <a:srgbClr val="000000"/>
                </a:solidFill>
                <a:latin typeface="Montserrat"/>
                <a:ea typeface="Montserrat"/>
                <a:cs typeface="Montserrat"/>
                <a:sym typeface="Montserrat"/>
              </a:rPr>
              <a:t>loại trừ trễ hơn 7 ngày phát sinh, chỉ được tính tối đa lùi về 7 ngày</a:t>
            </a:r>
            <a:r>
              <a:rPr b="0" i="0" lang="en-GB" sz="1100" u="none" cap="none" strike="noStrike">
                <a:solidFill>
                  <a:srgbClr val="000000"/>
                </a:solidFill>
                <a:latin typeface="Montserrat"/>
                <a:ea typeface="Montserrat"/>
                <a:cs typeface="Montserrat"/>
                <a:sym typeface="Montserrat"/>
              </a:rPr>
              <a:t> từ thời điểm tạo E-Form. </a:t>
            </a:r>
            <a:r>
              <a:rPr b="0" i="1" lang="en-GB" sz="1100" u="none" cap="none" strike="noStrike">
                <a:solidFill>
                  <a:srgbClr val="000000"/>
                </a:solidFill>
                <a:latin typeface="Montserrat"/>
                <a:ea typeface="Montserrat"/>
                <a:cs typeface="Montserrat"/>
                <a:sym typeface="Montserrat"/>
              </a:rPr>
              <a:t>(Hình ảnh minh họa)</a:t>
            </a:r>
            <a:endParaRPr b="0" i="0" sz="11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9" name="Shape 669"/>
        <p:cNvGrpSpPr/>
        <p:nvPr/>
      </p:nvGrpSpPr>
      <p:grpSpPr>
        <a:xfrm>
          <a:off x="0" y="0"/>
          <a:ext cx="0" cy="0"/>
          <a:chOff x="0" y="0"/>
          <a:chExt cx="0" cy="0"/>
        </a:xfrm>
      </p:grpSpPr>
      <p:sp>
        <p:nvSpPr>
          <p:cNvPr id="670" name="Google Shape;670;p92"/>
          <p:cNvSpPr txBox="1"/>
          <p:nvPr/>
        </p:nvSpPr>
        <p:spPr>
          <a:xfrm>
            <a:off x="351213" y="105000"/>
            <a:ext cx="8144400" cy="41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400" u="none" cap="none" strike="noStrike">
                <a:solidFill>
                  <a:srgbClr val="00467F"/>
                </a:solidFill>
                <a:latin typeface="Montserrat"/>
                <a:ea typeface="Montserrat"/>
                <a:cs typeface="Montserrat"/>
                <a:sym typeface="Montserrat"/>
              </a:rPr>
              <a:t>C. BÀI CHẤM TRƯỚC EVENT</a:t>
            </a:r>
            <a:endParaRPr b="1" i="0" sz="2800" u="none" cap="none" strike="noStrike">
              <a:solidFill>
                <a:srgbClr val="00467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50"/>
              <a:buFont typeface="Arial"/>
              <a:buNone/>
            </a:pPr>
            <a:r>
              <a:t/>
            </a:r>
            <a:endParaRPr b="1" i="0" sz="2050" u="none" cap="none" strike="noStrike">
              <a:solidFill>
                <a:srgbClr val="00467F"/>
              </a:solidFill>
              <a:highlight>
                <a:srgbClr val="FFFFFF"/>
              </a:highlight>
              <a:latin typeface="Montserrat"/>
              <a:ea typeface="Montserrat"/>
              <a:cs typeface="Montserrat"/>
              <a:sym typeface="Montserrat"/>
            </a:endParaRPr>
          </a:p>
        </p:txBody>
      </p:sp>
      <p:sp>
        <p:nvSpPr>
          <p:cNvPr id="671" name="Google Shape;671;p92"/>
          <p:cNvSpPr txBox="1"/>
          <p:nvPr/>
        </p:nvSpPr>
        <p:spPr>
          <a:xfrm>
            <a:off x="351225" y="977700"/>
            <a:ext cx="3723000" cy="283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n-GB" sz="1200" u="none" cap="none" strike="noStrike">
                <a:solidFill>
                  <a:srgbClr val="2980B9"/>
                </a:solidFill>
                <a:latin typeface="Montserrat"/>
                <a:ea typeface="Montserrat"/>
                <a:cs typeface="Montserrat"/>
                <a:sym typeface="Montserrat"/>
              </a:rPr>
              <a:t>2. BẢNG ĐĂNG KÝ KINH DOANH</a:t>
            </a:r>
            <a:endParaRPr b="1"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15000"/>
              </a:lnSpc>
              <a:spcBef>
                <a:spcPts val="800"/>
              </a:spcBef>
              <a:spcAft>
                <a:spcPts val="0"/>
              </a:spcAft>
              <a:buClr>
                <a:schemeClr val="dk1"/>
              </a:buClr>
              <a:buSzPts val="1100"/>
              <a:buFont typeface="Arial"/>
              <a:buNone/>
            </a:pPr>
            <a:r>
              <a:rPr b="0" i="0" lang="en-GB" sz="1000" u="none" cap="none" strike="noStrike">
                <a:solidFill>
                  <a:srgbClr val="333333"/>
                </a:solidFill>
                <a:highlight>
                  <a:schemeClr val="lt1"/>
                </a:highlight>
                <a:latin typeface="Montserrat"/>
                <a:ea typeface="Montserrat"/>
                <a:cs typeface="Montserrat"/>
                <a:sym typeface="Montserrat"/>
              </a:rPr>
              <a:t> - Nhân viên chụp bảng đăng ký kinh doanh được dán trước cửa Bưu cục</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15000"/>
              </a:lnSpc>
              <a:spcBef>
                <a:spcPts val="800"/>
              </a:spcBef>
              <a:spcAft>
                <a:spcPts val="0"/>
              </a:spcAft>
              <a:buClr>
                <a:schemeClr val="dk1"/>
              </a:buClr>
              <a:buSzPts val="1100"/>
              <a:buFont typeface="Arial"/>
              <a:buNone/>
            </a:pPr>
            <a:r>
              <a:rPr b="1" i="0" lang="en-GB" sz="1000" u="none" cap="none" strike="noStrike">
                <a:solidFill>
                  <a:schemeClr val="dk1"/>
                </a:solidFill>
                <a:highlight>
                  <a:schemeClr val="lt1"/>
                </a:highlight>
                <a:latin typeface="Montserrat"/>
                <a:ea typeface="Montserrat"/>
                <a:cs typeface="Montserrat"/>
                <a:sym typeface="Montserrat"/>
              </a:rPr>
              <a:t>Cách chụp:</a:t>
            </a:r>
            <a:r>
              <a:rPr b="0" i="0" lang="en-GB" sz="1000" u="none" cap="none" strike="noStrike">
                <a:solidFill>
                  <a:srgbClr val="333333"/>
                </a:solidFill>
                <a:highlight>
                  <a:schemeClr val="lt1"/>
                </a:highlight>
                <a:latin typeface="Montserrat"/>
                <a:ea typeface="Montserrat"/>
                <a:cs typeface="Montserrat"/>
                <a:sym typeface="Montserrat"/>
              </a:rPr>
              <a:t>- Đảm bảo hình chụp cần thấy được đầy đủ, rõ thông tin trên bảng.</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15000"/>
              </a:lnSpc>
              <a:spcBef>
                <a:spcPts val="800"/>
              </a:spcBef>
              <a:spcAft>
                <a:spcPts val="0"/>
              </a:spcAft>
              <a:buClr>
                <a:schemeClr val="dk1"/>
              </a:buClr>
              <a:buSzPts val="1100"/>
              <a:buFont typeface="Arial"/>
              <a:buNone/>
            </a:pPr>
            <a:r>
              <a:rPr b="0" i="0" lang="en-GB" sz="1000" u="none" cap="none" strike="noStrike">
                <a:solidFill>
                  <a:srgbClr val="333333"/>
                </a:solidFill>
                <a:highlight>
                  <a:schemeClr val="lt1"/>
                </a:highlight>
                <a:latin typeface="Montserrat"/>
                <a:ea typeface="Montserrat"/>
                <a:cs typeface="Montserrat"/>
                <a:sym typeface="Montserrat"/>
              </a:rPr>
              <a:t>- Hình chụp nếu thấy được toàn cảnh </a:t>
            </a:r>
            <a:r>
              <a:rPr b="1" i="0" lang="en-GB" sz="1000" u="none" cap="none" strike="noStrike">
                <a:solidFill>
                  <a:srgbClr val="333333"/>
                </a:solidFill>
                <a:highlight>
                  <a:schemeClr val="lt1"/>
                </a:highlight>
                <a:latin typeface="Montserrat"/>
                <a:ea typeface="Montserrat"/>
                <a:cs typeface="Montserrat"/>
                <a:sym typeface="Montserrat"/>
              </a:rPr>
              <a:t>BẢNG ĐĂNG KÝ KINH DOANH</a:t>
            </a:r>
            <a:r>
              <a:rPr b="0" i="0" lang="en-GB" sz="1000" u="none" cap="none" strike="noStrike">
                <a:solidFill>
                  <a:srgbClr val="333333"/>
                </a:solidFill>
                <a:highlight>
                  <a:schemeClr val="lt1"/>
                </a:highlight>
                <a:latin typeface="Montserrat"/>
                <a:ea typeface="Montserrat"/>
                <a:cs typeface="Montserrat"/>
                <a:sym typeface="Montserrat"/>
              </a:rPr>
              <a:t> dán đúng quy định thì chỉ cần chụp 1 tấm, nếu hình chụp gần không đủ bao quát thì phải chụp nhiều hình đính kèm vào tiêu chí.</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15000"/>
              </a:lnSpc>
              <a:spcBef>
                <a:spcPts val="800"/>
              </a:spcBef>
              <a:spcAft>
                <a:spcPts val="0"/>
              </a:spcAft>
              <a:buClr>
                <a:schemeClr val="dk1"/>
              </a:buClr>
              <a:buSzPts val="1100"/>
              <a:buFont typeface="Arial"/>
              <a:buNone/>
            </a:pPr>
            <a:r>
              <a:rPr b="1" i="0" lang="en-GB" sz="1000" u="none" cap="none" strike="noStrike">
                <a:solidFill>
                  <a:srgbClr val="27AE60"/>
                </a:solidFill>
                <a:highlight>
                  <a:schemeClr val="lt1"/>
                </a:highlight>
                <a:latin typeface="Montserrat"/>
                <a:ea typeface="Montserrat"/>
                <a:cs typeface="Montserrat"/>
                <a:sym typeface="Montserrat"/>
              </a:rPr>
              <a:t>*** Lưu ý:</a:t>
            </a:r>
            <a:r>
              <a:rPr b="0" i="0" lang="en-GB" sz="1000" u="none" cap="none" strike="noStrike">
                <a:solidFill>
                  <a:srgbClr val="333333"/>
                </a:solidFill>
                <a:highlight>
                  <a:schemeClr val="lt1"/>
                </a:highlight>
                <a:latin typeface="Montserrat"/>
                <a:ea typeface="Montserrat"/>
                <a:cs typeface="Montserrat"/>
                <a:sym typeface="Montserrat"/>
              </a:rPr>
              <a:t> không thỏa mãn các điều kiện trên, tiêu chí này KHÔNG ĐẠT.</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00000"/>
              </a:lnSpc>
              <a:spcBef>
                <a:spcPts val="80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p:txBody>
      </p:sp>
      <p:pic>
        <p:nvPicPr>
          <p:cNvPr id="672" name="Google Shape;672;p92" title="Screenshot_38.png"/>
          <p:cNvPicPr preferRelativeResize="0"/>
          <p:nvPr/>
        </p:nvPicPr>
        <p:blipFill rotWithShape="1">
          <a:blip r:embed="rId3">
            <a:alphaModFix/>
          </a:blip>
          <a:srcRect b="3229" l="4816" r="4816" t="2055"/>
          <a:stretch/>
        </p:blipFill>
        <p:spPr>
          <a:xfrm>
            <a:off x="4208925" y="977700"/>
            <a:ext cx="2752800" cy="2960400"/>
          </a:xfrm>
          <a:prstGeom prst="roundRect">
            <a:avLst>
              <a:gd fmla="val 4680" name="adj"/>
            </a:avLst>
          </a:prstGeom>
          <a:noFill/>
          <a:ln cap="flat" cmpd="sng" w="19050">
            <a:solidFill>
              <a:schemeClr val="dk2"/>
            </a:solidFill>
            <a:prstDash val="solid"/>
            <a:round/>
            <a:headEnd len="sm" w="sm" type="none"/>
            <a:tailEnd len="sm" w="sm" type="none"/>
          </a:ln>
        </p:spPr>
      </p:pic>
      <p:pic>
        <p:nvPicPr>
          <p:cNvPr id="673" name="Google Shape;673;p92"/>
          <p:cNvPicPr preferRelativeResize="0"/>
          <p:nvPr/>
        </p:nvPicPr>
        <p:blipFill rotWithShape="1">
          <a:blip r:embed="rId4">
            <a:alphaModFix/>
          </a:blip>
          <a:srcRect b="0" l="0" r="0" t="0"/>
          <a:stretch/>
        </p:blipFill>
        <p:spPr>
          <a:xfrm>
            <a:off x="6996300" y="977698"/>
            <a:ext cx="2027100" cy="1151400"/>
          </a:xfrm>
          <a:prstGeom prst="roundRect">
            <a:avLst>
              <a:gd fmla="val 16667" name="adj"/>
            </a:avLst>
          </a:prstGeom>
          <a:noFill/>
          <a:ln cap="flat" cmpd="sng" w="19050">
            <a:solidFill>
              <a:srgbClr val="FF0000"/>
            </a:solidFill>
            <a:prstDash val="solid"/>
            <a:round/>
            <a:headEnd len="sm" w="sm" type="none"/>
            <a:tailEnd len="sm" w="sm" type="none"/>
          </a:ln>
        </p:spPr>
      </p:pic>
      <p:cxnSp>
        <p:nvCxnSpPr>
          <p:cNvPr id="674" name="Google Shape;674;p92"/>
          <p:cNvCxnSpPr>
            <a:stCxn id="673" idx="2"/>
          </p:cNvCxnSpPr>
          <p:nvPr/>
        </p:nvCxnSpPr>
        <p:spPr>
          <a:xfrm flipH="1">
            <a:off x="6766050" y="2129098"/>
            <a:ext cx="1243800" cy="55320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8" name="Shape 678"/>
        <p:cNvGrpSpPr/>
        <p:nvPr/>
      </p:nvGrpSpPr>
      <p:grpSpPr>
        <a:xfrm>
          <a:off x="0" y="0"/>
          <a:ext cx="0" cy="0"/>
          <a:chOff x="0" y="0"/>
          <a:chExt cx="0" cy="0"/>
        </a:xfrm>
      </p:grpSpPr>
      <p:sp>
        <p:nvSpPr>
          <p:cNvPr id="679" name="Google Shape;679;p93"/>
          <p:cNvSpPr txBox="1"/>
          <p:nvPr/>
        </p:nvSpPr>
        <p:spPr>
          <a:xfrm>
            <a:off x="374988" y="142500"/>
            <a:ext cx="8144400" cy="41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400" u="none" cap="none" strike="noStrike">
                <a:solidFill>
                  <a:srgbClr val="00467F"/>
                </a:solidFill>
                <a:latin typeface="Montserrat"/>
                <a:ea typeface="Montserrat"/>
                <a:cs typeface="Montserrat"/>
                <a:sym typeface="Montserrat"/>
              </a:rPr>
              <a:t>C. BÀI CHẤM TRƯỚC EVENT</a:t>
            </a:r>
            <a:endParaRPr b="1" i="0" sz="2800" u="none" cap="none" strike="noStrike">
              <a:solidFill>
                <a:srgbClr val="00467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50"/>
              <a:buFont typeface="Arial"/>
              <a:buNone/>
            </a:pPr>
            <a:r>
              <a:t/>
            </a:r>
            <a:endParaRPr b="1" i="0" sz="2050" u="none" cap="none" strike="noStrike">
              <a:solidFill>
                <a:srgbClr val="00467F"/>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E74C3C"/>
              </a:solidFill>
              <a:latin typeface="Montserrat"/>
              <a:ea typeface="Montserrat"/>
              <a:cs typeface="Montserrat"/>
              <a:sym typeface="Montserrat"/>
            </a:endParaRPr>
          </a:p>
        </p:txBody>
      </p:sp>
      <p:pic>
        <p:nvPicPr>
          <p:cNvPr id="680" name="Google Shape;680;p93"/>
          <p:cNvPicPr preferRelativeResize="0"/>
          <p:nvPr/>
        </p:nvPicPr>
        <p:blipFill rotWithShape="1">
          <a:blip r:embed="rId3">
            <a:alphaModFix/>
          </a:blip>
          <a:srcRect b="4516" l="0" r="1215" t="0"/>
          <a:stretch/>
        </p:blipFill>
        <p:spPr>
          <a:xfrm>
            <a:off x="4753800" y="959000"/>
            <a:ext cx="1847550" cy="2876450"/>
          </a:xfrm>
          <a:prstGeom prst="rect">
            <a:avLst/>
          </a:prstGeom>
          <a:noFill/>
          <a:ln cap="flat" cmpd="sng" w="19050">
            <a:solidFill>
              <a:schemeClr val="dk2"/>
            </a:solidFill>
            <a:prstDash val="solid"/>
            <a:round/>
            <a:headEnd len="sm" w="sm" type="none"/>
            <a:tailEnd len="sm" w="sm" type="none"/>
          </a:ln>
        </p:spPr>
      </p:pic>
      <p:pic>
        <p:nvPicPr>
          <p:cNvPr id="681" name="Google Shape;681;p93"/>
          <p:cNvPicPr preferRelativeResize="0"/>
          <p:nvPr/>
        </p:nvPicPr>
        <p:blipFill rotWithShape="1">
          <a:blip r:embed="rId4">
            <a:alphaModFix/>
          </a:blip>
          <a:srcRect b="0" l="0" r="0" t="0"/>
          <a:stretch/>
        </p:blipFill>
        <p:spPr>
          <a:xfrm>
            <a:off x="6775278" y="977375"/>
            <a:ext cx="2111196" cy="2839699"/>
          </a:xfrm>
          <a:prstGeom prst="rect">
            <a:avLst/>
          </a:prstGeom>
          <a:noFill/>
          <a:ln cap="flat" cmpd="sng" w="19050">
            <a:solidFill>
              <a:schemeClr val="dk2"/>
            </a:solidFill>
            <a:prstDash val="solid"/>
            <a:round/>
            <a:headEnd len="sm" w="sm" type="none"/>
            <a:tailEnd len="sm" w="sm" type="none"/>
          </a:ln>
        </p:spPr>
      </p:pic>
      <p:sp>
        <p:nvSpPr>
          <p:cNvPr id="682" name="Google Shape;682;p93"/>
          <p:cNvSpPr txBox="1"/>
          <p:nvPr/>
        </p:nvSpPr>
        <p:spPr>
          <a:xfrm>
            <a:off x="264350" y="917775"/>
            <a:ext cx="4183200" cy="317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1" i="0" lang="en-GB" sz="1200" u="none" cap="none" strike="noStrike">
                <a:solidFill>
                  <a:srgbClr val="000000"/>
                </a:solidFill>
                <a:latin typeface="Montserrat"/>
                <a:ea typeface="Montserrat"/>
                <a:cs typeface="Montserrat"/>
                <a:sym typeface="Montserrat"/>
              </a:rPr>
              <a:t> </a:t>
            </a:r>
            <a:r>
              <a:rPr b="1" i="0" lang="en-GB" sz="1200" u="none" cap="none" strike="noStrike">
                <a:solidFill>
                  <a:srgbClr val="2980B9"/>
                </a:solidFill>
                <a:latin typeface="Montserrat"/>
                <a:ea typeface="Montserrat"/>
                <a:cs typeface="Montserrat"/>
                <a:sym typeface="Montserrat"/>
              </a:rPr>
              <a:t>3. DÁN MẪU THÔNG BÁO LẮP CAMERA</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just">
              <a:lnSpc>
                <a:spcPct val="115000"/>
              </a:lnSpc>
              <a:spcBef>
                <a:spcPts val="0"/>
              </a:spcBef>
              <a:spcAft>
                <a:spcPts val="0"/>
              </a:spcAft>
              <a:buClr>
                <a:schemeClr val="dk1"/>
              </a:buClr>
              <a:buSzPts val="1100"/>
              <a:buFont typeface="Arial"/>
              <a:buNone/>
            </a:pPr>
            <a:r>
              <a:rPr b="0" i="0" lang="en-GB" sz="1000" u="none" cap="none" strike="noStrike">
                <a:solidFill>
                  <a:srgbClr val="333333"/>
                </a:solidFill>
                <a:highlight>
                  <a:schemeClr val="lt1"/>
                </a:highlight>
                <a:latin typeface="Montserrat"/>
                <a:ea typeface="Montserrat"/>
                <a:cs typeface="Montserrat"/>
                <a:sym typeface="Montserrat"/>
              </a:rPr>
              <a:t>Bưu cục in màu hoặc in trắng đen bằng khổ giấy A4 theo mẫu (</a:t>
            </a:r>
            <a:r>
              <a:rPr b="1" i="1" lang="en-GB" sz="1000" u="none" cap="none" strike="noStrike">
                <a:solidFill>
                  <a:schemeClr val="hlink"/>
                </a:solidFill>
                <a:highlight>
                  <a:schemeClr val="lt1"/>
                </a:highlight>
                <a:uFill>
                  <a:noFill/>
                </a:uFill>
                <a:latin typeface="Montserrat"/>
                <a:ea typeface="Montserrat"/>
                <a:cs typeface="Montserrat"/>
                <a:sym typeface="Montserrat"/>
                <a:hlinkClick r:id="rId5"/>
              </a:rPr>
              <a:t>Link in Mẫu tại đây.</a:t>
            </a:r>
            <a:r>
              <a:rPr b="0" i="0" lang="en-GB" sz="1000" u="none" cap="none" strike="noStrike">
                <a:solidFill>
                  <a:srgbClr val="333333"/>
                </a:solidFill>
                <a:highlight>
                  <a:schemeClr val="lt1"/>
                </a:highlight>
                <a:latin typeface="Montserrat"/>
                <a:ea typeface="Montserrat"/>
                <a:cs typeface="Montserrat"/>
                <a:sym typeface="Montserrat"/>
              </a:rPr>
              <a:t>) =&gt; Dán/ ghim </a:t>
            </a:r>
            <a:r>
              <a:rPr b="1" i="0" lang="en-GB" sz="1000" u="none" cap="none" strike="noStrike">
                <a:solidFill>
                  <a:srgbClr val="333333"/>
                </a:solidFill>
                <a:highlight>
                  <a:schemeClr val="lt1"/>
                </a:highlight>
                <a:latin typeface="Montserrat"/>
                <a:ea typeface="Montserrat"/>
                <a:cs typeface="Montserrat"/>
                <a:sym typeface="Montserrat"/>
              </a:rPr>
              <a:t>Mẫu Thông Báo Lắp Camera</a:t>
            </a:r>
            <a:r>
              <a:rPr b="0" i="0" lang="en-GB" sz="1000" u="none" cap="none" strike="noStrike">
                <a:solidFill>
                  <a:srgbClr val="333333"/>
                </a:solidFill>
                <a:highlight>
                  <a:schemeClr val="lt1"/>
                </a:highlight>
                <a:latin typeface="Montserrat"/>
                <a:ea typeface="Montserrat"/>
                <a:cs typeface="Montserrat"/>
                <a:sym typeface="Montserrat"/>
              </a:rPr>
              <a:t> lên Bảng Thông Báo của Bưu Cục.</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15000"/>
              </a:lnSpc>
              <a:spcBef>
                <a:spcPts val="1100"/>
              </a:spcBef>
              <a:spcAft>
                <a:spcPts val="0"/>
              </a:spcAft>
              <a:buClr>
                <a:srgbClr val="000000"/>
              </a:buClr>
              <a:buSzPts val="1000"/>
              <a:buFont typeface="Arial"/>
              <a:buNone/>
            </a:pPr>
            <a:r>
              <a:rPr b="1" i="0" lang="en-GB" sz="1000" u="none" cap="none" strike="noStrike">
                <a:solidFill>
                  <a:srgbClr val="333333"/>
                </a:solidFill>
                <a:highlight>
                  <a:schemeClr val="lt1"/>
                </a:highlight>
                <a:latin typeface="Montserrat"/>
                <a:ea typeface="Montserrat"/>
                <a:cs typeface="Montserrat"/>
                <a:sym typeface="Montserrat"/>
              </a:rPr>
              <a:t>Cách chụp:</a:t>
            </a:r>
            <a:br>
              <a:rPr b="1" i="0" lang="en-GB" sz="1000" u="none" cap="none" strike="noStrike">
                <a:solidFill>
                  <a:srgbClr val="333333"/>
                </a:solidFill>
                <a:highlight>
                  <a:schemeClr val="lt1"/>
                </a:highlight>
                <a:latin typeface="Montserrat"/>
                <a:ea typeface="Montserrat"/>
                <a:cs typeface="Montserrat"/>
                <a:sym typeface="Montserrat"/>
              </a:rPr>
            </a:br>
            <a:r>
              <a:rPr b="0" i="0" lang="en-GB" sz="1000" u="none" cap="none" strike="noStrike">
                <a:solidFill>
                  <a:srgbClr val="333333"/>
                </a:solidFill>
                <a:highlight>
                  <a:schemeClr val="lt1"/>
                </a:highlight>
                <a:latin typeface="Montserrat"/>
                <a:ea typeface="Montserrat"/>
                <a:cs typeface="Montserrat"/>
                <a:sym typeface="Montserrat"/>
              </a:rPr>
              <a:t>- Tờ thông báo phải được in rõ mực không bị mờ/ lem mực.</a:t>
            </a:r>
            <a:br>
              <a:rPr b="0" i="0" lang="en-GB" sz="1000" u="none" cap="none" strike="noStrike">
                <a:solidFill>
                  <a:srgbClr val="333333"/>
                </a:solidFill>
                <a:highlight>
                  <a:schemeClr val="lt1"/>
                </a:highlight>
                <a:latin typeface="Montserrat"/>
                <a:ea typeface="Montserrat"/>
                <a:cs typeface="Montserrat"/>
                <a:sym typeface="Montserrat"/>
              </a:rPr>
            </a:br>
            <a:r>
              <a:rPr b="0" i="0" lang="en-GB" sz="1000" u="none" cap="none" strike="noStrike">
                <a:solidFill>
                  <a:srgbClr val="333333"/>
                </a:solidFill>
                <a:highlight>
                  <a:schemeClr val="lt1"/>
                </a:highlight>
                <a:latin typeface="Montserrat"/>
                <a:ea typeface="Montserrat"/>
                <a:cs typeface="Montserrat"/>
                <a:sym typeface="Montserrat"/>
              </a:rPr>
              <a:t>- Hình chụp phải thấy được nội dung tiêu đề của thông báo.</a:t>
            </a:r>
            <a:br>
              <a:rPr b="0" i="0" lang="en-GB" sz="1000" u="none" cap="none" strike="noStrike">
                <a:solidFill>
                  <a:srgbClr val="333333"/>
                </a:solidFill>
                <a:highlight>
                  <a:schemeClr val="lt1"/>
                </a:highlight>
                <a:latin typeface="Montserrat"/>
                <a:ea typeface="Montserrat"/>
                <a:cs typeface="Montserrat"/>
                <a:sym typeface="Montserrat"/>
              </a:rPr>
            </a:br>
            <a:r>
              <a:rPr b="0" i="0" lang="en-GB" sz="1000" u="none" cap="none" strike="noStrike">
                <a:solidFill>
                  <a:srgbClr val="333333"/>
                </a:solidFill>
                <a:highlight>
                  <a:schemeClr val="lt1"/>
                </a:highlight>
                <a:latin typeface="Montserrat"/>
                <a:ea typeface="Montserrat"/>
                <a:cs typeface="Montserrat"/>
                <a:sym typeface="Montserrat"/>
              </a:rPr>
              <a:t>- Tờ thông báo gắn đúng với phần chuyên mục đã quy hoạch theo “Bộ Quy Chuẩn Bảng Thông Báo” ban hành bởi phòng Truyền thông Nội bộ &amp; Thương hiệu Tuyển dụng (gọi tắt là EB)</a:t>
            </a:r>
            <a:br>
              <a:rPr b="0" i="0" lang="en-GB" sz="1000" u="none" cap="none" strike="noStrike">
                <a:solidFill>
                  <a:srgbClr val="333333"/>
                </a:solidFill>
                <a:highlight>
                  <a:schemeClr val="lt1"/>
                </a:highlight>
                <a:latin typeface="Montserrat"/>
                <a:ea typeface="Montserrat"/>
                <a:cs typeface="Montserrat"/>
                <a:sym typeface="Montserrat"/>
              </a:rPr>
            </a:br>
            <a:br>
              <a:rPr b="0" i="0" lang="en-GB" sz="1000" u="none" cap="none" strike="noStrike">
                <a:solidFill>
                  <a:srgbClr val="333333"/>
                </a:solidFill>
                <a:highlight>
                  <a:schemeClr val="lt1"/>
                </a:highlight>
                <a:latin typeface="Montserrat"/>
                <a:ea typeface="Montserrat"/>
                <a:cs typeface="Montserrat"/>
                <a:sym typeface="Montserrat"/>
              </a:rPr>
            </a:br>
            <a:r>
              <a:rPr b="0" i="0" lang="en-GB" sz="1000" u="none" cap="none" strike="noStrike">
                <a:solidFill>
                  <a:srgbClr val="333333"/>
                </a:solidFill>
                <a:highlight>
                  <a:schemeClr val="lt1"/>
                </a:highlight>
                <a:latin typeface="Montserrat"/>
                <a:ea typeface="Montserrat"/>
                <a:cs typeface="Montserrat"/>
                <a:sym typeface="Montserrat"/>
              </a:rPr>
              <a:t>*** Lưu ý: Trường hợp Bưu Cục không có bảng thông báo Bưu Cục dán trực tiếp lên tường tại khu vực tiếp Khách Hàng. </a:t>
            </a:r>
            <a:endParaRPr b="0" i="0" sz="1000" u="none" cap="none" strike="noStrike">
              <a:solidFill>
                <a:srgbClr val="333333"/>
              </a:solidFill>
              <a:highlight>
                <a:schemeClr val="lt1"/>
              </a:highlight>
              <a:latin typeface="Montserrat"/>
              <a:ea typeface="Montserrat"/>
              <a:cs typeface="Montserrat"/>
              <a:sym typeface="Montserrat"/>
            </a:endParaRPr>
          </a:p>
          <a:p>
            <a:pPr indent="0" lvl="0" marL="0" marR="0" rtl="0" algn="l">
              <a:lnSpc>
                <a:spcPct val="115000"/>
              </a:lnSpc>
              <a:spcBef>
                <a:spcPts val="400"/>
              </a:spcBef>
              <a:spcAft>
                <a:spcPts val="0"/>
              </a:spcAft>
              <a:buClr>
                <a:srgbClr val="000000"/>
              </a:buClr>
              <a:buSzPts val="1050"/>
              <a:buFont typeface="Arial"/>
              <a:buNone/>
            </a:pPr>
            <a:r>
              <a:t/>
            </a:r>
            <a:endParaRPr b="1" i="0" sz="1050" u="none" cap="none" strike="noStrike">
              <a:solidFill>
                <a:srgbClr val="333333"/>
              </a:solidFill>
              <a:highlight>
                <a:srgbClr val="F7F8F9"/>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6" name="Shape 686"/>
        <p:cNvGrpSpPr/>
        <p:nvPr/>
      </p:nvGrpSpPr>
      <p:grpSpPr>
        <a:xfrm>
          <a:off x="0" y="0"/>
          <a:ext cx="0" cy="0"/>
          <a:chOff x="0" y="0"/>
          <a:chExt cx="0" cy="0"/>
        </a:xfrm>
      </p:grpSpPr>
      <p:sp>
        <p:nvSpPr>
          <p:cNvPr id="687" name="Google Shape;687;p94"/>
          <p:cNvSpPr txBox="1"/>
          <p:nvPr/>
        </p:nvSpPr>
        <p:spPr>
          <a:xfrm>
            <a:off x="164175" y="100975"/>
            <a:ext cx="6755100" cy="56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050"/>
              <a:buFont typeface="Arial"/>
              <a:buNone/>
            </a:pPr>
            <a:r>
              <a:t/>
            </a:r>
            <a:endParaRPr b="1" i="0" sz="2050" u="none" cap="none" strike="noStrike">
              <a:solidFill>
                <a:srgbClr val="F15E22"/>
              </a:solidFill>
              <a:latin typeface="Montserrat"/>
              <a:ea typeface="Montserrat"/>
              <a:cs typeface="Montserrat"/>
              <a:sym typeface="Montserrat"/>
            </a:endParaRPr>
          </a:p>
        </p:txBody>
      </p:sp>
      <p:sp>
        <p:nvSpPr>
          <p:cNvPr id="688" name="Google Shape;688;p94"/>
          <p:cNvSpPr txBox="1"/>
          <p:nvPr/>
        </p:nvSpPr>
        <p:spPr>
          <a:xfrm>
            <a:off x="361675" y="740525"/>
            <a:ext cx="5928900" cy="406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6. KHU VỰC CHỨA CCDC, VPP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Công cụ dụng cụ &amp; nguyên vật liệu hiện tại sẽ chỉ đặt đủ dùng, không tồn quá nhiều để lưu trữ tại BC vì diện tích các BC sẽ tách nhỏ thành nhiều BC và thuê mặt bằng vừa đủ vận hành.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khu vực thì chỉ cần chụp 1 tấm (Khoảng cách trung bình 2 mét), nếu hình chụp gần không đủ bao quát thì phải chụp nhiều hình đính kèm vào tiêu chí.</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vận hành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Sai:</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toàn cảnh khu vực.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không bao quát được toàn cảnh hoặc khu vực không gọn gàng, vệ sinh.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Lưu ý: không thoả các điều kiện trên, tiêu chí này KHÔNG ĐẠT.</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Ví dụ: CCDC vứt lung tung không dọn dẹp, tiêu chí này KHÔNG ĐẠT.</a:t>
            </a:r>
            <a:endParaRPr b="0" i="0" sz="800" u="none" cap="none" strike="noStrike">
              <a:solidFill>
                <a:srgbClr val="000000"/>
              </a:solidFill>
              <a:highlight>
                <a:srgbClr val="FFFFFF"/>
              </a:highlight>
              <a:latin typeface="Montserrat"/>
              <a:ea typeface="Montserrat"/>
              <a:cs typeface="Montserrat"/>
              <a:sym typeface="Montserrat"/>
            </a:endParaRPr>
          </a:p>
        </p:txBody>
      </p:sp>
      <p:pic>
        <p:nvPicPr>
          <p:cNvPr id="689" name="Google Shape;689;p94"/>
          <p:cNvPicPr preferRelativeResize="0"/>
          <p:nvPr/>
        </p:nvPicPr>
        <p:blipFill rotWithShape="1">
          <a:blip r:embed="rId3">
            <a:alphaModFix/>
          </a:blip>
          <a:srcRect b="0" l="0" r="0" t="0"/>
          <a:stretch/>
        </p:blipFill>
        <p:spPr>
          <a:xfrm>
            <a:off x="6319325" y="824525"/>
            <a:ext cx="2520326" cy="3701150"/>
          </a:xfrm>
          <a:prstGeom prst="rect">
            <a:avLst/>
          </a:prstGeom>
          <a:noFill/>
          <a:ln cap="flat" cmpd="sng" w="9525">
            <a:solidFill>
              <a:schemeClr val="dk2"/>
            </a:solidFill>
            <a:prstDash val="solid"/>
            <a:round/>
            <a:headEnd len="sm" w="sm" type="none"/>
            <a:tailEnd len="sm" w="sm" type="none"/>
          </a:ln>
        </p:spPr>
      </p:pic>
      <p:sp>
        <p:nvSpPr>
          <p:cNvPr id="690" name="Google Shape;690;p94"/>
          <p:cNvSpPr txBox="1"/>
          <p:nvPr/>
        </p:nvSpPr>
        <p:spPr>
          <a:xfrm>
            <a:off x="401750" y="4315425"/>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4"/>
              </a:rPr>
              <a:t>hình ảnh minh hoạ</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4" name="Shape 694"/>
        <p:cNvGrpSpPr/>
        <p:nvPr/>
      </p:nvGrpSpPr>
      <p:grpSpPr>
        <a:xfrm>
          <a:off x="0" y="0"/>
          <a:ext cx="0" cy="0"/>
          <a:chOff x="0" y="0"/>
          <a:chExt cx="0" cy="0"/>
        </a:xfrm>
      </p:grpSpPr>
      <p:sp>
        <p:nvSpPr>
          <p:cNvPr id="695" name="Google Shape;695;p95"/>
          <p:cNvSpPr txBox="1"/>
          <p:nvPr/>
        </p:nvSpPr>
        <p:spPr>
          <a:xfrm>
            <a:off x="361675" y="662575"/>
            <a:ext cx="4437300" cy="422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7. CÔNG CỤ DỤNG CỤ</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Bao gồm các loại CCDC cơ bản sau:</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Máy in.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Súng barcode.</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Rổ/ Sóng nhựa.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Cân điện tử/ cân cơ.</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Khung cố định bao tải.</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Pallet gỗ/ nhựa (Nếu có).</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Khung sắt đựng rổ nhựa hoặc xe đẩy (Nếu có).</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tất cả các loại CCDC trên.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Khu vực đặt CCDC thông thoáng, gọn gàng, sạch sẽ, tình trạng có hoặc không phải ghi chú đầy đủ thông tin và số lượng vào bài chấm.</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tất cả các loại CCDC.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tình trạng, thông tin và số lượng.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KV lưu trữ CCDC không sắp xếp gọn gàng, không sạch sẽ.</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3"/>
              </a:rPr>
              <a:t>hình ảnh minh hoạ</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696" name="Google Shape;696;p95"/>
          <p:cNvPicPr preferRelativeResize="0"/>
          <p:nvPr/>
        </p:nvPicPr>
        <p:blipFill rotWithShape="1">
          <a:blip r:embed="rId4">
            <a:alphaModFix/>
          </a:blip>
          <a:srcRect b="0" l="0" r="0" t="0"/>
          <a:stretch/>
        </p:blipFill>
        <p:spPr>
          <a:xfrm>
            <a:off x="4798875" y="841013"/>
            <a:ext cx="2074533" cy="1756775"/>
          </a:xfrm>
          <a:prstGeom prst="rect">
            <a:avLst/>
          </a:prstGeom>
          <a:noFill/>
          <a:ln cap="flat" cmpd="sng" w="9525">
            <a:solidFill>
              <a:schemeClr val="dk2"/>
            </a:solidFill>
            <a:prstDash val="solid"/>
            <a:round/>
            <a:headEnd len="sm" w="sm" type="none"/>
            <a:tailEnd len="sm" w="sm" type="none"/>
          </a:ln>
        </p:spPr>
      </p:pic>
      <p:pic>
        <p:nvPicPr>
          <p:cNvPr id="697" name="Google Shape;697;p95"/>
          <p:cNvPicPr preferRelativeResize="0"/>
          <p:nvPr/>
        </p:nvPicPr>
        <p:blipFill rotWithShape="1">
          <a:blip r:embed="rId5">
            <a:alphaModFix/>
          </a:blip>
          <a:srcRect b="0" l="0" r="0" t="14610"/>
          <a:stretch/>
        </p:blipFill>
        <p:spPr>
          <a:xfrm>
            <a:off x="6950625" y="818150"/>
            <a:ext cx="2074525" cy="1756749"/>
          </a:xfrm>
          <a:prstGeom prst="rect">
            <a:avLst/>
          </a:prstGeom>
          <a:noFill/>
          <a:ln cap="flat" cmpd="sng" w="9525">
            <a:solidFill>
              <a:schemeClr val="dk2"/>
            </a:solidFill>
            <a:prstDash val="solid"/>
            <a:round/>
            <a:headEnd len="sm" w="sm" type="none"/>
            <a:tailEnd len="sm" w="sm" type="none"/>
          </a:ln>
        </p:spPr>
      </p:pic>
      <p:pic>
        <p:nvPicPr>
          <p:cNvPr id="698" name="Google Shape;698;p95"/>
          <p:cNvPicPr preferRelativeResize="0"/>
          <p:nvPr/>
        </p:nvPicPr>
        <p:blipFill rotWithShape="1">
          <a:blip r:embed="rId6">
            <a:alphaModFix/>
          </a:blip>
          <a:srcRect b="0" l="0" r="0" t="0"/>
          <a:stretch/>
        </p:blipFill>
        <p:spPr>
          <a:xfrm>
            <a:off x="6950625" y="2697800"/>
            <a:ext cx="2074524" cy="1630774"/>
          </a:xfrm>
          <a:prstGeom prst="rect">
            <a:avLst/>
          </a:prstGeom>
          <a:noFill/>
          <a:ln cap="flat" cmpd="sng" w="9525">
            <a:solidFill>
              <a:schemeClr val="dk2"/>
            </a:solidFill>
            <a:prstDash val="solid"/>
            <a:round/>
            <a:headEnd len="sm" w="sm" type="none"/>
            <a:tailEnd len="sm" w="sm" type="none"/>
          </a:ln>
        </p:spPr>
      </p:pic>
      <p:pic>
        <p:nvPicPr>
          <p:cNvPr id="699" name="Google Shape;699;p95"/>
          <p:cNvPicPr preferRelativeResize="0"/>
          <p:nvPr/>
        </p:nvPicPr>
        <p:blipFill rotWithShape="1">
          <a:blip r:embed="rId7">
            <a:alphaModFix/>
          </a:blip>
          <a:srcRect b="0" l="0" r="0" t="0"/>
          <a:stretch/>
        </p:blipFill>
        <p:spPr>
          <a:xfrm>
            <a:off x="4798875" y="2697800"/>
            <a:ext cx="2102274" cy="1630774"/>
          </a:xfrm>
          <a:prstGeom prst="rect">
            <a:avLst/>
          </a:prstGeom>
          <a:noFill/>
          <a:ln cap="flat" cmpd="sng" w="9525">
            <a:solidFill>
              <a:schemeClr val="dk2"/>
            </a:solidFill>
            <a:prstDash val="solid"/>
            <a:round/>
            <a:headEnd len="sm" w="sm" type="none"/>
            <a:tailEnd len="sm" w="sm" type="none"/>
          </a:ln>
        </p:spPr>
      </p:pic>
      <p:sp>
        <p:nvSpPr>
          <p:cNvPr id="700" name="Google Shape;700;p95"/>
          <p:cNvSpPr/>
          <p:nvPr/>
        </p:nvSpPr>
        <p:spPr>
          <a:xfrm>
            <a:off x="6437325" y="2254350"/>
            <a:ext cx="398700" cy="3174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01" name="Google Shape;701;p95"/>
          <p:cNvSpPr/>
          <p:nvPr/>
        </p:nvSpPr>
        <p:spPr>
          <a:xfrm>
            <a:off x="8668050" y="2254350"/>
            <a:ext cx="398700" cy="3174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702" name="Google Shape;702;p95"/>
          <p:cNvSpPr/>
          <p:nvPr/>
        </p:nvSpPr>
        <p:spPr>
          <a:xfrm>
            <a:off x="6474700" y="3978775"/>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3</a:t>
            </a:r>
            <a:endParaRPr b="1" i="0" sz="1200" u="none" cap="none" strike="noStrike">
              <a:solidFill>
                <a:srgbClr val="FFFFFF"/>
              </a:solidFill>
              <a:latin typeface="Montserrat"/>
              <a:ea typeface="Montserrat"/>
              <a:cs typeface="Montserrat"/>
              <a:sym typeface="Montserrat"/>
            </a:endParaRPr>
          </a:p>
        </p:txBody>
      </p:sp>
      <p:sp>
        <p:nvSpPr>
          <p:cNvPr id="703" name="Google Shape;703;p95"/>
          <p:cNvSpPr/>
          <p:nvPr/>
        </p:nvSpPr>
        <p:spPr>
          <a:xfrm>
            <a:off x="8594950" y="3978775"/>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4</a:t>
            </a:r>
            <a:endParaRPr b="1" i="0" sz="1200" u="none" cap="none" strike="noStrike">
              <a:solidFill>
                <a:srgbClr val="FFFFFF"/>
              </a:solidFill>
              <a:latin typeface="Montserrat"/>
              <a:ea typeface="Montserrat"/>
              <a:cs typeface="Montserrat"/>
              <a:sym typeface="Montserrat"/>
            </a:endParaRPr>
          </a:p>
        </p:txBody>
      </p:sp>
      <p:sp>
        <p:nvSpPr>
          <p:cNvPr id="704" name="Google Shape;704;p95"/>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8" name="Shape 708"/>
        <p:cNvGrpSpPr/>
        <p:nvPr/>
      </p:nvGrpSpPr>
      <p:grpSpPr>
        <a:xfrm>
          <a:off x="0" y="0"/>
          <a:ext cx="0" cy="0"/>
          <a:chOff x="0" y="0"/>
          <a:chExt cx="0" cy="0"/>
        </a:xfrm>
      </p:grpSpPr>
      <p:sp>
        <p:nvSpPr>
          <p:cNvPr id="709" name="Google Shape;709;p96"/>
          <p:cNvSpPr txBox="1"/>
          <p:nvPr/>
        </p:nvSpPr>
        <p:spPr>
          <a:xfrm>
            <a:off x="361675" y="649625"/>
            <a:ext cx="5235600" cy="3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9. BẢNG PHÂN TUYẾN</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Loại bảng màu trắng thể hiện các chỉ số vận hành của NV.</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bảng được treo trên cao ngay ngắn, không hư hỏng. Khu vực phía dưới, xung quanh gọn gàng, sạch sẽ, thông thoáng.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Thể hiện các thông tin: tên NV, tuyến đường (phường/ xã), năng suất lượng đơn của NV đó được cập nhật chi tiết hàng ngày.</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-Trường hợp Bưu cục chưa được cấp bảng phân tuyến có thể in các thông số trên giấy A4 và dán trên bảng thông báo.</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Bảng phân tuyến chứa các nội dung cũ, lỗi thời hoặc không cập nhật thông tin.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Khu vực treo bảng không gọn gàng, sạch sẽ.</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3"/>
              </a:rPr>
              <a:t>hình ảnh minh hoạ</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710" name="Google Shape;710;p96"/>
          <p:cNvPicPr preferRelativeResize="0"/>
          <p:nvPr/>
        </p:nvPicPr>
        <p:blipFill rotWithShape="1">
          <a:blip r:embed="rId4">
            <a:alphaModFix/>
          </a:blip>
          <a:srcRect b="0" l="0" r="0" t="0"/>
          <a:stretch/>
        </p:blipFill>
        <p:spPr>
          <a:xfrm>
            <a:off x="5707950" y="843225"/>
            <a:ext cx="3095026" cy="2123776"/>
          </a:xfrm>
          <a:prstGeom prst="rect">
            <a:avLst/>
          </a:prstGeom>
          <a:noFill/>
          <a:ln cap="flat" cmpd="sng" w="9525">
            <a:solidFill>
              <a:schemeClr val="dk2"/>
            </a:solidFill>
            <a:prstDash val="solid"/>
            <a:round/>
            <a:headEnd len="sm" w="sm" type="none"/>
            <a:tailEnd len="sm" w="sm" type="none"/>
          </a:ln>
        </p:spPr>
      </p:pic>
      <p:pic>
        <p:nvPicPr>
          <p:cNvPr id="711" name="Google Shape;711;p96"/>
          <p:cNvPicPr preferRelativeResize="0"/>
          <p:nvPr/>
        </p:nvPicPr>
        <p:blipFill rotWithShape="1">
          <a:blip r:embed="rId5">
            <a:alphaModFix/>
          </a:blip>
          <a:srcRect b="0" l="0" r="0" t="0"/>
          <a:stretch/>
        </p:blipFill>
        <p:spPr>
          <a:xfrm>
            <a:off x="5707950" y="3032640"/>
            <a:ext cx="3095024" cy="1941060"/>
          </a:xfrm>
          <a:prstGeom prst="rect">
            <a:avLst/>
          </a:prstGeom>
          <a:noFill/>
          <a:ln cap="flat" cmpd="sng" w="9525">
            <a:solidFill>
              <a:schemeClr val="dk2"/>
            </a:solidFill>
            <a:prstDash val="solid"/>
            <a:round/>
            <a:headEnd len="sm" w="sm" type="none"/>
            <a:tailEnd len="sm" w="sm" type="none"/>
          </a:ln>
        </p:spPr>
      </p:pic>
      <p:sp>
        <p:nvSpPr>
          <p:cNvPr id="712" name="Google Shape;712;p96"/>
          <p:cNvSpPr/>
          <p:nvPr/>
        </p:nvSpPr>
        <p:spPr>
          <a:xfrm>
            <a:off x="5707962" y="2651107"/>
            <a:ext cx="352500" cy="3159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13" name="Google Shape;713;p96"/>
          <p:cNvSpPr/>
          <p:nvPr/>
        </p:nvSpPr>
        <p:spPr>
          <a:xfrm>
            <a:off x="5707955" y="4657791"/>
            <a:ext cx="352500" cy="3159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714" name="Google Shape;714;p96"/>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8" name="Shape 718"/>
        <p:cNvGrpSpPr/>
        <p:nvPr/>
      </p:nvGrpSpPr>
      <p:grpSpPr>
        <a:xfrm>
          <a:off x="0" y="0"/>
          <a:ext cx="0" cy="0"/>
          <a:chOff x="0" y="0"/>
          <a:chExt cx="0" cy="0"/>
        </a:xfrm>
      </p:grpSpPr>
      <p:sp>
        <p:nvSpPr>
          <p:cNvPr id="719" name="Google Shape;719;p97"/>
          <p:cNvSpPr txBox="1"/>
          <p:nvPr/>
        </p:nvSpPr>
        <p:spPr>
          <a:xfrm>
            <a:off x="344825" y="745075"/>
            <a:ext cx="5097000" cy="362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8. BẢNG THÔNG BÁO</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Loại bảng màu xanh dương tuyên truyền các thông tin tại BC.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thấy được toàn cảnh khu vực bảng được treo trên cao (cạnh trên cách chân tường 1m8), treo ngay ngắn, không hư hỏng.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treo bảng thông thoáng, sắp xếp gọn gàng, sạch sẽ không rác, không đồ ăn thức uống, không vật dụng cá nhân và vật dụng thừa.</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Thông tin trên bảng thông báo treo không ngay ngắn, dán băng keo đè lên thông tin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Thông tin chứa các nội quy/ quy định cũ, lỗi thời</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Khu vực treo bảng không ngăn nắp, có rác thải.</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720" name="Google Shape;720;p97"/>
          <p:cNvPicPr preferRelativeResize="0"/>
          <p:nvPr/>
        </p:nvPicPr>
        <p:blipFill rotWithShape="1">
          <a:blip r:embed="rId3">
            <a:alphaModFix/>
          </a:blip>
          <a:srcRect b="0" l="0" r="0" t="0"/>
          <a:stretch/>
        </p:blipFill>
        <p:spPr>
          <a:xfrm>
            <a:off x="5581175" y="745075"/>
            <a:ext cx="3058423" cy="2079758"/>
          </a:xfrm>
          <a:prstGeom prst="rect">
            <a:avLst/>
          </a:prstGeom>
          <a:noFill/>
          <a:ln cap="flat" cmpd="sng" w="9525">
            <a:solidFill>
              <a:schemeClr val="dk2"/>
            </a:solidFill>
            <a:prstDash val="solid"/>
            <a:round/>
            <a:headEnd len="sm" w="sm" type="none"/>
            <a:tailEnd len="sm" w="sm" type="none"/>
          </a:ln>
        </p:spPr>
      </p:pic>
      <p:pic>
        <p:nvPicPr>
          <p:cNvPr id="721" name="Google Shape;721;p97"/>
          <p:cNvPicPr preferRelativeResize="0"/>
          <p:nvPr/>
        </p:nvPicPr>
        <p:blipFill rotWithShape="1">
          <a:blip r:embed="rId4">
            <a:alphaModFix/>
          </a:blip>
          <a:srcRect b="0" l="0" r="0" t="0"/>
          <a:stretch/>
        </p:blipFill>
        <p:spPr>
          <a:xfrm>
            <a:off x="5581175" y="2925560"/>
            <a:ext cx="3058426" cy="1963091"/>
          </a:xfrm>
          <a:prstGeom prst="rect">
            <a:avLst/>
          </a:prstGeom>
          <a:noFill/>
          <a:ln cap="flat" cmpd="sng" w="9525">
            <a:solidFill>
              <a:schemeClr val="dk2"/>
            </a:solidFill>
            <a:prstDash val="solid"/>
            <a:round/>
            <a:headEnd len="sm" w="sm" type="none"/>
            <a:tailEnd len="sm" w="sm" type="none"/>
          </a:ln>
        </p:spPr>
      </p:pic>
      <p:sp>
        <p:nvSpPr>
          <p:cNvPr id="722" name="Google Shape;722;p97"/>
          <p:cNvSpPr/>
          <p:nvPr/>
        </p:nvSpPr>
        <p:spPr>
          <a:xfrm>
            <a:off x="5581175" y="2525850"/>
            <a:ext cx="346200" cy="2904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23" name="Google Shape;723;p97"/>
          <p:cNvSpPr/>
          <p:nvPr/>
        </p:nvSpPr>
        <p:spPr>
          <a:xfrm>
            <a:off x="5581175" y="4568560"/>
            <a:ext cx="346200" cy="3201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724" name="Google Shape;724;p97"/>
          <p:cNvSpPr txBox="1"/>
          <p:nvPr/>
        </p:nvSpPr>
        <p:spPr>
          <a:xfrm>
            <a:off x="344825" y="3686900"/>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5"/>
              </a:rPr>
              <a:t>hình ảnh minh hoạ</a:t>
            </a:r>
            <a:endParaRPr b="0" i="0" sz="1400" u="none" cap="none" strike="noStrike">
              <a:solidFill>
                <a:srgbClr val="000000"/>
              </a:solidFill>
              <a:latin typeface="Arial"/>
              <a:ea typeface="Arial"/>
              <a:cs typeface="Arial"/>
              <a:sym typeface="Arial"/>
            </a:endParaRPr>
          </a:p>
        </p:txBody>
      </p:sp>
      <p:sp>
        <p:nvSpPr>
          <p:cNvPr id="725" name="Google Shape;725;p97"/>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9" name="Shape 729"/>
        <p:cNvGrpSpPr/>
        <p:nvPr/>
      </p:nvGrpSpPr>
      <p:grpSpPr>
        <a:xfrm>
          <a:off x="0" y="0"/>
          <a:ext cx="0" cy="0"/>
          <a:chOff x="0" y="0"/>
          <a:chExt cx="0" cy="0"/>
        </a:xfrm>
      </p:grpSpPr>
      <p:sp>
        <p:nvSpPr>
          <p:cNvPr id="730" name="Google Shape;730;p98"/>
          <p:cNvSpPr txBox="1"/>
          <p:nvPr/>
        </p:nvSpPr>
        <p:spPr>
          <a:xfrm>
            <a:off x="370950" y="634100"/>
            <a:ext cx="4986600" cy="394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11. VỆ SINH TRẦN NHÀ</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trần nhà được vệ sinh sạch sẽ, thông thoáng.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Chụp 2 hình ảnh xoay ngang điện thoại để thấy 4 góc tường nhà:</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Từ cửa BC chụp 1 hình hướng lên trần nhà góc 45 độ.</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Từ cuối BC chụp 1 hình hướng lên trần nhà góc 45 độ.</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Trần nhà sạch sẽ.</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Trần nhà còn bụi bẩn, có nhiều váng nhện.</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ảnh chụp không thấy được 4 góc tường nhà.</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br>
              <a:rPr b="1" i="0" lang="en-GB" sz="1100" u="none" cap="none" strike="noStrike">
                <a:solidFill>
                  <a:srgbClr val="FF0000"/>
                </a:solidFill>
                <a:highlight>
                  <a:srgbClr val="FFFF00"/>
                </a:highlight>
                <a:latin typeface="Montserrat"/>
                <a:ea typeface="Montserrat"/>
                <a:cs typeface="Montserrat"/>
                <a:sym typeface="Montserrat"/>
              </a:rPr>
            </a:b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3"/>
              </a:rPr>
              <a:t>hình ảnh minh hoạ</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731" name="Google Shape;731;p98"/>
          <p:cNvPicPr preferRelativeResize="0"/>
          <p:nvPr/>
        </p:nvPicPr>
        <p:blipFill rotWithShape="1">
          <a:blip r:embed="rId4">
            <a:alphaModFix/>
          </a:blip>
          <a:srcRect b="0" l="0" r="0" t="0"/>
          <a:stretch/>
        </p:blipFill>
        <p:spPr>
          <a:xfrm>
            <a:off x="7234550" y="634099"/>
            <a:ext cx="1712000" cy="1831549"/>
          </a:xfrm>
          <a:prstGeom prst="rect">
            <a:avLst/>
          </a:prstGeom>
          <a:noFill/>
          <a:ln cap="flat" cmpd="sng" w="9525">
            <a:solidFill>
              <a:schemeClr val="dk2"/>
            </a:solidFill>
            <a:prstDash val="solid"/>
            <a:round/>
            <a:headEnd len="sm" w="sm" type="none"/>
            <a:tailEnd len="sm" w="sm" type="none"/>
          </a:ln>
        </p:spPr>
      </p:pic>
      <p:pic>
        <p:nvPicPr>
          <p:cNvPr id="732" name="Google Shape;732;p98"/>
          <p:cNvPicPr preferRelativeResize="0"/>
          <p:nvPr/>
        </p:nvPicPr>
        <p:blipFill rotWithShape="1">
          <a:blip r:embed="rId5">
            <a:alphaModFix/>
          </a:blip>
          <a:srcRect b="0" l="0" r="0" t="0"/>
          <a:stretch/>
        </p:blipFill>
        <p:spPr>
          <a:xfrm>
            <a:off x="5441800" y="634099"/>
            <a:ext cx="1743150" cy="1831549"/>
          </a:xfrm>
          <a:prstGeom prst="rect">
            <a:avLst/>
          </a:prstGeom>
          <a:noFill/>
          <a:ln cap="flat" cmpd="sng" w="9525">
            <a:solidFill>
              <a:schemeClr val="dk2"/>
            </a:solidFill>
            <a:prstDash val="solid"/>
            <a:round/>
            <a:headEnd len="sm" w="sm" type="none"/>
            <a:tailEnd len="sm" w="sm" type="none"/>
          </a:ln>
        </p:spPr>
      </p:pic>
      <p:pic>
        <p:nvPicPr>
          <p:cNvPr id="733" name="Google Shape;733;p98"/>
          <p:cNvPicPr preferRelativeResize="0"/>
          <p:nvPr/>
        </p:nvPicPr>
        <p:blipFill rotWithShape="1">
          <a:blip r:embed="rId6">
            <a:alphaModFix/>
          </a:blip>
          <a:srcRect b="0" l="0" r="0" t="0"/>
          <a:stretch/>
        </p:blipFill>
        <p:spPr>
          <a:xfrm>
            <a:off x="5441788" y="2516823"/>
            <a:ext cx="1743150" cy="2140039"/>
          </a:xfrm>
          <a:prstGeom prst="rect">
            <a:avLst/>
          </a:prstGeom>
          <a:noFill/>
          <a:ln cap="flat" cmpd="sng" w="9525">
            <a:solidFill>
              <a:schemeClr val="dk2"/>
            </a:solidFill>
            <a:prstDash val="solid"/>
            <a:round/>
            <a:headEnd len="sm" w="sm" type="none"/>
            <a:tailEnd len="sm" w="sm" type="none"/>
          </a:ln>
        </p:spPr>
      </p:pic>
      <p:pic>
        <p:nvPicPr>
          <p:cNvPr id="734" name="Google Shape;734;p98"/>
          <p:cNvPicPr preferRelativeResize="0"/>
          <p:nvPr/>
        </p:nvPicPr>
        <p:blipFill rotWithShape="1">
          <a:blip r:embed="rId7">
            <a:alphaModFix/>
          </a:blip>
          <a:srcRect b="0" l="0" r="0" t="0"/>
          <a:stretch/>
        </p:blipFill>
        <p:spPr>
          <a:xfrm>
            <a:off x="7234555" y="2516961"/>
            <a:ext cx="1712008" cy="2140040"/>
          </a:xfrm>
          <a:prstGeom prst="rect">
            <a:avLst/>
          </a:prstGeom>
          <a:noFill/>
          <a:ln cap="flat" cmpd="sng" w="9525">
            <a:solidFill>
              <a:schemeClr val="dk2"/>
            </a:solidFill>
            <a:prstDash val="solid"/>
            <a:round/>
            <a:headEnd len="sm" w="sm" type="none"/>
            <a:tailEnd len="sm" w="sm" type="none"/>
          </a:ln>
        </p:spPr>
      </p:pic>
      <p:sp>
        <p:nvSpPr>
          <p:cNvPr id="735" name="Google Shape;735;p98"/>
          <p:cNvSpPr/>
          <p:nvPr/>
        </p:nvSpPr>
        <p:spPr>
          <a:xfrm>
            <a:off x="5441800" y="2115850"/>
            <a:ext cx="398700" cy="3498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36" name="Google Shape;736;p98"/>
          <p:cNvSpPr/>
          <p:nvPr/>
        </p:nvSpPr>
        <p:spPr>
          <a:xfrm>
            <a:off x="7234555" y="2143634"/>
            <a:ext cx="374700" cy="3222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737" name="Google Shape;737;p98"/>
          <p:cNvSpPr/>
          <p:nvPr/>
        </p:nvSpPr>
        <p:spPr>
          <a:xfrm>
            <a:off x="5441800" y="4307200"/>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3</a:t>
            </a:r>
            <a:endParaRPr b="1" i="0" sz="1200" u="none" cap="none" strike="noStrike">
              <a:solidFill>
                <a:srgbClr val="FFFFFF"/>
              </a:solidFill>
              <a:latin typeface="Montserrat"/>
              <a:ea typeface="Montserrat"/>
              <a:cs typeface="Montserrat"/>
              <a:sym typeface="Montserrat"/>
            </a:endParaRPr>
          </a:p>
        </p:txBody>
      </p:sp>
      <p:sp>
        <p:nvSpPr>
          <p:cNvPr id="738" name="Google Shape;738;p98"/>
          <p:cNvSpPr/>
          <p:nvPr/>
        </p:nvSpPr>
        <p:spPr>
          <a:xfrm>
            <a:off x="7222550" y="4307200"/>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4</a:t>
            </a:r>
            <a:endParaRPr b="1" i="0" sz="1200" u="none" cap="none" strike="noStrike">
              <a:solidFill>
                <a:srgbClr val="FFFFFF"/>
              </a:solidFill>
              <a:latin typeface="Montserrat"/>
              <a:ea typeface="Montserrat"/>
              <a:cs typeface="Montserrat"/>
              <a:sym typeface="Montserrat"/>
            </a:endParaRPr>
          </a:p>
        </p:txBody>
      </p:sp>
      <p:sp>
        <p:nvSpPr>
          <p:cNvPr id="739" name="Google Shape;739;p98"/>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3" name="Shape 743"/>
        <p:cNvGrpSpPr/>
        <p:nvPr/>
      </p:nvGrpSpPr>
      <p:grpSpPr>
        <a:xfrm>
          <a:off x="0" y="0"/>
          <a:ext cx="0" cy="0"/>
          <a:chOff x="0" y="0"/>
          <a:chExt cx="0" cy="0"/>
        </a:xfrm>
      </p:grpSpPr>
      <p:sp>
        <p:nvSpPr>
          <p:cNvPr id="744" name="Google Shape;744;p99"/>
          <p:cNvSpPr txBox="1"/>
          <p:nvPr/>
        </p:nvSpPr>
        <p:spPr>
          <a:xfrm>
            <a:off x="361675" y="636650"/>
            <a:ext cx="5339400" cy="400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10. TỦ HỆ THỐNG CAMERA, CÁP NET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hệ thống luôn hoạt động 24/24.</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Đảm bảo 1 hoặc nhiều hình chụp phải thấy được toàn bộ KV tủ Camera khóa kín và không có ghim chìa khóa, thông thoáng.</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BC chưa có tủ camera nhưng không không có mail thông báo AM/ GĐV.</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Tủ Camera ghim chìa khóa hoặc không đóng cửa.</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br>
              <a:rPr b="1" i="0" lang="en-GB" sz="1100" u="none" cap="none" strike="noStrike">
                <a:solidFill>
                  <a:srgbClr val="FF0000"/>
                </a:solidFill>
                <a:highlight>
                  <a:srgbClr val="FFFF00"/>
                </a:highlight>
                <a:latin typeface="Montserrat"/>
                <a:ea typeface="Montserrat"/>
                <a:cs typeface="Montserrat"/>
                <a:sym typeface="Montserrat"/>
              </a:rPr>
            </a:b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3"/>
              </a:rPr>
              <a:t>hình ảnh minh hoạ</a:t>
            </a:r>
            <a:endParaRPr b="1" i="0" sz="10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745" name="Google Shape;745;p99"/>
          <p:cNvPicPr preferRelativeResize="0"/>
          <p:nvPr/>
        </p:nvPicPr>
        <p:blipFill rotWithShape="1">
          <a:blip r:embed="rId4">
            <a:alphaModFix/>
          </a:blip>
          <a:srcRect b="10767" l="6164" r="0" t="10924"/>
          <a:stretch/>
        </p:blipFill>
        <p:spPr>
          <a:xfrm>
            <a:off x="5830825" y="937450"/>
            <a:ext cx="2665075" cy="1808500"/>
          </a:xfrm>
          <a:prstGeom prst="rect">
            <a:avLst/>
          </a:prstGeom>
          <a:noFill/>
          <a:ln cap="flat" cmpd="sng" w="9525">
            <a:solidFill>
              <a:schemeClr val="dk2"/>
            </a:solidFill>
            <a:prstDash val="solid"/>
            <a:round/>
            <a:headEnd len="sm" w="sm" type="none"/>
            <a:tailEnd len="sm" w="sm" type="none"/>
          </a:ln>
        </p:spPr>
      </p:pic>
      <p:pic>
        <p:nvPicPr>
          <p:cNvPr id="746" name="Google Shape;746;p99"/>
          <p:cNvPicPr preferRelativeResize="0"/>
          <p:nvPr/>
        </p:nvPicPr>
        <p:blipFill rotWithShape="1">
          <a:blip r:embed="rId5">
            <a:alphaModFix/>
          </a:blip>
          <a:srcRect b="12556" l="0" r="0" t="0"/>
          <a:stretch/>
        </p:blipFill>
        <p:spPr>
          <a:xfrm>
            <a:off x="5830825" y="2874125"/>
            <a:ext cx="2665076" cy="1808500"/>
          </a:xfrm>
          <a:prstGeom prst="rect">
            <a:avLst/>
          </a:prstGeom>
          <a:noFill/>
          <a:ln cap="flat" cmpd="sng" w="9525">
            <a:solidFill>
              <a:schemeClr val="dk2"/>
            </a:solidFill>
            <a:prstDash val="solid"/>
            <a:round/>
            <a:headEnd len="sm" w="sm" type="none"/>
            <a:tailEnd len="sm" w="sm" type="none"/>
          </a:ln>
        </p:spPr>
      </p:pic>
      <p:sp>
        <p:nvSpPr>
          <p:cNvPr id="747" name="Google Shape;747;p99"/>
          <p:cNvSpPr/>
          <p:nvPr/>
        </p:nvSpPr>
        <p:spPr>
          <a:xfrm>
            <a:off x="5835630" y="2426740"/>
            <a:ext cx="389100" cy="3192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48" name="Google Shape;748;p99"/>
          <p:cNvSpPr/>
          <p:nvPr/>
        </p:nvSpPr>
        <p:spPr>
          <a:xfrm>
            <a:off x="5830825" y="4332825"/>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749" name="Google Shape;749;p99"/>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3" name="Shape 753"/>
        <p:cNvGrpSpPr/>
        <p:nvPr/>
      </p:nvGrpSpPr>
      <p:grpSpPr>
        <a:xfrm>
          <a:off x="0" y="0"/>
          <a:ext cx="0" cy="0"/>
          <a:chOff x="0" y="0"/>
          <a:chExt cx="0" cy="0"/>
        </a:xfrm>
      </p:grpSpPr>
      <p:sp>
        <p:nvSpPr>
          <p:cNvPr id="754" name="Google Shape;754;p100"/>
          <p:cNvSpPr txBox="1"/>
          <p:nvPr/>
        </p:nvSpPr>
        <p:spPr>
          <a:xfrm>
            <a:off x="348725" y="623700"/>
            <a:ext cx="4375500" cy="393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GB" sz="1200" u="none" cap="none" strike="noStrike">
                <a:solidFill>
                  <a:srgbClr val="2980B9"/>
                </a:solidFill>
                <a:latin typeface="Montserrat"/>
                <a:ea typeface="Montserrat"/>
                <a:cs typeface="Montserrat"/>
                <a:sym typeface="Montserrat"/>
              </a:rPr>
              <a:t>12. KHU VỰC BÌNH CHỮA CHÁY</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100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-Thiết bị PCCC và Bộ Tiêu lệnh, Nội quy PCCC.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Chụp 1 hoặc nhiều ảnh thấy Khu vực bao gồm thiết bị PCCC và Bộ Tiêu lệnh, Nội quy PCCC.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thiết bị PCCC được đặt ở vị trí thông thoáng, không bị khuất tầm nhìn, cản trở, khu vực xung quanh gọn gàng, sạch sẽ.</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Hình chụp không thấy được bao quát khu vực PCCC.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Khi vực PCCC có rác thải, đồ ăn thức uống và bị vật dụng khác che lấp, cản trở.</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br>
              <a:rPr b="1" i="0" lang="en-GB" sz="1000" u="none" cap="none" strike="noStrike">
                <a:solidFill>
                  <a:srgbClr val="FF0000"/>
                </a:solidFill>
                <a:highlight>
                  <a:srgbClr val="FFFF00"/>
                </a:highlight>
                <a:latin typeface="Montserrat"/>
                <a:ea typeface="Montserrat"/>
                <a:cs typeface="Montserrat"/>
                <a:sym typeface="Montserrat"/>
              </a:rPr>
            </a:br>
            <a:r>
              <a:rPr b="1" i="0" lang="en-GB" sz="1000" u="none" cap="none" strike="noStrike">
                <a:solidFill>
                  <a:srgbClr val="FF0000"/>
                </a:solidFill>
                <a:highlight>
                  <a:srgbClr val="FFFF00"/>
                </a:highlight>
                <a:latin typeface="Montserrat"/>
                <a:ea typeface="Montserrat"/>
                <a:cs typeface="Montserrat"/>
                <a:sym typeface="Montserrat"/>
              </a:rPr>
              <a:t>Link </a:t>
            </a:r>
            <a:r>
              <a:rPr b="1" i="0" lang="en-GB" sz="1000" u="sng" cap="none" strike="noStrike">
                <a:solidFill>
                  <a:schemeClr val="hlink"/>
                </a:solidFill>
                <a:highlight>
                  <a:srgbClr val="FFFF00"/>
                </a:highlight>
                <a:latin typeface="Montserrat"/>
                <a:ea typeface="Montserrat"/>
                <a:cs typeface="Montserrat"/>
                <a:sym typeface="Montserrat"/>
                <a:hlinkClick r:id="rId3"/>
              </a:rPr>
              <a:t>hình ảnh minh hoạ</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pic>
        <p:nvPicPr>
          <p:cNvPr id="755" name="Google Shape;755;p100"/>
          <p:cNvPicPr preferRelativeResize="0"/>
          <p:nvPr/>
        </p:nvPicPr>
        <p:blipFill rotWithShape="1">
          <a:blip r:embed="rId4">
            <a:alphaModFix/>
          </a:blip>
          <a:srcRect b="0" l="0" r="0" t="0"/>
          <a:stretch/>
        </p:blipFill>
        <p:spPr>
          <a:xfrm>
            <a:off x="7022250" y="802525"/>
            <a:ext cx="1950050" cy="2973000"/>
          </a:xfrm>
          <a:prstGeom prst="rect">
            <a:avLst/>
          </a:prstGeom>
          <a:noFill/>
          <a:ln cap="flat" cmpd="sng" w="9525">
            <a:solidFill>
              <a:schemeClr val="dk2"/>
            </a:solidFill>
            <a:prstDash val="solid"/>
            <a:round/>
            <a:headEnd len="sm" w="sm" type="none"/>
            <a:tailEnd len="sm" w="sm" type="none"/>
          </a:ln>
        </p:spPr>
      </p:pic>
      <p:pic>
        <p:nvPicPr>
          <p:cNvPr id="756" name="Google Shape;756;p100"/>
          <p:cNvPicPr preferRelativeResize="0"/>
          <p:nvPr/>
        </p:nvPicPr>
        <p:blipFill rotWithShape="1">
          <a:blip r:embed="rId5">
            <a:alphaModFix/>
          </a:blip>
          <a:srcRect b="0" l="0" r="0" t="0"/>
          <a:stretch/>
        </p:blipFill>
        <p:spPr>
          <a:xfrm>
            <a:off x="4800525" y="814975"/>
            <a:ext cx="2091150" cy="2973001"/>
          </a:xfrm>
          <a:prstGeom prst="rect">
            <a:avLst/>
          </a:prstGeom>
          <a:noFill/>
          <a:ln cap="flat" cmpd="sng" w="9525">
            <a:solidFill>
              <a:schemeClr val="dk2"/>
            </a:solidFill>
            <a:prstDash val="solid"/>
            <a:round/>
            <a:headEnd len="sm" w="sm" type="none"/>
            <a:tailEnd len="sm" w="sm" type="none"/>
          </a:ln>
        </p:spPr>
      </p:pic>
      <p:sp>
        <p:nvSpPr>
          <p:cNvPr id="757" name="Google Shape;757;p100"/>
          <p:cNvSpPr/>
          <p:nvPr/>
        </p:nvSpPr>
        <p:spPr>
          <a:xfrm>
            <a:off x="4800525" y="3450200"/>
            <a:ext cx="398700" cy="3498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58" name="Google Shape;758;p100"/>
          <p:cNvSpPr/>
          <p:nvPr/>
        </p:nvSpPr>
        <p:spPr>
          <a:xfrm>
            <a:off x="7022250" y="3450200"/>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sp>
        <p:nvSpPr>
          <p:cNvPr id="759" name="Google Shape;759;p100"/>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3" name="Shape 763"/>
        <p:cNvGrpSpPr/>
        <p:nvPr/>
      </p:nvGrpSpPr>
      <p:grpSpPr>
        <a:xfrm>
          <a:off x="0" y="0"/>
          <a:ext cx="0" cy="0"/>
          <a:chOff x="0" y="0"/>
          <a:chExt cx="0" cy="0"/>
        </a:xfrm>
      </p:grpSpPr>
      <p:pic>
        <p:nvPicPr>
          <p:cNvPr id="764" name="Google Shape;764;p101"/>
          <p:cNvPicPr preferRelativeResize="0"/>
          <p:nvPr/>
        </p:nvPicPr>
        <p:blipFill rotWithShape="1">
          <a:blip r:embed="rId3">
            <a:alphaModFix/>
          </a:blip>
          <a:srcRect b="0" l="0" r="0" t="0"/>
          <a:stretch/>
        </p:blipFill>
        <p:spPr>
          <a:xfrm>
            <a:off x="6832675" y="865100"/>
            <a:ext cx="1975999" cy="3305526"/>
          </a:xfrm>
          <a:prstGeom prst="rect">
            <a:avLst/>
          </a:prstGeom>
          <a:noFill/>
          <a:ln cap="flat" cmpd="sng" w="9525">
            <a:solidFill>
              <a:schemeClr val="dk2"/>
            </a:solidFill>
            <a:prstDash val="solid"/>
            <a:round/>
            <a:headEnd len="sm" w="sm" type="none"/>
            <a:tailEnd len="sm" w="sm" type="none"/>
          </a:ln>
        </p:spPr>
      </p:pic>
      <p:sp>
        <p:nvSpPr>
          <p:cNvPr id="765" name="Google Shape;765;p101"/>
          <p:cNvSpPr txBox="1"/>
          <p:nvPr/>
        </p:nvSpPr>
        <p:spPr>
          <a:xfrm>
            <a:off x="361675" y="630175"/>
            <a:ext cx="4401600" cy="408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2980B9"/>
                </a:solidFill>
                <a:latin typeface="Montserrat"/>
                <a:ea typeface="Montserrat"/>
                <a:cs typeface="Montserrat"/>
                <a:sym typeface="Montserrat"/>
              </a:rPr>
              <a:t>13. TÁC PHONG CẤP QUẢN LÝ</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Cách chụp: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Đúng: </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Chụp 1 hoặc nhiều ảnh thấy rõ mặt và toàn thân CẤP QUẢN LÝ đang hiện diện tại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Tuân thủ quy định đồng phục theo quy định.</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Montserrat"/>
                <a:ea typeface="Montserrat"/>
                <a:cs typeface="Montserrat"/>
                <a:sym typeface="Montserrat"/>
              </a:rPr>
              <a:t>+ Không đạt:</a:t>
            </a:r>
            <a:endParaRPr b="1"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Không là hình ảnh của CẤP QUẢN LÝ có mặt tại Bưu cục.</a:t>
            </a:r>
            <a:endParaRPr b="0" i="0" sz="11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Montserrat"/>
                <a:ea typeface="Montserrat"/>
                <a:cs typeface="Montserrat"/>
                <a:sym typeface="Montserrat"/>
              </a:rPr>
              <a:t>- CẤP QUẢN LÝ không mang đồng phục, giày theo quy định.</a:t>
            </a:r>
            <a:endParaRPr b="0" i="0" sz="11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br>
              <a:rPr b="1" i="0" lang="en-GB" sz="1000" u="none" cap="none" strike="noStrike">
                <a:solidFill>
                  <a:srgbClr val="FF0000"/>
                </a:solidFill>
                <a:highlight>
                  <a:srgbClr val="FFFF00"/>
                </a:highlight>
                <a:latin typeface="Montserrat"/>
                <a:ea typeface="Montserrat"/>
                <a:cs typeface="Montserrat"/>
                <a:sym typeface="Montserrat"/>
              </a:rPr>
            </a:b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E74C3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0097A7"/>
              </a:solidFill>
              <a:highlight>
                <a:srgbClr val="FFFF00"/>
              </a:highlight>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highlight>
                <a:srgbClr val="FFFFFF"/>
              </a:highlight>
              <a:latin typeface="Montserrat"/>
              <a:ea typeface="Montserrat"/>
              <a:cs typeface="Montserrat"/>
              <a:sym typeface="Montserrat"/>
            </a:endParaRPr>
          </a:p>
        </p:txBody>
      </p:sp>
      <p:sp>
        <p:nvSpPr>
          <p:cNvPr id="766" name="Google Shape;766;p101"/>
          <p:cNvSpPr/>
          <p:nvPr/>
        </p:nvSpPr>
        <p:spPr>
          <a:xfrm>
            <a:off x="6832675" y="914675"/>
            <a:ext cx="398700" cy="349800"/>
          </a:xfrm>
          <a:prstGeom prst="hexagon">
            <a:avLst>
              <a:gd fmla="val 25000" name="adj"/>
              <a:gd fmla="val 115470" name="vf"/>
            </a:avLst>
          </a:prstGeom>
          <a:solidFill>
            <a:srgbClr val="F15E2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2</a:t>
            </a:r>
            <a:endParaRPr b="1" i="0" sz="1200" u="none" cap="none" strike="noStrike">
              <a:solidFill>
                <a:srgbClr val="FFFFFF"/>
              </a:solidFill>
              <a:latin typeface="Montserrat"/>
              <a:ea typeface="Montserrat"/>
              <a:cs typeface="Montserrat"/>
              <a:sym typeface="Montserrat"/>
            </a:endParaRPr>
          </a:p>
        </p:txBody>
      </p:sp>
      <p:pic>
        <p:nvPicPr>
          <p:cNvPr id="767" name="Google Shape;767;p101"/>
          <p:cNvPicPr preferRelativeResize="0"/>
          <p:nvPr/>
        </p:nvPicPr>
        <p:blipFill rotWithShape="1">
          <a:blip r:embed="rId4">
            <a:alphaModFix/>
          </a:blip>
          <a:srcRect b="0" l="0" r="0" t="0"/>
          <a:stretch/>
        </p:blipFill>
        <p:spPr>
          <a:xfrm>
            <a:off x="4763272" y="845539"/>
            <a:ext cx="2019130" cy="3344661"/>
          </a:xfrm>
          <a:prstGeom prst="rect">
            <a:avLst/>
          </a:prstGeom>
          <a:noFill/>
          <a:ln cap="flat" cmpd="sng" w="9525">
            <a:solidFill>
              <a:srgbClr val="595959"/>
            </a:solidFill>
            <a:prstDash val="solid"/>
            <a:round/>
            <a:headEnd len="sm" w="sm" type="none"/>
            <a:tailEnd len="sm" w="sm" type="none"/>
          </a:ln>
        </p:spPr>
      </p:pic>
      <p:sp>
        <p:nvSpPr>
          <p:cNvPr id="768" name="Google Shape;768;p101"/>
          <p:cNvSpPr/>
          <p:nvPr/>
        </p:nvSpPr>
        <p:spPr>
          <a:xfrm>
            <a:off x="4763275" y="914675"/>
            <a:ext cx="398700" cy="349800"/>
          </a:xfrm>
          <a:prstGeom prst="hexagon">
            <a:avLst>
              <a:gd fmla="val 25000" name="adj"/>
              <a:gd fmla="val 115470" name="vf"/>
            </a:avLst>
          </a:prstGeom>
          <a:solidFill>
            <a:srgbClr val="00467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GB" sz="1200" u="none" cap="none" strike="noStrike">
                <a:solidFill>
                  <a:srgbClr val="FFFFFF"/>
                </a:solidFill>
                <a:latin typeface="Montserrat"/>
                <a:ea typeface="Montserrat"/>
                <a:cs typeface="Montserrat"/>
                <a:sym typeface="Montserrat"/>
              </a:rPr>
              <a:t>1</a:t>
            </a:r>
            <a:endParaRPr b="1" i="0" sz="1200" u="none" cap="none" strike="noStrike">
              <a:solidFill>
                <a:srgbClr val="FFFFFF"/>
              </a:solidFill>
              <a:latin typeface="Montserrat"/>
              <a:ea typeface="Montserrat"/>
              <a:cs typeface="Montserrat"/>
              <a:sym typeface="Montserrat"/>
            </a:endParaRPr>
          </a:p>
        </p:txBody>
      </p:sp>
      <p:sp>
        <p:nvSpPr>
          <p:cNvPr id="769" name="Google Shape;769;p101"/>
          <p:cNvSpPr txBox="1"/>
          <p:nvPr/>
        </p:nvSpPr>
        <p:spPr>
          <a:xfrm>
            <a:off x="454575" y="2615725"/>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0000"/>
                </a:solidFill>
                <a:highlight>
                  <a:srgbClr val="FFFF00"/>
                </a:highlight>
                <a:latin typeface="Montserrat"/>
                <a:ea typeface="Montserrat"/>
                <a:cs typeface="Montserrat"/>
                <a:sym typeface="Montserrat"/>
              </a:rPr>
              <a:t>Link </a:t>
            </a:r>
            <a:r>
              <a:rPr b="1" i="0" lang="en-GB" sz="1200" u="sng" cap="none" strike="noStrike">
                <a:solidFill>
                  <a:schemeClr val="hlink"/>
                </a:solidFill>
                <a:highlight>
                  <a:srgbClr val="FFFF00"/>
                </a:highlight>
                <a:latin typeface="Montserrat"/>
                <a:ea typeface="Montserrat"/>
                <a:cs typeface="Montserrat"/>
                <a:sym typeface="Montserrat"/>
                <a:hlinkClick r:id="rId5"/>
              </a:rPr>
              <a:t>hình ảnh minh hoạ</a:t>
            </a:r>
            <a:endParaRPr b="0" i="0" sz="1400" u="none" cap="none" strike="noStrike">
              <a:solidFill>
                <a:srgbClr val="000000"/>
              </a:solidFill>
              <a:latin typeface="Arial"/>
              <a:ea typeface="Arial"/>
              <a:cs typeface="Arial"/>
              <a:sym typeface="Arial"/>
            </a:endParaRPr>
          </a:p>
        </p:txBody>
      </p:sp>
      <p:sp>
        <p:nvSpPr>
          <p:cNvPr id="770" name="Google Shape;770;p101"/>
          <p:cNvSpPr txBox="1"/>
          <p:nvPr/>
        </p:nvSpPr>
        <p:spPr>
          <a:xfrm>
            <a:off x="197525" y="108825"/>
            <a:ext cx="63963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2050" u="none" cap="none" strike="noStrike">
                <a:solidFill>
                  <a:srgbClr val="00467F"/>
                </a:solidFill>
                <a:latin typeface="Montserrat"/>
                <a:ea typeface="Montserrat"/>
                <a:cs typeface="Montserrat"/>
                <a:sym typeface="Montserrat"/>
              </a:rPr>
              <a:t>A. BÀI CHẤM CẤP QUẢN LÝ VÀ HÀNG NGÀY</a:t>
            </a:r>
            <a:endParaRPr b="1" i="0" sz="2050" u="none" cap="none" strike="noStrike">
              <a:solidFill>
                <a:srgbClr val="00467F"/>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4" name="Shape 774"/>
        <p:cNvGrpSpPr/>
        <p:nvPr/>
      </p:nvGrpSpPr>
      <p:grpSpPr>
        <a:xfrm>
          <a:off x="0" y="0"/>
          <a:ext cx="0" cy="0"/>
          <a:chOff x="0" y="0"/>
          <a:chExt cx="0" cy="0"/>
        </a:xfrm>
      </p:grpSpPr>
      <p:pic>
        <p:nvPicPr>
          <p:cNvPr id="775" name="Google Shape;775;p102"/>
          <p:cNvPicPr preferRelativeResize="0"/>
          <p:nvPr/>
        </p:nvPicPr>
        <p:blipFill rotWithShape="1">
          <a:blip r:embed="rId3">
            <a:alphaModFix/>
          </a:blip>
          <a:srcRect b="0" l="0" r="0" t="0"/>
          <a:stretch/>
        </p:blipFill>
        <p:spPr>
          <a:xfrm>
            <a:off x="4384400" y="816025"/>
            <a:ext cx="1899600" cy="3929400"/>
          </a:xfrm>
          <a:prstGeom prst="roundRect">
            <a:avLst>
              <a:gd fmla="val 7061" name="adj"/>
            </a:avLst>
          </a:prstGeom>
          <a:noFill/>
          <a:ln cap="flat" cmpd="sng" w="9525">
            <a:solidFill>
              <a:srgbClr val="1A3A97"/>
            </a:solidFill>
            <a:prstDash val="solid"/>
            <a:round/>
            <a:headEnd len="sm" w="sm" type="none"/>
            <a:tailEnd len="sm" w="sm" type="none"/>
          </a:ln>
        </p:spPr>
      </p:pic>
      <p:sp>
        <p:nvSpPr>
          <p:cNvPr id="776" name="Google Shape;776;p102"/>
          <p:cNvSpPr txBox="1"/>
          <p:nvPr>
            <p:ph type="title"/>
          </p:nvPr>
        </p:nvSpPr>
        <p:spPr>
          <a:xfrm>
            <a:off x="227000" y="180250"/>
            <a:ext cx="6855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5975"/>
              <a:buNone/>
            </a:pPr>
            <a:r>
              <a:rPr b="1" lang="en-GB" sz="2288">
                <a:solidFill>
                  <a:srgbClr val="00467F"/>
                </a:solidFill>
                <a:latin typeface="Montserrat"/>
                <a:ea typeface="Montserrat"/>
                <a:cs typeface="Montserrat"/>
                <a:sym typeface="Montserrat"/>
              </a:rPr>
              <a:t>A. CÁCH THỨC CHẤM ĐIỂM TRÊN HRWS</a:t>
            </a:r>
            <a:endParaRPr b="1" sz="2288">
              <a:solidFill>
                <a:srgbClr val="00467F"/>
              </a:solidFill>
              <a:latin typeface="Montserrat"/>
              <a:ea typeface="Montserrat"/>
              <a:cs typeface="Montserrat"/>
              <a:sym typeface="Montserrat"/>
            </a:endParaRPr>
          </a:p>
          <a:p>
            <a:pPr indent="0" lvl="0" marL="0" rtl="0" algn="r">
              <a:lnSpc>
                <a:spcPct val="100000"/>
              </a:lnSpc>
              <a:spcBef>
                <a:spcPts val="0"/>
              </a:spcBef>
              <a:spcAft>
                <a:spcPts val="0"/>
              </a:spcAft>
              <a:buSzPct val="111111"/>
              <a:buNone/>
            </a:pPr>
            <a:r>
              <a:t/>
            </a:r>
            <a:endParaRPr b="1">
              <a:solidFill>
                <a:srgbClr val="F15E22"/>
              </a:solidFill>
              <a:latin typeface="Montserrat"/>
              <a:ea typeface="Montserrat"/>
              <a:cs typeface="Montserrat"/>
              <a:sym typeface="Montserrat"/>
            </a:endParaRPr>
          </a:p>
        </p:txBody>
      </p:sp>
      <p:sp>
        <p:nvSpPr>
          <p:cNvPr id="777" name="Google Shape;777;p102"/>
          <p:cNvSpPr txBox="1"/>
          <p:nvPr/>
        </p:nvSpPr>
        <p:spPr>
          <a:xfrm>
            <a:off x="1617829" y="1930014"/>
            <a:ext cx="912300" cy="1884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5F497A"/>
              </a:buClr>
              <a:buSzPts val="900"/>
              <a:buFont typeface="Arial"/>
              <a:buNone/>
            </a:pPr>
            <a:r>
              <a:rPr b="1" i="0" lang="en-GB" sz="900" u="none" cap="none" strike="noStrike">
                <a:solidFill>
                  <a:srgbClr val="FFFFFF"/>
                </a:solidFill>
                <a:latin typeface="Arial"/>
                <a:ea typeface="Arial"/>
                <a:cs typeface="Arial"/>
                <a:sym typeface="Arial"/>
              </a:rPr>
              <a:t>KHÁI NIỆM</a:t>
            </a:r>
            <a:endParaRPr b="1" i="0" sz="900" u="none" cap="none" strike="noStrike">
              <a:solidFill>
                <a:srgbClr val="FFFFFF"/>
              </a:solidFill>
              <a:latin typeface="Arial"/>
              <a:ea typeface="Arial"/>
              <a:cs typeface="Arial"/>
              <a:sym typeface="Arial"/>
            </a:endParaRPr>
          </a:p>
        </p:txBody>
      </p:sp>
      <p:sp>
        <p:nvSpPr>
          <p:cNvPr id="778" name="Google Shape;778;p102"/>
          <p:cNvSpPr/>
          <p:nvPr/>
        </p:nvSpPr>
        <p:spPr>
          <a:xfrm>
            <a:off x="1228313" y="1917447"/>
            <a:ext cx="1345200" cy="1795500"/>
          </a:xfrm>
          <a:prstGeom prst="roundRect">
            <a:avLst>
              <a:gd fmla="val 16667" name="adj"/>
            </a:avLst>
          </a:prstGeom>
          <a:noFill/>
          <a:ln cap="flat" cmpd="sng" w="12700">
            <a:solidFill>
              <a:srgbClr val="EC7C3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50000"/>
              </a:lnSpc>
              <a:spcBef>
                <a:spcPts val="0"/>
              </a:spcBef>
              <a:spcAft>
                <a:spcPts val="0"/>
              </a:spcAft>
              <a:buClr>
                <a:srgbClr val="000000"/>
              </a:buClr>
              <a:buSzPts val="1400"/>
              <a:buFont typeface="Arial"/>
              <a:buNone/>
            </a:pPr>
            <a:r>
              <a:rPr b="0" i="0" lang="en-GB" sz="1400" u="none" cap="none" strike="noStrike">
                <a:solidFill>
                  <a:schemeClr val="dk1"/>
                </a:solidFill>
                <a:latin typeface="Montserrat"/>
                <a:ea typeface="Montserrat"/>
                <a:cs typeface="Montserrat"/>
                <a:sym typeface="Montserrat"/>
              </a:rPr>
              <a:t>Cấp quản lý tạo bài chấm bất kì khi đến Bưu cục.</a:t>
            </a:r>
            <a:endParaRPr b="0" i="0" sz="1400" u="none" cap="none" strike="noStrike">
              <a:solidFill>
                <a:schemeClr val="dk1"/>
              </a:solidFill>
              <a:latin typeface="Montserrat"/>
              <a:ea typeface="Montserrat"/>
              <a:cs typeface="Montserrat"/>
              <a:sym typeface="Montserrat"/>
            </a:endParaRPr>
          </a:p>
        </p:txBody>
      </p:sp>
      <p:sp>
        <p:nvSpPr>
          <p:cNvPr id="779" name="Google Shape;779;p102"/>
          <p:cNvSpPr/>
          <p:nvPr/>
        </p:nvSpPr>
        <p:spPr>
          <a:xfrm>
            <a:off x="2628627" y="1911888"/>
            <a:ext cx="912300" cy="1819200"/>
          </a:xfrm>
          <a:prstGeom prst="roundRect">
            <a:avLst>
              <a:gd fmla="val 16667" name="adj"/>
            </a:avLst>
          </a:prstGeom>
          <a:noFill/>
          <a:ln cap="flat" cmpd="sng" w="12700">
            <a:solidFill>
              <a:srgbClr val="EC7C30"/>
            </a:solidFill>
            <a:prstDash val="solid"/>
            <a:miter lim="8000"/>
            <a:headEnd len="sm" w="sm" type="none"/>
            <a:tailEnd len="sm" w="sm" type="none"/>
          </a:ln>
        </p:spPr>
        <p:txBody>
          <a:bodyPr anchorCtr="0" anchor="ctr" bIns="34275" lIns="68575" spcFirstLastPara="1" rIns="68575" wrap="square" tIns="34275">
            <a:no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Montserrat"/>
              <a:ea typeface="Montserrat"/>
              <a:cs typeface="Montserrat"/>
              <a:sym typeface="Montserrat"/>
            </a:endParaRPr>
          </a:p>
          <a:p>
            <a:pPr indent="-127000" lvl="0" marL="127000" marR="0" rtl="0" algn="l">
              <a:lnSpc>
                <a:spcPct val="150000"/>
              </a:lnSpc>
              <a:spcBef>
                <a:spcPts val="0"/>
              </a:spcBef>
              <a:spcAft>
                <a:spcPts val="0"/>
              </a:spcAft>
              <a:buClr>
                <a:schemeClr val="dk1"/>
              </a:buClr>
              <a:buSzPts val="1400"/>
              <a:buFont typeface="Montserrat"/>
              <a:buChar char="•"/>
            </a:pPr>
            <a:r>
              <a:rPr b="0" i="0" lang="en-GB" sz="1400" u="none" cap="none" strike="noStrike">
                <a:solidFill>
                  <a:schemeClr val="dk1"/>
                </a:solidFill>
                <a:latin typeface="Montserrat"/>
                <a:ea typeface="Montserrat"/>
                <a:cs typeface="Montserrat"/>
                <a:sym typeface="Montserrat"/>
              </a:rPr>
              <a:t>CEO</a:t>
            </a:r>
            <a:endParaRPr b="0" i="0" sz="1400" u="none" cap="none" strike="noStrike">
              <a:solidFill>
                <a:schemeClr val="dk1"/>
              </a:solidFill>
              <a:latin typeface="Montserrat"/>
              <a:ea typeface="Montserrat"/>
              <a:cs typeface="Montserrat"/>
              <a:sym typeface="Montserrat"/>
            </a:endParaRPr>
          </a:p>
          <a:p>
            <a:pPr indent="-127000" lvl="0" marL="127000" marR="0" rtl="0" algn="l">
              <a:lnSpc>
                <a:spcPct val="150000"/>
              </a:lnSpc>
              <a:spcBef>
                <a:spcPts val="0"/>
              </a:spcBef>
              <a:spcAft>
                <a:spcPts val="0"/>
              </a:spcAft>
              <a:buClr>
                <a:schemeClr val="dk1"/>
              </a:buClr>
              <a:buSzPts val="1400"/>
              <a:buFont typeface="Montserrat"/>
              <a:buChar char="•"/>
            </a:pPr>
            <a:r>
              <a:rPr b="0" i="0" lang="en-GB" sz="1400" u="none" cap="none" strike="noStrike">
                <a:solidFill>
                  <a:schemeClr val="dk1"/>
                </a:solidFill>
                <a:latin typeface="Montserrat"/>
                <a:ea typeface="Montserrat"/>
                <a:cs typeface="Montserrat"/>
                <a:sym typeface="Montserrat"/>
              </a:rPr>
              <a:t>GĐV</a:t>
            </a:r>
            <a:endParaRPr b="0" i="0" sz="1400" u="none" cap="none" strike="noStrike">
              <a:solidFill>
                <a:schemeClr val="dk1"/>
              </a:solidFill>
              <a:latin typeface="Montserrat"/>
              <a:ea typeface="Montserrat"/>
              <a:cs typeface="Montserrat"/>
              <a:sym typeface="Montserrat"/>
            </a:endParaRPr>
          </a:p>
          <a:p>
            <a:pPr indent="-127000" lvl="0" marL="127000" marR="0" rtl="0" algn="l">
              <a:lnSpc>
                <a:spcPct val="150000"/>
              </a:lnSpc>
              <a:spcBef>
                <a:spcPts val="0"/>
              </a:spcBef>
              <a:spcAft>
                <a:spcPts val="0"/>
              </a:spcAft>
              <a:buClr>
                <a:schemeClr val="dk1"/>
              </a:buClr>
              <a:buSzPts val="1400"/>
              <a:buFont typeface="Montserrat"/>
              <a:buChar char="•"/>
            </a:pPr>
            <a:r>
              <a:rPr b="0" i="0" lang="en-GB" sz="1400" u="none" cap="none" strike="noStrike">
                <a:solidFill>
                  <a:schemeClr val="dk1"/>
                </a:solidFill>
                <a:latin typeface="Montserrat"/>
                <a:ea typeface="Montserrat"/>
                <a:cs typeface="Montserrat"/>
                <a:sym typeface="Montserrat"/>
              </a:rPr>
              <a:t>AM</a:t>
            </a:r>
            <a:endParaRPr b="0" i="0" sz="1400" u="none" cap="none" strike="noStrike">
              <a:solidFill>
                <a:schemeClr val="dk1"/>
              </a:solidFill>
              <a:latin typeface="Montserrat"/>
              <a:ea typeface="Montserrat"/>
              <a:cs typeface="Montserrat"/>
              <a:sym typeface="Montserrat"/>
            </a:endParaRPr>
          </a:p>
          <a:p>
            <a:pPr indent="-127000" lvl="0" marL="127000" marR="0" rtl="0" algn="l">
              <a:lnSpc>
                <a:spcPct val="150000"/>
              </a:lnSpc>
              <a:spcBef>
                <a:spcPts val="0"/>
              </a:spcBef>
              <a:spcAft>
                <a:spcPts val="0"/>
              </a:spcAft>
              <a:buClr>
                <a:schemeClr val="dk1"/>
              </a:buClr>
              <a:buSzPts val="1400"/>
              <a:buFont typeface="Montserrat"/>
              <a:buChar char="•"/>
            </a:pPr>
            <a:r>
              <a:rPr b="0" i="0" lang="en-GB" sz="1400" u="none" cap="none" strike="noStrike">
                <a:solidFill>
                  <a:schemeClr val="dk1"/>
                </a:solidFill>
                <a:latin typeface="Montserrat"/>
                <a:ea typeface="Montserrat"/>
                <a:cs typeface="Montserrat"/>
                <a:sym typeface="Montserrat"/>
              </a:rPr>
              <a:t>QC</a:t>
            </a:r>
            <a:endParaRPr b="0" i="0" sz="1400" u="none" cap="none" strike="noStrike">
              <a:solidFill>
                <a:schemeClr val="dk1"/>
              </a:solidFill>
              <a:latin typeface="Montserrat"/>
              <a:ea typeface="Montserrat"/>
              <a:cs typeface="Montserrat"/>
              <a:sym typeface="Montserrat"/>
            </a:endParaRPr>
          </a:p>
        </p:txBody>
      </p:sp>
      <p:sp>
        <p:nvSpPr>
          <p:cNvPr id="780" name="Google Shape;780;p102"/>
          <p:cNvSpPr/>
          <p:nvPr/>
        </p:nvSpPr>
        <p:spPr>
          <a:xfrm>
            <a:off x="3627381" y="2741321"/>
            <a:ext cx="540600" cy="333000"/>
          </a:xfrm>
          <a:prstGeom prst="rightArrow">
            <a:avLst>
              <a:gd fmla="val 50000" name="adj1"/>
              <a:gd fmla="val 50000" name="adj2"/>
            </a:avLst>
          </a:prstGeom>
          <a:solidFill>
            <a:srgbClr val="4372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rgbClr val="FFFFFF"/>
              </a:solidFill>
              <a:latin typeface="Arial"/>
              <a:ea typeface="Arial"/>
              <a:cs typeface="Arial"/>
              <a:sym typeface="Arial"/>
            </a:endParaRPr>
          </a:p>
        </p:txBody>
      </p:sp>
      <p:sp>
        <p:nvSpPr>
          <p:cNvPr id="781" name="Google Shape;781;p102"/>
          <p:cNvSpPr/>
          <p:nvPr/>
        </p:nvSpPr>
        <p:spPr>
          <a:xfrm>
            <a:off x="279949" y="1882963"/>
            <a:ext cx="912300" cy="1795500"/>
          </a:xfrm>
          <a:prstGeom prst="roundRect">
            <a:avLst>
              <a:gd fmla="val 16667" name="adj"/>
            </a:avLst>
          </a:prstGeom>
          <a:gradFill>
            <a:gsLst>
              <a:gs pos="0">
                <a:srgbClr val="F08B54"/>
              </a:gs>
              <a:gs pos="50000">
                <a:srgbClr val="F67A26"/>
              </a:gs>
              <a:gs pos="100000">
                <a:srgbClr val="E36A18"/>
              </a:gs>
            </a:gsLst>
            <a:lin ang="5400012" scaled="0"/>
          </a:gradFill>
          <a:ln>
            <a:noFill/>
          </a:ln>
          <a:effectLst>
            <a:outerShdw blurRad="57150" rotWithShape="0" algn="ctr" dir="5400000" dist="19050">
              <a:srgbClr val="000000">
                <a:alpha val="61569"/>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2" name="Google Shape;782;p102"/>
          <p:cNvSpPr txBox="1"/>
          <p:nvPr/>
        </p:nvSpPr>
        <p:spPr>
          <a:xfrm>
            <a:off x="279950" y="1915713"/>
            <a:ext cx="912300" cy="1782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800"/>
              <a:buFont typeface="Arial"/>
              <a:buNone/>
            </a:pPr>
            <a:r>
              <a:rPr b="1" i="0" lang="en-GB" sz="1800" u="none" cap="none" strike="noStrike">
                <a:solidFill>
                  <a:srgbClr val="FFFFFF"/>
                </a:solidFill>
                <a:latin typeface="Montserrat"/>
                <a:ea typeface="Montserrat"/>
                <a:cs typeface="Montserrat"/>
                <a:sym typeface="Montserrat"/>
              </a:rPr>
              <a:t>CHẤM ĐIỂM </a:t>
            </a:r>
            <a:endParaRPr b="1" i="0" sz="1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FFFF"/>
              </a:buClr>
              <a:buSzPts val="1800"/>
              <a:buFont typeface="Arial"/>
              <a:buNone/>
            </a:pPr>
            <a:r>
              <a:rPr b="1" i="0" lang="en-GB" sz="1800" u="none" cap="none" strike="noStrike">
                <a:solidFill>
                  <a:srgbClr val="FFFFFF"/>
                </a:solidFill>
                <a:latin typeface="Montserrat"/>
                <a:ea typeface="Montserrat"/>
                <a:cs typeface="Montserrat"/>
                <a:sym typeface="Montserrat"/>
              </a:rPr>
              <a:t>CHỦ ĐỘNG </a:t>
            </a:r>
            <a:endParaRPr b="1" i="0" sz="1400" u="none" cap="none" strike="noStrike">
              <a:solidFill>
                <a:srgbClr val="FFFFFF"/>
              </a:solidFill>
              <a:latin typeface="Montserrat"/>
              <a:ea typeface="Montserrat"/>
              <a:cs typeface="Montserrat"/>
              <a:sym typeface="Montserrat"/>
            </a:endParaRPr>
          </a:p>
        </p:txBody>
      </p:sp>
      <p:pic>
        <p:nvPicPr>
          <p:cNvPr id="783" name="Google Shape;783;p102" title="z6457820222458_dc505d0195dd0f7a886257b7a857f698.jpg"/>
          <p:cNvPicPr preferRelativeResize="0"/>
          <p:nvPr/>
        </p:nvPicPr>
        <p:blipFill rotWithShape="1">
          <a:blip r:embed="rId4">
            <a:alphaModFix/>
          </a:blip>
          <a:srcRect b="0" l="0" r="0" t="0"/>
          <a:stretch/>
        </p:blipFill>
        <p:spPr>
          <a:xfrm>
            <a:off x="6635500" y="829525"/>
            <a:ext cx="1935900" cy="3902400"/>
          </a:xfrm>
          <a:prstGeom prst="roundRect">
            <a:avLst>
              <a:gd fmla="val 4936" name="adj"/>
            </a:avLst>
          </a:prstGeom>
          <a:noFill/>
          <a:ln cap="flat" cmpd="sng" w="9525">
            <a:solidFill>
              <a:srgbClr val="1A3A97"/>
            </a:solidFill>
            <a:prstDash val="solid"/>
            <a:round/>
            <a:headEnd len="sm" w="sm" type="none"/>
            <a:tailEnd len="sm" w="sm" type="none"/>
          </a:ln>
        </p:spPr>
      </p:pic>
      <p:sp>
        <p:nvSpPr>
          <p:cNvPr id="784" name="Google Shape;784;p102"/>
          <p:cNvSpPr/>
          <p:nvPr/>
        </p:nvSpPr>
        <p:spPr>
          <a:xfrm>
            <a:off x="6899175" y="2086350"/>
            <a:ext cx="1018800" cy="2451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5" name="Google Shape;785;p102"/>
          <p:cNvCxnSpPr/>
          <p:nvPr/>
        </p:nvCxnSpPr>
        <p:spPr>
          <a:xfrm rot="10800000">
            <a:off x="7728950" y="2363825"/>
            <a:ext cx="679200" cy="630900"/>
          </a:xfrm>
          <a:prstGeom prst="straightConnector1">
            <a:avLst/>
          </a:prstGeom>
          <a:noFill/>
          <a:ln cap="flat" cmpd="sng" w="28575">
            <a:solidFill>
              <a:srgbClr val="FF0000"/>
            </a:solidFill>
            <a:prstDash val="solid"/>
            <a:round/>
            <a:headEnd len="sm" w="sm" type="none"/>
            <a:tailEnd len="med" w="med" type="triangle"/>
          </a:ln>
        </p:spPr>
      </p:cxnSp>
      <p:sp>
        <p:nvSpPr>
          <p:cNvPr id="786" name="Google Shape;786;p102"/>
          <p:cNvSpPr/>
          <p:nvPr/>
        </p:nvSpPr>
        <p:spPr>
          <a:xfrm>
            <a:off x="5159550" y="4279825"/>
            <a:ext cx="353400" cy="2451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7" name="Google Shape;787;p102"/>
          <p:cNvCxnSpPr/>
          <p:nvPr/>
        </p:nvCxnSpPr>
        <p:spPr>
          <a:xfrm flipH="1">
            <a:off x="5370525" y="3774025"/>
            <a:ext cx="667200" cy="50580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